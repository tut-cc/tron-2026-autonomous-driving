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8b576b3f6441ea" /><Relationship Type="http://schemas.openxmlformats.org/officeDocument/2006/relationships/extended-properties" Target="/docProps/app.xml" Id="R8ebadfe2c20b4906" /><Relationship Type="http://schemas.openxmlformats.org/officeDocument/2006/relationships/officeDocument" Target="/ppt/presentation.xml" Id="R7bd9b6110b1d47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eae8531aa64175"/>
  </p:sldMasterIdLst>
  <p:notesMasterIdLst>
    <p:notesMasterId xmlns:r="http://schemas.openxmlformats.org/officeDocument/2006/relationships" r:id="R2818533aa4c24bbd"/>
  </p:notesMasterIdLst>
  <p:sldIdLst>
    <p:sldId xmlns:r="http://schemas.openxmlformats.org/officeDocument/2006/relationships" id="256" r:id="R32d48534c4764c28"/>
    <p:sldId xmlns:r="http://schemas.openxmlformats.org/officeDocument/2006/relationships" id="257" r:id="Rf25bb2b19df24d51"/>
    <p:sldId xmlns:r="http://schemas.openxmlformats.org/officeDocument/2006/relationships" id="258" r:id="R03954e0309504ec9"/>
    <p:sldId xmlns:r="http://schemas.openxmlformats.org/officeDocument/2006/relationships" id="259" r:id="R77a54db230d048fe"/>
    <p:sldId xmlns:r="http://schemas.openxmlformats.org/officeDocument/2006/relationships" id="260" r:id="Reeb7fbd6443d4df9"/>
    <p:sldId xmlns:r="http://schemas.openxmlformats.org/officeDocument/2006/relationships" id="261" r:id="R15cc7b4bc3c4470e"/>
    <p:sldId xmlns:r="http://schemas.openxmlformats.org/officeDocument/2006/relationships" id="262" r:id="Rf820b00522384a34"/>
    <p:sldId xmlns:r="http://schemas.openxmlformats.org/officeDocument/2006/relationships" id="263" r:id="R69f45d3b2b184708"/>
    <p:sldId xmlns:r="http://schemas.openxmlformats.org/officeDocument/2006/relationships" id="264" r:id="R3b9d4b270fb54007"/>
    <p:sldId xmlns:r="http://schemas.openxmlformats.org/officeDocument/2006/relationships" id="265" r:id="R5f2dc1d3323543c7"/>
    <p:sldId xmlns:r="http://schemas.openxmlformats.org/officeDocument/2006/relationships" id="266" r:id="Rca0ea2d040a84272"/>
    <p:sldId xmlns:r="http://schemas.openxmlformats.org/officeDocument/2006/relationships" id="267" r:id="R8c1c304bdc95485d"/>
    <p:sldId xmlns:r="http://schemas.openxmlformats.org/officeDocument/2006/relationships" id="268" r:id="Ra533dfded0eb4b57"/>
    <p:sldId xmlns:r="http://schemas.openxmlformats.org/officeDocument/2006/relationships" id="269" r:id="R6b8cd902a7c74ff0"/>
    <p:sldId xmlns:r="http://schemas.openxmlformats.org/officeDocument/2006/relationships" id="270" r:id="R2d207ac8324f47b4"/>
    <p:sldId xmlns:r="http://schemas.openxmlformats.org/officeDocument/2006/relationships" id="271" r:id="R1f864a2d2a994351"/>
    <p:sldId xmlns:r="http://schemas.openxmlformats.org/officeDocument/2006/relationships" id="272" r:id="R17348c4ee28d41bd"/>
    <p:sldId xmlns:r="http://schemas.openxmlformats.org/officeDocument/2006/relationships" id="273" r:id="Rccb8697e633048fe"/>
    <p:sldId xmlns:r="http://schemas.openxmlformats.org/officeDocument/2006/relationships" id="274" r:id="R56a06bae0e54430e"/>
    <p:sldId xmlns:r="http://schemas.openxmlformats.org/officeDocument/2006/relationships" id="275" r:id="Rfa125e64cef74de6"/>
    <p:sldId xmlns:r="http://schemas.openxmlformats.org/officeDocument/2006/relationships" id="276" r:id="R8dbefe592e3c41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a45b47b3e44a85" /><Relationship Type="http://schemas.openxmlformats.org/officeDocument/2006/relationships/slideMaster" Target="/ppt/slideMasters/slideMaster1.xml" Id="Re7eae8531aa64175" /><Relationship Type="http://schemas.openxmlformats.org/officeDocument/2006/relationships/notesMaster" Target="/ppt/notesMasters/notesMaster1.xml" Id="R2818533aa4c24bbd" /><Relationship Type="http://schemas.openxmlformats.org/officeDocument/2006/relationships/presProps" Target="/ppt/presProps.xml" Id="Rcc4715d5b12d4738" /><Relationship Type="http://schemas.openxmlformats.org/officeDocument/2006/relationships/tableStyles" Target="/ppt/tableStyles.xml" Id="R066bad9af3e34e59" /><Relationship Type="http://schemas.openxmlformats.org/officeDocument/2006/relationships/slide" Target="/ppt/slides/slide1.xml" Id="R32d48534c4764c28" /><Relationship Type="http://schemas.openxmlformats.org/officeDocument/2006/relationships/slide" Target="/ppt/slides/slide2.xml" Id="Rf25bb2b19df24d51" /><Relationship Type="http://schemas.openxmlformats.org/officeDocument/2006/relationships/slide" Target="/ppt/slides/slide3.xml" Id="R03954e0309504ec9" /><Relationship Type="http://schemas.openxmlformats.org/officeDocument/2006/relationships/slide" Target="/ppt/slides/slide4.xml" Id="R77a54db230d048fe" /><Relationship Type="http://schemas.openxmlformats.org/officeDocument/2006/relationships/slide" Target="/ppt/slides/slide5.xml" Id="Reeb7fbd6443d4df9" /><Relationship Type="http://schemas.openxmlformats.org/officeDocument/2006/relationships/slide" Target="/ppt/slides/slide6.xml" Id="R15cc7b4bc3c4470e" /><Relationship Type="http://schemas.openxmlformats.org/officeDocument/2006/relationships/slide" Target="/ppt/slides/slide7.xml" Id="Rf820b00522384a34" /><Relationship Type="http://schemas.openxmlformats.org/officeDocument/2006/relationships/slide" Target="/ppt/slides/slide8.xml" Id="R69f45d3b2b184708" /><Relationship Type="http://schemas.openxmlformats.org/officeDocument/2006/relationships/slide" Target="/ppt/slides/slide9.xml" Id="R3b9d4b270fb54007" /><Relationship Type="http://schemas.openxmlformats.org/officeDocument/2006/relationships/slide" Target="/ppt/slides/slide10.xml" Id="R5f2dc1d3323543c7" /><Relationship Type="http://schemas.openxmlformats.org/officeDocument/2006/relationships/slide" Target="/ppt/slides/slide11.xml" Id="Rca0ea2d040a84272" /><Relationship Type="http://schemas.openxmlformats.org/officeDocument/2006/relationships/slide" Target="/ppt/slides/slide12.xml" Id="R8c1c304bdc95485d" /><Relationship Type="http://schemas.openxmlformats.org/officeDocument/2006/relationships/slide" Target="/ppt/slides/slide13.xml" Id="Ra533dfded0eb4b57" /><Relationship Type="http://schemas.openxmlformats.org/officeDocument/2006/relationships/slide" Target="/ppt/slides/slide14.xml" Id="R6b8cd902a7c74ff0" /><Relationship Type="http://schemas.openxmlformats.org/officeDocument/2006/relationships/slide" Target="/ppt/slides/slide15.xml" Id="R2d207ac8324f47b4" /><Relationship Type="http://schemas.openxmlformats.org/officeDocument/2006/relationships/slide" Target="/ppt/slides/slide16.xml" Id="R1f864a2d2a994351" /><Relationship Type="http://schemas.openxmlformats.org/officeDocument/2006/relationships/slide" Target="/ppt/slides/slide17.xml" Id="R17348c4ee28d41bd" /><Relationship Type="http://schemas.openxmlformats.org/officeDocument/2006/relationships/slide" Target="/ppt/slides/slide18.xml" Id="Rccb8697e633048fe" /><Relationship Type="http://schemas.openxmlformats.org/officeDocument/2006/relationships/slide" Target="/ppt/slides/slide19.xml" Id="R56a06bae0e54430e" /><Relationship Type="http://schemas.openxmlformats.org/officeDocument/2006/relationships/slide" Target="/ppt/slides/slide20.xml" Id="Rfa125e64cef74de6" /><Relationship Type="http://schemas.openxmlformats.org/officeDocument/2006/relationships/slide" Target="/ppt/slides/slide21.xml" Id="R8dbefe592e3c41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e4c05e51074a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450dbcffe14852" /><Relationship Type="http://schemas.openxmlformats.org/officeDocument/2006/relationships/notesMaster" Target="/ppt/notesMasters/notesMaster1.xml" Id="R1dc42b67c37d49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c90067618f489f" /><Relationship Type="http://schemas.openxmlformats.org/officeDocument/2006/relationships/notesMaster" Target="/ppt/notesMasters/notesMaster1.xml" Id="R431bdb2742a04a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120442b8484ec5" /><Relationship Type="http://schemas.openxmlformats.org/officeDocument/2006/relationships/notesMaster" Target="/ppt/notesMasters/notesMaster1.xml" Id="R5be09cae21204d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652b52c53a471d" /><Relationship Type="http://schemas.openxmlformats.org/officeDocument/2006/relationships/notesMaster" Target="/ppt/notesMasters/notesMaster1.xml" Id="R5cd5ed7090cb4a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d55a17635540cc" /><Relationship Type="http://schemas.openxmlformats.org/officeDocument/2006/relationships/notesMaster" Target="/ppt/notesMasters/notesMaster1.xml" Id="R83835f74991f43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bedd43befb47d7" /><Relationship Type="http://schemas.openxmlformats.org/officeDocument/2006/relationships/notesMaster" Target="/ppt/notesMasters/notesMaster1.xml" Id="R345bd8b46f0646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6668315ad446fb" /><Relationship Type="http://schemas.openxmlformats.org/officeDocument/2006/relationships/notesMaster" Target="/ppt/notesMasters/notesMaster1.xml" Id="R371c0acb2fed45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55a5da0d1b4b65" /><Relationship Type="http://schemas.openxmlformats.org/officeDocument/2006/relationships/notesMaster" Target="/ppt/notesMasters/notesMaster1.xml" Id="R30570ff3930c4e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6cd57c72fe4abf" /><Relationship Type="http://schemas.openxmlformats.org/officeDocument/2006/relationships/notesMaster" Target="/ppt/notesMasters/notesMaster1.xml" Id="R77a46e92360040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f05ac1189e4a5f" /><Relationship Type="http://schemas.openxmlformats.org/officeDocument/2006/relationships/notesMaster" Target="/ppt/notesMasters/notesMaster1.xml" Id="R11ce3cea1d3840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2f29196e8d45a5" /><Relationship Type="http://schemas.openxmlformats.org/officeDocument/2006/relationships/notesMaster" Target="/ppt/notesMasters/notesMaster1.xml" Id="Rb6b1a124ee6e45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2a39a5efff4d2d" /><Relationship Type="http://schemas.openxmlformats.org/officeDocument/2006/relationships/notesMaster" Target="/ppt/notesMasters/notesMaster1.xml" Id="R400260b39fb54a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0aaf19c15043eb" /><Relationship Type="http://schemas.openxmlformats.org/officeDocument/2006/relationships/notesMaster" Target="/ppt/notesMasters/notesMaster1.xml" Id="R85540455fe624e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f4dbb3879d46f3" /><Relationship Type="http://schemas.openxmlformats.org/officeDocument/2006/relationships/notesMaster" Target="/ppt/notesMasters/notesMaster1.xml" Id="R164b5458a2e543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716e826f9f4bc4" /><Relationship Type="http://schemas.openxmlformats.org/officeDocument/2006/relationships/notesMaster" Target="/ppt/notesMasters/notesMaster1.xml" Id="R51ec7bafbf0741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a682ece9574a08" /><Relationship Type="http://schemas.openxmlformats.org/officeDocument/2006/relationships/notesMaster" Target="/ppt/notesMasters/notesMaster1.xml" Id="Rb4cd2454ec894b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328d6c22a7415d" /><Relationship Type="http://schemas.openxmlformats.org/officeDocument/2006/relationships/notesMaster" Target="/ppt/notesMasters/notesMaster1.xml" Id="R2fb7386ee3d347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862fbdc31dd4406" /><Relationship Type="http://schemas.openxmlformats.org/officeDocument/2006/relationships/notesMaster" Target="/ppt/notesMasters/notesMaster1.xml" Id="R2921fb77bb69449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bd59593c384fa1" /><Relationship Type="http://schemas.openxmlformats.org/officeDocument/2006/relationships/notesMaster" Target="/ppt/notesMasters/notesMaster1.xml" Id="Re9d5dffc5bd1489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ba9764b38514165" /><Relationship Type="http://schemas.openxmlformats.org/officeDocument/2006/relationships/notesMaster" Target="/ppt/notesMasters/notesMaster1.xml" Id="Ra0fd54a9f2da43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071b47d8c1f451e" /><Relationship Type="http://schemas.openxmlformats.org/officeDocument/2006/relationships/notesMaster" Target="/ppt/notesMasters/notesMaster1.xml" Id="R96ffedc80d3a4c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https://www.tron.org/ja/programming_contest-2026/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https://waymo.com/blog/2025/12/2025-year-in-review/</a:t>
            </a:r>
          </a:p>
          <a:p xmlns:a="http://schemas.openxmlformats.org/drawingml/2006/main">
            <a:r>
              <a:t>https://www.nhtsa.gov/vehicle-safety/automated-vehicle-safety</a:t>
            </a:r>
          </a:p>
          <a:p xmlns:a="http://schemas.openxmlformats.org/drawingml/2006/main">
            <a:r>
              <a:t>Waymoの年末追記は2025年の利用実績を1,500万回と公表。レベル2・3の人の役割はNHTSAの説明に基づく。自動運転タクシーの利用実績をレベル3の運転引き継ぎ事例として扱わない。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https://github.com/tut-cc/tron-2026-autonomous-driving/blob/4caba2bfb099c179d3efe90510edf599031abb7b/control/src/vehicle_control.c</a:t>
            </a:r>
          </a:p>
          <a:p xmlns:a="http://schemas.openxmlformats.org/drawingml/2006/main">
            <a:r>
              <a:t>https://github.com/tut-cc/tron-2026-autonomous-driving/blob/4caba2bfb099c179d3efe90510edf599031abb7b/control/include/vehicle_control.h</a:t>
            </a:r>
          </a:p>
          <a:p xmlns:a="http://schemas.openxmlformats.org/drawingml/2006/main">
            <a:r>
              <a:t>https://github.com/tut-cc/tron-2026-autonomous-driving/blob/4caba2bfb099c179d3efe90510edf599031abb7b/M85Web/Application/mini-4wd-webapp/js/ui.js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https://github.com/tut-cc/tron-2026-autonomous-driving/blob/4caba2bfb099c179d3efe90510edf599031abb7b/docs/system_architecture.drawio</a:t>
            </a:r>
          </a:p>
          <a:p xmlns:a="http://schemas.openxmlformats.org/drawingml/2006/main">
            <a:r>
              <a:t>https://github.com/tut-cc/tron-2026-autonomous-driving/blob/4caba2bfb099c179d3efe90510edf599031abb7b/CPU0/src/m85_gateway_task.c</a:t>
            </a:r>
          </a:p>
          <a:p xmlns:a="http://schemas.openxmlformats.org/drawingml/2006/main">
            <a:r>
              <a:t>https://github.com/tut-cc/tron-2026-autonomous-driving/blob/4caba2bfb099c179d3efe90510edf599031abb7b/CPU1/src/dualcore/bus_owner.c</a:t>
            </a:r>
          </a:p>
          <a:p xmlns:a="http://schemas.openxmlformats.org/drawingml/2006/main">
            <a:r>
              <a:t>https://github.com/tut-cc/tron-2026-autonomous-driving/blob/4caba2bfb099c179d3efe90510edf599031abb7b/control/src/control_runtime.c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https://github.com/tut-cc/tron-2026-autonomous-driving/blob/4caba2bfb099c179d3efe90510edf599031abb7b/docs/PIN_OWNERSHIP.md</a:t>
            </a:r>
          </a:p>
          <a:p xmlns:a="http://schemas.openxmlformats.org/drawingml/2006/main">
            <a:r>
              <a:t>https://github.com/tut-cc/tron-2026-autonomous-driving/blob/4caba2bfb099c179d3efe90510edf599031abb7b/control/include/motor_build_profile.h</a:t>
            </a:r>
          </a:p>
          <a:p xmlns:a="http://schemas.openxmlformats.org/drawingml/2006/main">
            <a:r>
              <a:t>写真：ユーザー提供 サイド.jpg。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https://github.com/tut-cc/tron-2026-autonomous-driving/blob/4caba2bfb099c179d3efe90510edf599031abb7b/CPU0/src/road_navigation.c</a:t>
            </a:r>
          </a:p>
          <a:p xmlns:a="http://schemas.openxmlformats.org/drawingml/2006/main">
            <a:r>
              <a:t>https://github.com/tut-cc/tron-2026-autonomous-driving/blob/4caba2bfb099c179d3efe90510edf599031abb7b/CPU0/src/autonomy_controller.c</a:t>
            </a:r>
          </a:p>
          <a:p xmlns:a="http://schemas.openxmlformats.org/drawingml/2006/main">
            <a:r>
              <a:t>https://github.com/tut-cc/tron-2026-autonomous-driving/blob/4caba2bfb099c179d3efe90510edf599031abb7b/CPU0/src/user_config.h</a:t>
            </a:r>
          </a:p>
          <a:p xmlns:a="http://schemas.openxmlformats.org/drawingml/2006/main">
            <a:r>
              <a:t>https://github.com/tut-cc/tron-2026-autonomous-driving/blob/4caba2bfb099c179d3efe90510edf599031abb7b/CPU0/src/ai_model.cc</a:t>
            </a:r>
          </a:p>
          <a:p xmlns:a="http://schemas.openxmlformats.org/drawingml/2006/main">
            <a:r>
              <a:t>https://github.com/tut-cc/tron-2026-autonomous-driving/blob/4caba2bfb099c179d3efe90510edf599031abb7b/control/src/vehicle_control.c</a:t>
            </a:r>
          </a:p>
          <a:p xmlns:a="http://schemas.openxmlformats.org/drawingml/2006/main">
            <a:r>
              <a:t>https://github.com/tut-cc/tron-2026-autonomous-driving/blob/4caba2bfb099c179d3efe90510edf599031abb7b/M85Web/Application/mini-4wd-webapp/js/ui.js</a:t>
            </a:r>
          </a:p>
          <a:p xmlns:a="http://schemas.openxmlformats.org/drawingml/2006/main">
            <a:r>
              <a:t>https://github.com/tut-cc/tron-2026-autonomous-driving/blob/4caba2bfb099c179d3efe90510edf599031abb7b/docs/HARDWARE_TEST.md</a:t>
            </a:r>
          </a:p>
          <a:p xmlns:a="http://schemas.openxmlformats.org/drawingml/2006/main">
            <a:r>
              <a:t>https://github.com/tut-cc/tron-2026-autonomous-driving/blob/4caba2bfb099c179d3efe90510edf599031abb7b/CPU0/model/README.md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https://github.com/tut-cc/tron-2026-autonomous-driving/blob/4caba2bfb099c179d3efe90510edf599031abb7b/control/src/control_runtime.c</a:t>
            </a:r>
          </a:p>
          <a:p xmlns:a="http://schemas.openxmlformats.org/drawingml/2006/main">
            <a:r>
              <a:t>https://github.com/tut-cc/tron-2026-autonomous-driving/blob/4caba2bfb099c179d3efe90510edf599031abb7b/control/include/vehicle_control.h</a:t>
            </a:r>
          </a:p>
          <a:p xmlns:a="http://schemas.openxmlformats.org/drawingml/2006/main">
            <a:r>
              <a:t>https://github.com/tut-cc/tron-2026-autonomous-driving/blob/4caba2bfb099c179d3efe90510edf599031abb7b/control/src/vehicle_control.c</a:t>
            </a:r>
          </a:p>
          <a:p xmlns:a="http://schemas.openxmlformats.org/drawingml/2006/main">
            <a:r>
              <a:t>https://github.com/tut-cc/tron-2026-autonomous-driving/blob/4caba2bfb099c179d3efe90510edf599031abb7b/CPU0/src/m85_gateway_task.c</a:t>
            </a:r>
          </a:p>
          <a:p xmlns:a="http://schemas.openxmlformats.org/drawingml/2006/main">
            <a:r>
              <a:t>https://github.com/tut-cc/tron-2026-autonomous-driving/blob/4caba2bfb099c179d3efe90510edf599031abb7b/docs/HARDWARE_TEST.md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https://github.com/tut-cc/tron-2026-autonomous-driving/blob/4caba2bfb099c179d3efe90510edf599031abb7b/control/src/control_runtime.c</a:t>
            </a:r>
          </a:p>
          <a:p xmlns:a="http://schemas.openxmlformats.org/drawingml/2006/main">
            <a:r>
              <a:t>https://github.com/tut-cc/tron-2026-autonomous-driving/blob/4caba2bfb099c179d3efe90510edf599031abb7b/control/src/vehicle_control.c</a:t>
            </a:r>
          </a:p>
          <a:p xmlns:a="http://schemas.openxmlformats.org/drawingml/2006/main">
            <a:r>
              <a:t>https://github.com/tut-cc/tron-2026-autonomous-driving/blob/4caba2bfb099c179d3efe90510edf599031abb7b/CPU0/src/ai_model.cc</a:t>
            </a:r>
          </a:p>
          <a:p xmlns:a="http://schemas.openxmlformats.org/drawingml/2006/main">
            <a:r>
              <a:t>https://github.com/tut-cc/tron-2026-autonomous-driving/blob/4caba2bfb099c179d3efe90510edf599031abb7b/CPU0/src/m85_gateway_task.c</a:t>
            </a:r>
          </a:p>
          <a:p xmlns:a="http://schemas.openxmlformats.org/drawingml/2006/main">
            <a:r>
              <a:t>https://github.com/tut-cc/tron-2026-autonomous-driving/blob/4caba2bfb099c179d3efe90510edf599031abb7b/CPU1/src/dualcore/bus_owner.c</a:t>
            </a:r>
          </a:p>
          <a:p xmlns:a="http://schemas.openxmlformats.org/drawingml/2006/main">
            <a:r>
              <a:t>https://www.tron.org/ja/programming_contest-2026/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https://github.com/tut-cc/tron-2026-autonomous-driving/blob/4caba2bfb099c179d3efe90510edf599031abb7b/docs/HARDWARE_TEST.md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写真：ユーザー提供 正面.jpg、ねじどめ.jpg。画面は撮影時の例。表示内容はモード・認識条件で変わる。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https://github.com/tut-cc/tron-2026-autonomous-driving/blob/4caba2bfb099c179d3efe90510edf599031abb7b/docs/PIN_OWNERSHIP.md</a:t>
            </a:r>
          </a:p>
          <a:p xmlns:a="http://schemas.openxmlformats.org/drawingml/2006/main">
            <a:r>
              <a:t>https://github.com/tut-cc/tron-2026-autonomous-driving/blob/4caba2bfb099c179d3efe90510edf599031abb7b/control/include/motor_pins_ra8p1.h</a:t>
            </a:r>
          </a:p>
          <a:p xmlns:a="http://schemas.openxmlformats.org/drawingml/2006/main">
            <a:r>
              <a:t>写真：ユーザー提供 IMG_4914.jpg。画面は撮影時の例。表示内容はモード・認識条件で変わる。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https://github.com/tut-cc/tron-2026-autonomous-driving/blob/4caba2bfb099c179d3efe90510edf599031abb7b/docs/PIN_OWNERSHIP.md</a:t>
            </a:r>
          </a:p>
          <a:p xmlns:a="http://schemas.openxmlformats.org/drawingml/2006/main">
            <a:r>
              <a:t>写真：ユーザー提供 IMG_4915.jpg。画面は撮影時の例。表示内容はモード・認識条件で変わる。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写真：ユーザー提供 上.jpg。画面は撮影時の例。表示内容はモード・認識条件で変わる。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https://github.com/tut-cc/tron-2026-autonomous-driving/blob/4caba2bfb099c179d3efe90510edf599031abb7b/docs/HARDWARE_TEST.md</a:t>
            </a:r>
          </a:p>
          <a:p xmlns:a="http://schemas.openxmlformats.org/drawingml/2006/main">
            <a:r>
              <a:t>写真：ユーザー提供 。画面は撮影時の例。表示内容はモード・認識条件で変わる。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https://github.com/tut-cc/tron-2026-autonomous-driving/blob/4caba2bfb099c179d3efe90510edf599031abb7b/docs/HARDWARE_TEST.md</a:t>
            </a:r>
          </a:p>
          <a:p xmlns:a="http://schemas.openxmlformats.org/drawingml/2006/main">
            <a:r>
              <a:t>https://github.com/tut-cc/tron-2026-autonomous-driving/blob/4caba2bfb099c179d3efe90510edf599031abb7b/M85Web/Application/mini-4wd-webapp/js/ui.js</a:t>
            </a:r>
          </a:p>
          <a:p xmlns:a="http://schemas.openxmlformats.org/drawingml/2006/main">
            <a:r>
              <a:t>写真：ユーザー提供 web1.png、web6.png。画面は撮影時の例。表示内容はモード・認識条件で変わる。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https://github.com/tut-cc/tron-2026-autonomous-driving/blob/4caba2bfb099c179d3efe90510edf599031abb7b/CPU0/src/autonomy_controller.c</a:t>
            </a:r>
          </a:p>
          <a:p xmlns:a="http://schemas.openxmlformats.org/drawingml/2006/main">
            <a:r>
              <a:t>https://github.com/tut-cc/tron-2026-autonomous-driving/blob/4caba2bfb099c179d3efe90510edf599031abb7b/control/src/vehicle_control.c</a:t>
            </a:r>
          </a:p>
          <a:p xmlns:a="http://schemas.openxmlformats.org/drawingml/2006/main">
            <a:r>
              <a:t>https://github.com/tut-cc/tron-2026-autonomous-driving/blob/4caba2bfb099c179d3efe90510edf599031abb7b/M85Web/Application/mini-4wd-webapp/js/ui.js</a:t>
            </a:r>
          </a:p>
          <a:p xmlns:a="http://schemas.openxmlformats.org/drawingml/2006/main">
            <a:r>
              <a:t>https://github.com/tut-cc/tron-2026-autonomous-driving/blob/4caba2bfb099c179d3efe90510edf599031abb7b/docs/HARDWARE_TEST.md</a:t>
            </a:r>
          </a:p>
          <a:p xmlns:a="http://schemas.openxmlformats.org/drawingml/2006/main">
            <a:r>
              <a:t>写真：ユーザー提供 web2.png、web3.png。画面は撮影時の例。表示内容はモード・認識条件で変わる。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https://github.com/tut-cc/tron-2026-autonomous-driving/blob/4caba2bfb099c179d3efe90510edf599031abb7b/control/src/vehicle_control.c</a:t>
            </a:r>
          </a:p>
          <a:p xmlns:a="http://schemas.openxmlformats.org/drawingml/2006/main">
            <a:r>
              <a:t>https://github.com/tut-cc/tron-2026-autonomous-driving/blob/4caba2bfb099c179d3efe90510edf599031abb7b/control/include/vehicle_control.h</a:t>
            </a:r>
          </a:p>
          <a:p xmlns:a="http://schemas.openxmlformats.org/drawingml/2006/main">
            <a:r>
              <a:t>https://github.com/tut-cc/tron-2026-autonomous-driving/blob/4caba2bfb099c179d3efe90510edf599031abb7b/M85Web/Application/mini-4wd-webapp/js/ui.js</a:t>
            </a:r>
          </a:p>
          <a:p xmlns:a="http://schemas.openxmlformats.org/drawingml/2006/main">
            <a:r>
              <a:t>https://github.com/tut-cc/tron-2026-autonomous-driving/blob/4caba2bfb099c179d3efe90510edf599031abb7b/docs/HARDWARE_TEST.md</a:t>
            </a:r>
          </a:p>
          <a:p xmlns:a="http://schemas.openxmlformats.org/drawingml/2006/main">
            <a:r>
              <a:t>写真：ユーザー提供 web4.png。画面は撮影時の例。表示内容はモード・認識条件で変わる。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https://github.com/tut-cc/tron-2026-autonomous-driving/blob/4caba2bfb099c179d3efe90510edf599031abb7b/control/include/vehicle_control.h</a:t>
            </a:r>
          </a:p>
          <a:p xmlns:a="http://schemas.openxmlformats.org/drawingml/2006/main">
            <a:r>
              <a:t>https://github.com/tut-cc/tron-2026-autonomous-driving/blob/4caba2bfb099c179d3efe90510edf599031abb7b/control/src/vehicle_control.c</a:t>
            </a:r>
          </a:p>
          <a:p xmlns:a="http://schemas.openxmlformats.org/drawingml/2006/main">
            <a:r>
              <a:t>https://github.com/tut-cc/tron-2026-autonomous-driving/blob/4caba2bfb099c179d3efe90510edf599031abb7b/docs/HARDWARE_TEST.md</a:t>
            </a:r>
          </a:p>
          <a:p xmlns:a="http://schemas.openxmlformats.org/drawingml/2006/main">
            <a:r>
              <a:t>写真：ユーザー提供 web5.png。画面は撮影時の例。表示内容はモード・認識条件で変わる。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https://github.com/tut-cc/tron-2026-autonomous-driving/blob/4caba2bfb099c179d3efe90510edf599031abb7b/docs/GITHUB_SETUP.md</a:t>
            </a:r>
          </a:p>
          <a:p xmlns:a="http://schemas.openxmlformats.org/drawingml/2006/main">
            <a:r>
              <a:t>https://github.com/tut-cc/tron-2026-autonomous-driving/blob/4caba2bfb099c179d3efe90510edf599031abb7b/docs/HARDWARE_TEST.md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https://github.com/tut-cc/tron-2026-autonomous-driving/blob/4caba2bfb099c179d3efe90510edf599031abb7b/LICENSE</a:t>
            </a:r>
          </a:p>
          <a:p xmlns:a="http://schemas.openxmlformats.org/drawingml/2006/main">
            <a:r>
              <a:t>https://github.com/tut-cc/tron-2026-autonomous-driving/blob/4caba2bfb099c179d3efe90510edf599031abb7b/NOTICE.md</a:t>
            </a:r>
          </a:p>
          <a:p xmlns:a="http://schemas.openxmlformats.org/drawingml/2006/main">
            <a:r>
              <a:t>https://github.com/tut-cc/tron-2026-autonomous-driving/blob/4caba2bfb099c179d3efe90510edf599031abb7b/CPU0/model/README.md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</a:t>
            </a:r>
          </a:p>
          <a:p xmlns:a="http://schemas.openxmlformats.org/drawingml/2006/main">
            <a:r>
              <a:t>https://github.com/tut-cc/tron-2026-autonomous-driving/blob/4caba2bfb099c179d3efe90510edf599031abb7b/README.md</a:t>
            </a:r>
          </a:p>
          <a:p xmlns:a="http://schemas.openxmlformats.org/drawingml/2006/main">
            <a:r>
              <a:t>https://github.com/tut-cc/tron-2026-autonomous-driving/blob/4caba2bfb099c179d3efe90510edf599031abb7b/control/src/control_runtime.c</a:t>
            </a:r>
          </a:p>
          <a:p xmlns:a="http://schemas.openxmlformats.org/drawingml/2006/main">
            <a:r>
              <a:t>https://github.com/tut-cc/tron-2026-autonomous-driving/blob/4caba2bfb099c179d3efe90510edf599031abb7b/docs/HARDWARE_TEST.md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488fff3f24b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769ba275e84ed9" /><Relationship Type="http://schemas.openxmlformats.org/officeDocument/2006/relationships/slideLayout" Target="/ppt/slideLayouts/slideLayout1.xml" Id="R697cb997e1774f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7cb997e1774f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4abff77164e43" /><Relationship Type="http://schemas.openxmlformats.org/officeDocument/2006/relationships/notesSlide" Target="/ppt/notesSlides/notesSlide1.xml" Id="R5afa80c168c647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cb26ebaee4d84" /><Relationship Type="http://schemas.openxmlformats.org/officeDocument/2006/relationships/notesSlide" Target="/ppt/notesSlides/notesSlide2.xml" Id="Ra4d35d8924a548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5ecf2159e4919" /><Relationship Type="http://schemas.openxmlformats.org/officeDocument/2006/relationships/notesSlide" Target="/ppt/notesSlides/notesSlide3.xml" Id="R315db7799d584c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eb7ff98cc44c7" /><Relationship Type="http://schemas.openxmlformats.org/officeDocument/2006/relationships/notesSlide" Target="/ppt/notesSlides/notesSlide4.xml" Id="R1dcc781442e341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eee4c47f44408" /><Relationship Type="http://schemas.openxmlformats.org/officeDocument/2006/relationships/notesSlide" Target="/ppt/notesSlides/notesSlide5.xml" Id="R0ac10cf49cea47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f555d5a524f5d" /><Relationship Type="http://schemas.openxmlformats.org/officeDocument/2006/relationships/image" Target="/ppt/media/image.jpeg" Id="Re19a70d76cf64307" /><Relationship Type="http://schemas.openxmlformats.org/officeDocument/2006/relationships/notesSlide" Target="/ppt/notesSlides/notesSlide6.xml" Id="R19241e1e9d4d47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ec0a8236e4a09" /><Relationship Type="http://schemas.openxmlformats.org/officeDocument/2006/relationships/notesSlide" Target="/ppt/notesSlides/notesSlide7.xml" Id="R32422a04902b4a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d593420ff476a" /><Relationship Type="http://schemas.openxmlformats.org/officeDocument/2006/relationships/notesSlide" Target="/ppt/notesSlides/notesSlide8.xml" Id="R9aa09a278c9b43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7537a4593468e" /><Relationship Type="http://schemas.openxmlformats.org/officeDocument/2006/relationships/notesSlide" Target="/ppt/notesSlides/notesSlide9.xml" Id="Rb2bb504b90ed47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187e0b3fb4fc0" /><Relationship Type="http://schemas.openxmlformats.org/officeDocument/2006/relationships/notesSlide" Target="/ppt/notesSlides/notesSlide10.xml" Id="R6ae3dfa5296e4e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d92ae70654315" /><Relationship Type="http://schemas.openxmlformats.org/officeDocument/2006/relationships/image" Target="/ppt/media/image2.jpeg" Id="R6106449b705042d7" /><Relationship Type="http://schemas.openxmlformats.org/officeDocument/2006/relationships/image" Target="/ppt/media/image3.jpeg" Id="R1a95920493e34562" /><Relationship Type="http://schemas.openxmlformats.org/officeDocument/2006/relationships/notesSlide" Target="/ppt/notesSlides/notesSlide11.xml" Id="R67f305c6c80d40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060778db142ce" /><Relationship Type="http://schemas.openxmlformats.org/officeDocument/2006/relationships/image" Target="/ppt/media/image4.jpeg" Id="Rcac21a5c6a80463e" /><Relationship Type="http://schemas.openxmlformats.org/officeDocument/2006/relationships/notesSlide" Target="/ppt/notesSlides/notesSlide12.xml" Id="Rf6c35884d1c249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45b68ef334816" /><Relationship Type="http://schemas.openxmlformats.org/officeDocument/2006/relationships/image" Target="/ppt/media/image5.jpeg" Id="Re5d3b4c1e1664b75" /><Relationship Type="http://schemas.openxmlformats.org/officeDocument/2006/relationships/notesSlide" Target="/ppt/notesSlides/notesSlide13.xml" Id="R59c5ce7e74444e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5f922605946bc" /><Relationship Type="http://schemas.openxmlformats.org/officeDocument/2006/relationships/image" Target="/ppt/media/image6.jpeg" Id="Ra68a31cecc2d4641" /><Relationship Type="http://schemas.openxmlformats.org/officeDocument/2006/relationships/notesSlide" Target="/ppt/notesSlides/notesSlide14.xml" Id="R4a8fc909a5384e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9c5d4def24c98" /><Relationship Type="http://schemas.openxmlformats.org/officeDocument/2006/relationships/notesSlide" Target="/ppt/notesSlides/notesSlide15.xml" Id="R59a6e963977144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7e83bba764976" /><Relationship Type="http://schemas.openxmlformats.org/officeDocument/2006/relationships/image" Target="/ppt/media/image.png" Id="Re546a63071374d27" /><Relationship Type="http://schemas.openxmlformats.org/officeDocument/2006/relationships/image" Target="/ppt/media/image2.png" Id="R264486110a3c4e88" /><Relationship Type="http://schemas.openxmlformats.org/officeDocument/2006/relationships/notesSlide" Target="/ppt/notesSlides/notesSlide16.xml" Id="Rc86e16ba28a94e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75d948fdf48eb" /><Relationship Type="http://schemas.openxmlformats.org/officeDocument/2006/relationships/image" Target="/ppt/media/image3.png" Id="Ra8e5ac50946e410d" /><Relationship Type="http://schemas.openxmlformats.org/officeDocument/2006/relationships/image" Target="/ppt/media/image4.png" Id="R043e3dabdac5465a" /><Relationship Type="http://schemas.openxmlformats.org/officeDocument/2006/relationships/notesSlide" Target="/ppt/notesSlides/notesSlide17.xml" Id="R25c9f68c82a64d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43cebd2f84223" /><Relationship Type="http://schemas.openxmlformats.org/officeDocument/2006/relationships/image" Target="/ppt/media/image5.png" Id="Rdf2c72782100481d" /><Relationship Type="http://schemas.openxmlformats.org/officeDocument/2006/relationships/notesSlide" Target="/ppt/notesSlides/notesSlide18.xml" Id="Rf36975a20d644f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a45384123415b" /><Relationship Type="http://schemas.openxmlformats.org/officeDocument/2006/relationships/image" Target="/ppt/media/image6.png" Id="R3f5d43aca0994f60" /><Relationship Type="http://schemas.openxmlformats.org/officeDocument/2006/relationships/notesSlide" Target="/ppt/notesSlides/notesSlide19.xml" Id="R26bde1a33a2a46e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4a060b62d4ea1" /><Relationship Type="http://schemas.openxmlformats.org/officeDocument/2006/relationships/notesSlide" Target="/ppt/notesSlides/notesSlide20.xml" Id="R46a8870997f74c1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c4ed9bbb54508" /><Relationship Type="http://schemas.openxmlformats.org/officeDocument/2006/relationships/notesSlide" Target="/ppt/notesSlides/notesSlide21.xml" Id="R88ab70ee46814c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自動運転&#10;バトンタッチ">
            <a:extLst xmlns:a="http://schemas.openxmlformats.org/drawingml/2006/main">
              <a:ext uri="{FF2B5EF4-FFF2-40B4-BE49-F238E27FC236}">
                <a16:creationId xmlns:a16="http://schemas.microsoft.com/office/drawing/2014/main" id="{536D747C-D19D-4DF5-93B9-A8A5FEB9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54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自動運転バトンタッチ</a:t>
            </a:r>
          </a:p>
        </p:txBody>
      </p:sp>
      <p:sp>
        <p:nvSpPr>
          <p:cNvPr id="2" name="組み立て式の&#10;自動運転体験教材">
            <a:extLst xmlns:a="http://schemas.openxmlformats.org/drawingml/2006/main">
              <a:ext uri="{FF2B5EF4-FFF2-40B4-BE49-F238E27FC236}">
                <a16:creationId xmlns:a16="http://schemas.microsoft.com/office/drawing/2014/main" id="{B07D4B48-F0C6-46A7-B61F-4E5FFA68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組み立て式の自動運転体験教材</a:t>
            </a:r>
          </a:p>
        </p:txBody>
      </p:sp>
      <p:sp>
        <p:nvSpPr>
          <p:cNvPr id="3" name="TRON Programming Contest 2026&#10;応募作品">
            <a:extLst xmlns:a="http://schemas.openxmlformats.org/drawingml/2006/main">
              <a:ext uri="{FF2B5EF4-FFF2-40B4-BE49-F238E27FC236}">
                <a16:creationId xmlns:a16="http://schemas.microsoft.com/office/drawing/2014/main" id="{A44D2BA8-CD82-47D0-82CF-13D359A7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TRONプログラミングコンテスト2026</a:t>
            </a:r>
          </a:p>
        </p:txBody>
      </p:sp>
      <p:sp>
        <p:nvSpPr>
          <p:cNvPr id="6" name="自動走行・停止・人への引き継ぎを、一台の車両で体験する。">
            <a:extLst xmlns:a="http://schemas.openxmlformats.org/drawingml/2006/main">
              <a:ext uri="{FF2B5EF4-FFF2-40B4-BE49-F238E27FC236}">
                <a16:creationId xmlns:a16="http://schemas.microsoft.com/office/drawing/2014/main" id="{BDB4C0EC-E625-4CF8-8C81-7F4726D5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自動走行・停止・人への引き継ぎを、一台の車両で体験する。</a:t>
            </a:r>
          </a:p>
        </p:txBody>
      </p:sp>
    </p:spTree>
    <p:extLst>
      <p:ext uri="{BB962C8B-B14F-4D97-AF65-F5344CB8AC3E}">
        <p14:creationId xmlns:p14="http://schemas.microsoft.com/office/powerpoint/2010/main" val="456814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ackground-title">
            <a:extLst xmlns:a="http://schemas.openxmlformats.org/drawingml/2006/main">
              <a:ext uri="{FF2B5EF4-FFF2-40B4-BE49-F238E27FC236}">
                <a16:creationId xmlns:a16="http://schemas.microsoft.com/office/drawing/2014/main" id="{3DFFC7C0-26FC-45D8-88CC-5279A572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A3F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72A3F"/>
                </a:solidFill>
                <a:latin typeface="Noto Sans JP"/>
                <a:ea typeface="Noto Sans JP"/>
                <a:cs typeface="Noto Sans JP"/>
              </a:rPr>
              <a:t>開発の背景</a:t>
            </a:r>
          </a:p>
        </p:txBody>
      </p:sp>
      <p:sp>
        <p:nvSpPr>
          <p:cNvPr id="2" name="background-message">
            <a:extLst xmlns:a="http://schemas.openxmlformats.org/drawingml/2006/main">
              <a:ext uri="{FF2B5EF4-FFF2-40B4-BE49-F238E27FC236}">
                <a16:creationId xmlns:a16="http://schemas.microsoft.com/office/drawing/2014/main" id="{093B3502-C78A-43DD-BEF3-80E4D5EF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858C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858C"/>
                </a:solidFill>
                <a:latin typeface="Noto Sans JP"/>
                <a:ea typeface="Noto Sans JP"/>
                <a:cs typeface="Noto Sans JP"/>
              </a:rPr>
              <a:t>自動化の広がりに合わせて、人の役割を学ぶ入口が必要。</a:t>
            </a:r>
          </a:p>
        </p:txBody>
      </p:sp>
      <p:sp>
        <p:nvSpPr>
          <p:cNvPr id="3" name="taxi-introduction">
            <a:extLst xmlns:a="http://schemas.openxmlformats.org/drawingml/2006/main">
              <a:ext uri="{FF2B5EF4-FFF2-40B4-BE49-F238E27FC236}">
                <a16:creationId xmlns:a16="http://schemas.microsoft.com/office/drawing/2014/main" id="{187FD132-922A-4309-B775-0CAF9FF9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58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858C"/>
                </a:solidFill>
                <a:latin typeface="Noto Sans JP"/>
                <a:ea typeface="Noto Sans JP"/>
                <a:cs typeface="Noto Sans JP"/>
              </a:rPr>
              <a:t>米国では自動運転タクシーが運行</a:t>
            </a:r>
          </a:p>
        </p:txBody>
      </p:sp>
      <p:sp>
        <p:nvSpPr>
          <p:cNvPr id="4" name="waymo-2025-rides">
            <a:extLst xmlns:a="http://schemas.openxmlformats.org/drawingml/2006/main">
              <a:ext uri="{FF2B5EF4-FFF2-40B4-BE49-F238E27FC236}">
                <a16:creationId xmlns:a16="http://schemas.microsoft.com/office/drawing/2014/main" id="{683122B0-469A-45C3-8E76-F917076F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43175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2A3F"/>
                </a:solidFill>
                <a:latin typeface="Noto Sans JP"/>
                <a:ea typeface="Noto Sans JP"/>
                <a:cs typeface="Noto Sans JP"/>
              </a:defRPr>
            </a:pPr>
            <a:r>
              <a:rPr sz="5400" b="1">
                <a:solidFill>
                  <a:srgbClr val="172A3F"/>
                </a:solidFill>
                <a:latin typeface="Noto Sans JP"/>
                <a:ea typeface="Noto Sans JP"/>
                <a:cs typeface="Noto Sans JP"/>
              </a:rPr>
              <a:t>1,500万回</a:t>
            </a:r>
          </a:p>
        </p:txBody>
      </p:sp>
      <p:sp>
        <p:nvSpPr>
          <p:cNvPr id="5" name="waymo-label">
            <a:extLst xmlns:a="http://schemas.openxmlformats.org/drawingml/2006/main">
              <a:ext uri="{FF2B5EF4-FFF2-40B4-BE49-F238E27FC236}">
                <a16:creationId xmlns:a16="http://schemas.microsoft.com/office/drawing/2014/main" id="{48E59041-2135-42C0-A220-5EA5A510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Waymoの2025年利用実績（同社公表）</a:t>
            </a:r>
          </a:p>
        </p:txBody>
      </p:sp>
      <p:sp>
        <p:nvSpPr>
          <p:cNvPr id="6" name="autonomy-benefits">
            <a:extLst xmlns:a="http://schemas.openxmlformats.org/drawingml/2006/main">
              <a:ext uri="{FF2B5EF4-FFF2-40B4-BE49-F238E27FC236}">
                <a16:creationId xmlns:a16="http://schemas.microsoft.com/office/drawing/2014/main" id="{F9A09613-D27E-4472-A71C-E95FCF87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移動の負担軽減や交通事故の削減が</a:t>
            </a:r>
          </a:p>
          <a:p xmlns:a="http://schemas.openxmlformats.org/drawingml/2006/main">
            <a:pPr algn="l">
              <a:defRPr sz="19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期待され、社会での利用が広がっている。</a:t>
            </a:r>
          </a:p>
        </p:txBody>
      </p:sp>
      <p:sp>
        <p:nvSpPr>
          <p:cNvPr id="7" name="human-roles">
            <a:extLst xmlns:a="http://schemas.openxmlformats.org/drawingml/2006/main">
              <a:ext uri="{FF2B5EF4-FFF2-40B4-BE49-F238E27FC236}">
                <a16:creationId xmlns:a16="http://schemas.microsoft.com/office/drawing/2014/main" id="{5C21A4E3-F4A7-4996-9792-11258A51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58C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0858C"/>
                </a:solidFill>
                <a:latin typeface="Noto Sans JP"/>
                <a:ea typeface="Noto Sans JP"/>
                <a:cs typeface="Noto Sans JP"/>
              </a:rPr>
              <a:t>自動化の程度で、人の役割が変わる</a:t>
            </a:r>
          </a:p>
        </p:txBody>
      </p:sp>
      <p:sp>
        <p:nvSpPr>
          <p:cNvPr id="8" name="level2-label">
            <a:extLst xmlns:a="http://schemas.openxmlformats.org/drawingml/2006/main">
              <a:ext uri="{FF2B5EF4-FFF2-40B4-BE49-F238E27FC236}">
                <a16:creationId xmlns:a16="http://schemas.microsoft.com/office/drawing/2014/main" id="{9861CDC6-4B99-45D8-A835-24FB24D9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57475"/>
            <a:ext cx="4419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A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A3F"/>
                </a:solidFill>
                <a:latin typeface="Noto Sans JP"/>
                <a:ea typeface="Noto Sans JP"/>
                <a:cs typeface="Noto Sans JP"/>
              </a:rPr>
              <a:t>レベル2：周囲の監視</a:t>
            </a:r>
          </a:p>
        </p:txBody>
      </p:sp>
      <p:sp>
        <p:nvSpPr>
          <p:cNvPr id="9" name="level2-body">
            <a:extLst xmlns:a="http://schemas.openxmlformats.org/drawingml/2006/main">
              <a:ext uri="{FF2B5EF4-FFF2-40B4-BE49-F238E27FC236}">
                <a16:creationId xmlns:a16="http://schemas.microsoft.com/office/drawing/2014/main" id="{A35A68D7-7A43-47CF-87CE-57C5D4A6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0515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運転者が常に周囲を監視する。</a:t>
            </a:r>
          </a:p>
        </p:txBody>
      </p:sp>
      <p:sp>
        <p:nvSpPr>
          <p:cNvPr id="10" name="level3-label">
            <a:extLst xmlns:a="http://schemas.openxmlformats.org/drawingml/2006/main">
              <a:ext uri="{FF2B5EF4-FFF2-40B4-BE49-F238E27FC236}">
                <a16:creationId xmlns:a16="http://schemas.microsoft.com/office/drawing/2014/main" id="{1A3E1767-46A4-41F2-99EB-DE813A7A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441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A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2A3F"/>
                </a:solidFill>
                <a:latin typeface="Noto Sans JP"/>
                <a:ea typeface="Noto Sans JP"/>
                <a:cs typeface="Noto Sans JP"/>
              </a:rPr>
              <a:t>レベル3：運転の引き継ぎ</a:t>
            </a:r>
          </a:p>
        </p:txBody>
      </p:sp>
      <p:sp>
        <p:nvSpPr>
          <p:cNvPr id="11" name="level3-body">
            <a:extLst xmlns:a="http://schemas.openxmlformats.org/drawingml/2006/main">
              <a:ext uri="{FF2B5EF4-FFF2-40B4-BE49-F238E27FC236}">
                <a16:creationId xmlns:a16="http://schemas.microsoft.com/office/drawing/2014/main" id="{1D0D0330-5F04-4EB4-8421-825F927D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71950"/>
            <a:ext cx="441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システムの要求に応じて</a:t>
            </a:r>
          </a:p>
          <a:p xmlns:a="http://schemas.openxmlformats.org/drawingml/2006/main">
            <a:pPr algn="l">
              <a:defRPr sz="19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人が運転を引き継ぐ。</a:t>
            </a:r>
          </a:p>
        </p:txBody>
      </p:sp>
      <p:sp>
        <p:nvSpPr>
          <p:cNvPr id="12" name="educational-purpose">
            <a:extLst xmlns:a="http://schemas.openxmlformats.org/drawingml/2006/main">
              <a:ext uri="{FF2B5EF4-FFF2-40B4-BE49-F238E27FC236}">
                <a16:creationId xmlns:a16="http://schemas.microsoft.com/office/drawing/2014/main" id="{2B4E0D1B-1343-4E43-9F56-087C1993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858C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00858C"/>
                </a:solidFill>
                <a:latin typeface="Noto Sans JP"/>
                <a:ea typeface="Noto Sans JP"/>
                <a:cs typeface="Noto Sans JP"/>
              </a:rPr>
              <a:t>中高生が「いつ人が判断するか」を考える教材へ</a:t>
            </a:r>
          </a:p>
        </p:txBody>
      </p:sp>
      <p:sp>
        <p:nvSpPr>
          <p:cNvPr id="13" name="learning-experience">
            <a:extLst xmlns:a="http://schemas.openxmlformats.org/drawingml/2006/main">
              <a:ext uri="{FF2B5EF4-FFF2-40B4-BE49-F238E27FC236}">
                <a16:creationId xmlns:a16="http://schemas.microsoft.com/office/drawing/2014/main" id="{03016AE5-18BF-4D4F-A56E-48C65294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72A3F"/>
                </a:solidFill>
                <a:latin typeface="Noto Sans JP"/>
                <a:ea typeface="Noto Sans JP"/>
                <a:cs typeface="Noto Sans JP"/>
              </a:rPr>
              <a:t>自動走行、警告、停止、手動引き継ぎを模型で確かめる。</a:t>
            </a:r>
          </a:p>
        </p:txBody>
      </p:sp>
      <p:sp>
        <p:nvSpPr>
          <p:cNvPr id="14" name="waymo-source">
            <a:extLst xmlns:a="http://schemas.openxmlformats.org/drawingml/2006/main">
              <a:ext uri="{FF2B5EF4-FFF2-40B4-BE49-F238E27FC236}">
                <a16:creationId xmlns:a16="http://schemas.microsoft.com/office/drawing/2014/main" id="{94E44D14-0B04-424B-B5A4-A8173D30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98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出典：Waymo「2025 year in review」 https://waymo.com/blog/2025/12/2025-year-in-review/</a:t>
            </a:r>
          </a:p>
        </p:txBody>
      </p:sp>
      <p:sp>
        <p:nvSpPr>
          <p:cNvPr id="15" name="nhtsa-source">
            <a:extLst xmlns:a="http://schemas.openxmlformats.org/drawingml/2006/main">
              <a:ext uri="{FF2B5EF4-FFF2-40B4-BE49-F238E27FC236}">
                <a16:creationId xmlns:a16="http://schemas.microsoft.com/office/drawing/2014/main" id="{22705DA8-EB88-431E-B6F9-0629EE2D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出典：NHTSA「Automated Vehicle Safety」 https://www.nhtsa.gov/vehicle-safety/automated-vehicle-safety</a:t>
            </a:r>
          </a:p>
        </p:txBody>
      </p:sp>
      <p:sp>
        <p:nvSpPr>
          <p:cNvPr id="16" name="background-page">
            <a:extLst xmlns:a="http://schemas.openxmlformats.org/drawingml/2006/main">
              <a:ext uri="{FF2B5EF4-FFF2-40B4-BE49-F238E27FC236}">
                <a16:creationId xmlns:a16="http://schemas.microsoft.com/office/drawing/2014/main" id="{1C32B9C1-7CB8-4109-8B01-F67C6BD8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627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作品の目的">
            <a:extLst xmlns:a="http://schemas.openxmlformats.org/drawingml/2006/main">
              <a:ext uri="{FF2B5EF4-FFF2-40B4-BE49-F238E27FC236}">
                <a16:creationId xmlns:a16="http://schemas.microsoft.com/office/drawing/2014/main" id="{F87D3287-3074-4995-AD42-599C115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作品の目的</a:t>
            </a:r>
          </a:p>
        </p:txBody>
      </p:sp>
      <p:sp>
        <p:nvSpPr>
          <p:cNvPr id="2" name="人が引き継ぐ場面まで、自分で確かめる。">
            <a:extLst xmlns:a="http://schemas.openxmlformats.org/drawingml/2006/main">
              <a:ext uri="{FF2B5EF4-FFF2-40B4-BE49-F238E27FC236}">
                <a16:creationId xmlns:a16="http://schemas.microsoft.com/office/drawing/2014/main" id="{BDAD0DC2-227F-4B5E-A14E-FC343EA7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中高生が、人への運転引き継ぎを模型で体験する。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88C5EA73-2F70-45CE-A9EB-EA62F67A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4" name="自動運転と人の&#10;境界面を体験する">
            <a:extLst xmlns:a="http://schemas.openxmlformats.org/drawingml/2006/main">
              <a:ext uri="{FF2B5EF4-FFF2-40B4-BE49-F238E27FC236}">
                <a16:creationId xmlns:a16="http://schemas.microsoft.com/office/drawing/2014/main" id="{8B6D9926-1EE9-4DF1-BED3-06FEEA6F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6096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9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自動運転と人の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9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境界面を体験する</a:t>
            </a:r>
          </a:p>
        </p:txBody>
      </p:sp>
      <p:sp>
        <p:nvSpPr>
          <p:cNvPr id="5" name="「なぜ止まったか」&#10;「いつ自分が操作するか」">
            <a:extLst xmlns:a="http://schemas.openxmlformats.org/drawingml/2006/main">
              <a:ext uri="{FF2B5EF4-FFF2-40B4-BE49-F238E27FC236}">
                <a16:creationId xmlns:a16="http://schemas.microsoft.com/office/drawing/2014/main" id="{DFB2BD87-12BC-4FB6-B43E-5E938E63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白い道を走らせ、停止理由を見て、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自分で運転を引き継ぐ。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人とシステムの役割分担を学ぶ。</a:t>
            </a:r>
          </a:p>
        </p:txBody>
      </p:sp>
      <p:sp>
        <p:nvSpPr>
          <p:cNvPr id="6" name="車体を組み立てる">
            <a:extLst xmlns:a="http://schemas.openxmlformats.org/drawingml/2006/main">
              <a:ext uri="{FF2B5EF4-FFF2-40B4-BE49-F238E27FC236}">
                <a16:creationId xmlns:a16="http://schemas.microsoft.com/office/drawing/2014/main" id="{B00247D6-36D1-4539-87CD-B8CC20F6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車体を組み立てる</a:t>
            </a:r>
          </a:p>
        </p:txBody>
      </p:sp>
      <p:sp>
        <p:nvSpPr>
          <p:cNvPr id="7" name="市販部品で構造と配線を学ぶ">
            <a:extLst xmlns:a="http://schemas.openxmlformats.org/drawingml/2006/main">
              <a:ext uri="{FF2B5EF4-FFF2-40B4-BE49-F238E27FC236}">
                <a16:creationId xmlns:a16="http://schemas.microsoft.com/office/drawing/2014/main" id="{1E8750E0-4193-4FD3-968A-1157B5EA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62250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市販部品で構造と配線を学ぶ</a:t>
            </a:r>
          </a:p>
        </p:txBody>
      </p:sp>
      <p:sp>
        <p:nvSpPr>
          <p:cNvPr id="8" name="白い走行路を走らせる">
            <a:extLst xmlns:a="http://schemas.openxmlformats.org/drawingml/2006/main">
              <a:ext uri="{FF2B5EF4-FFF2-40B4-BE49-F238E27FC236}">
                <a16:creationId xmlns:a16="http://schemas.microsoft.com/office/drawing/2014/main" id="{8F1CB6AC-C172-412F-BFC6-12CD631B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05225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白い走行路を走らせる</a:t>
            </a:r>
          </a:p>
        </p:txBody>
      </p:sp>
      <p:sp>
        <p:nvSpPr>
          <p:cNvPr id="9" name="カメラ・AI・制御をつなぐ">
            <a:extLst xmlns:a="http://schemas.openxmlformats.org/drawingml/2006/main">
              <a:ext uri="{FF2B5EF4-FFF2-40B4-BE49-F238E27FC236}">
                <a16:creationId xmlns:a16="http://schemas.microsoft.com/office/drawing/2014/main" id="{A7CCE419-D917-471A-997B-028C70EA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81475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カメラ・AI・制御をつなぐ</a:t>
            </a:r>
          </a:p>
        </p:txBody>
      </p:sp>
      <p:sp>
        <p:nvSpPr>
          <p:cNvPr id="10" name="停止理由を見て、引き継ぐ">
            <a:extLst xmlns:a="http://schemas.openxmlformats.org/drawingml/2006/main">
              <a:ext uri="{FF2B5EF4-FFF2-40B4-BE49-F238E27FC236}">
                <a16:creationId xmlns:a16="http://schemas.microsoft.com/office/drawing/2014/main" id="{4A30A2E5-CECF-4EE6-BF07-1577F064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33975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停止理由を見て、引き継ぐ</a:t>
            </a:r>
          </a:p>
        </p:txBody>
      </p:sp>
      <p:sp>
        <p:nvSpPr>
          <p:cNvPr id="11" name="状態を見て、手動操作に切り替える">
            <a:extLst xmlns:a="http://schemas.openxmlformats.org/drawingml/2006/main">
              <a:ext uri="{FF2B5EF4-FFF2-40B4-BE49-F238E27FC236}">
                <a16:creationId xmlns:a16="http://schemas.microsoft.com/office/drawing/2014/main" id="{0BA2A04B-358D-4E4E-A0AF-BB7F56C9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610225"/>
            <a:ext cx="379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状態を見て、手動操作に切り替える</a:t>
            </a:r>
          </a:p>
        </p:txBody>
      </p:sp>
      <p:sp>
        <p:nvSpPr>
          <p:cNvPr id="13" name="人と自動運転の役割分担を学ぶ模型教材。公道用車両や自動運転レベルの認証を示すもの">
            <a:extLst xmlns:a="http://schemas.openxmlformats.org/drawingml/2006/main">
              <a:ext uri="{FF2B5EF4-FFF2-40B4-BE49-F238E27FC236}">
                <a16:creationId xmlns:a16="http://schemas.microsoft.com/office/drawing/2014/main" id="{2FA588D1-3B1C-4F79-8501-984CAEB2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388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人と自動運転の役割分担を学ぶ模型教材。</a:t>
            </a:r>
          </a:p>
        </p:txBody>
      </p:sp>
    </p:spTree>
    <p:extLst>
      <p:ext uri="{BB962C8B-B14F-4D97-AF65-F5344CB8AC3E}">
        <p14:creationId xmlns:p14="http://schemas.microsoft.com/office/powerpoint/2010/main" val="16275738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運転の引き継ぎ">
            <a:extLst xmlns:a="http://schemas.openxmlformats.org/drawingml/2006/main">
              <a:ext uri="{FF2B5EF4-FFF2-40B4-BE49-F238E27FC236}">
                <a16:creationId xmlns:a16="http://schemas.microsoft.com/office/drawing/2014/main" id="{E5242506-5DD9-4455-A389-13CD64AF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運転の引き継ぎ</a:t>
            </a:r>
          </a:p>
        </p:txBody>
      </p:sp>
      <p:sp>
        <p:nvSpPr>
          <p:cNvPr id="2" name="運転引き継ぎ要求（TOR）では先に停止し、3秒待つ。">
            <a:extLst xmlns:a="http://schemas.openxmlformats.org/drawingml/2006/main">
              <a:ext uri="{FF2B5EF4-FFF2-40B4-BE49-F238E27FC236}">
                <a16:creationId xmlns:a16="http://schemas.microsoft.com/office/drawing/2014/main" id="{4A106DE2-6EAA-42E6-A53C-4680DD3A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運転引き継ぎ要求（TOR）では先に停止し、3秒待つ。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E56A2444-FABB-431D-BD48-E6924C0F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4" name="AUTO&#10;白い走行路を追う">
            <a:extLst xmlns:a="http://schemas.openxmlformats.org/drawingml/2006/main">
              <a:ext uri="{FF2B5EF4-FFF2-40B4-BE49-F238E27FC236}">
                <a16:creationId xmlns:a16="http://schemas.microsoft.com/office/drawing/2014/main" id="{DB95B09B-EB4B-4E01-9D5D-CADDBBC3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743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A7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AUTO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白い走行路を追う</a:t>
            </a:r>
          </a:p>
        </p:txBody>
      </p:sp>
      <p:sp>
        <p:nvSpPr>
          <p:cNvPr id="5" name="TOR&#10;出力0・引き継ぎ待ち">
            <a:extLst xmlns:a="http://schemas.openxmlformats.org/drawingml/2006/main">
              <a:ext uri="{FF2B5EF4-FFF2-40B4-BE49-F238E27FC236}">
                <a16:creationId xmlns:a16="http://schemas.microsoft.com/office/drawing/2014/main" id="{065C84C9-53A6-41F6-B688-356D1F6A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955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A5600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TOR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出力0・引き継ぎ待ち</a:t>
            </a:r>
          </a:p>
        </p:txBody>
      </p:sp>
      <p:sp>
        <p:nvSpPr>
          <p:cNvPr id="6" name="MANUAL&#10;切り替え直後は停止">
            <a:extLst xmlns:a="http://schemas.openxmlformats.org/drawingml/2006/main">
              <a:ext uri="{FF2B5EF4-FFF2-40B4-BE49-F238E27FC236}">
                <a16:creationId xmlns:a16="http://schemas.microsoft.com/office/drawing/2014/main" id="{AD5E3BA7-6348-4D87-9B7F-B7C9A714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95550"/>
            <a:ext cx="2933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F83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MANUAL</a:t>
            </a:r>
          </a:p>
          <a:p xmlns:a="http://schemas.openxmlformats.org/drawingml/2006/main">
            <a:pPr algn="ctr">
              <a:buNone/>
              <a:def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切り替え直後は停止</a:t>
            </a:r>
          </a:p>
        </p:txBody>
      </p:sp>
      <p:cxnSp>
        <p:nvCxnSpPr>
          <p:cNvPr id="9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52800" y="309562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A5600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10450" y="30956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F83"/>
            </a:solidFill>
            <a:prstDash val="solid"/>
            <a:tailEnd type="triangle" w="sm" len="sm"/>
          </a:ln>
        </p:spPr>
      </p:cxnSp>
      <p:sp>
        <p:nvSpPr>
          <p:cNvPr id="9" name="走行路を失う&#10;認識結果が古い">
            <a:extLst xmlns:a="http://schemas.openxmlformats.org/drawingml/2006/main">
              <a:ext uri="{FF2B5EF4-FFF2-40B4-BE49-F238E27FC236}">
                <a16:creationId xmlns:a16="http://schemas.microsoft.com/office/drawing/2014/main" id="{C5D34F47-CB00-44AD-802F-CAB14DF3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28800"/>
            <a:ext cx="1962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走行路を失う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認識結果が古い</a:t>
            </a:r>
          </a:p>
        </p:txBody>
      </p:sp>
      <p:sp>
        <p:nvSpPr>
          <p:cNvPr id="10" name="3秒以内に&#10;手動引き継ぎ">
            <a:extLst xmlns:a="http://schemas.openxmlformats.org/drawingml/2006/main">
              <a:ext uri="{FF2B5EF4-FFF2-40B4-BE49-F238E27FC236}">
                <a16:creationId xmlns:a16="http://schemas.microsoft.com/office/drawing/2014/main" id="{0C9113A1-E560-487A-A674-19B7FF29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28800"/>
            <a:ext cx="1885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3秒以内に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手動引き継ぎ</a:t>
            </a:r>
          </a:p>
        </p:txBody>
      </p:sp>
      <p:sp>
        <p:nvSpPr>
          <p:cNvPr id="11" name="時間切れ&#10;停止・MANUAL&#10;RESET後に再操作">
            <a:extLst xmlns:a="http://schemas.openxmlformats.org/drawingml/2006/main">
              <a:ext uri="{FF2B5EF4-FFF2-40B4-BE49-F238E27FC236}">
                <a16:creationId xmlns:a16="http://schemas.microsoft.com/office/drawing/2014/main" id="{103E713D-50B4-413F-A625-D3BC31CC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28575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A5600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時間切れ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停止・MANUAL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RESET後に再操作</a:t>
            </a:r>
          </a:p>
        </p:txBody>
      </p:sp>
      <p:cxnSp>
        <p:nvCxnSpPr>
          <p:cNvPr id="99" name=""/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81700" y="36957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A5600"/>
            </a:solidFill>
            <a:prstDash val="solid"/>
            <a:tailEnd type="triangle" w="sm" len="sm"/>
          </a:ln>
        </p:spPr>
      </p:cxnSp>
      <p:sp>
        <p:nvSpPr>
          <p:cNvPr id="13" name="応答なし・3秒経過">
            <a:extLst xmlns:a="http://schemas.openxmlformats.org/drawingml/2006/main">
              <a:ext uri="{FF2B5EF4-FFF2-40B4-BE49-F238E27FC236}">
                <a16:creationId xmlns:a16="http://schemas.microsoft.com/office/drawing/2014/main" id="{D5A4C1B1-74BE-45C4-8292-F4397114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33825"/>
            <a:ext cx="2800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A5600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8A5600"/>
                </a:solidFill>
                <a:latin typeface="Noto Sans JP"/>
                <a:ea typeface="Noto Sans JP"/>
                <a:cs typeface="Noto Sans JP"/>
              </a:rPr>
              <a:t>応答なし・3秒経過</a:t>
            </a:r>
          </a:p>
        </p:txBody>
      </p:sp>
      <p:sp>
        <p:nvSpPr>
          <p:cNvPr id="14" name="方向パッドを&#10;押している間だけ走る">
            <a:extLst xmlns:a="http://schemas.openxmlformats.org/drawingml/2006/main">
              <a:ext uri="{FF2B5EF4-FFF2-40B4-BE49-F238E27FC236}">
                <a16:creationId xmlns:a16="http://schemas.microsoft.com/office/drawing/2014/main" id="{9698AEA2-26E7-4B88-835A-1A200DEF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67175"/>
            <a:ext cx="293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方向パッドを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押している間だけ走る</a:t>
            </a:r>
          </a:p>
        </p:txBody>
      </p:sp>
      <p:sp>
        <p:nvSpPr>
          <p:cNvPr id="15" name="任意の手動切り替えも、まず停止する。走行路が戻ってもAUTOへ自動復帰">
            <a:extLst xmlns:a="http://schemas.openxmlformats.org/drawingml/2006/main">
              <a:ext uri="{FF2B5EF4-FFF2-40B4-BE49-F238E27FC236}">
                <a16:creationId xmlns:a16="http://schemas.microsoft.com/office/drawing/2014/main" id="{157C51C1-DBB3-488D-A342-056D3962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起動時はMANUAL・停止。AUTO開始には有効な距離値・コア間通信・走行路認識が必要。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任意の手動切り替えもまず停止。道が再び見えてもAUTOへ自動復帰しない。</a:t>
            </a:r>
          </a:p>
        </p:txBody>
      </p:sp>
    </p:spTree>
    <p:extLst>
      <p:ext uri="{BB962C8B-B14F-4D97-AF65-F5344CB8AC3E}">
        <p14:creationId xmlns:p14="http://schemas.microsoft.com/office/powerpoint/2010/main" val="4657372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全体システム構成">
            <a:extLst xmlns:a="http://schemas.openxmlformats.org/drawingml/2006/main">
              <a:ext uri="{FF2B5EF4-FFF2-40B4-BE49-F238E27FC236}">
                <a16:creationId xmlns:a16="http://schemas.microsoft.com/office/drawing/2014/main" id="{38B03AF7-13EA-4064-8256-DCC7FE71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全体システム構成</a:t>
            </a:r>
          </a:p>
        </p:txBody>
      </p:sp>
      <p:sp>
        <p:nvSpPr>
          <p:cNvPr id="2" name="M85が認識・Webを担当し、M33が車両状態とモーター出力を決める。">
            <a:extLst xmlns:a="http://schemas.openxmlformats.org/drawingml/2006/main">
              <a:ext uri="{FF2B5EF4-FFF2-40B4-BE49-F238E27FC236}">
                <a16:creationId xmlns:a16="http://schemas.microsoft.com/office/drawing/2014/main" id="{19D1D48D-D412-41FD-8166-CA320AEF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M85が認識・Webを担当し、M33が車両状態とモーター出力を決める。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580DE399-B31C-45C3-839F-B60C4218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4" name="操作端末&#10;スマートフォン / タブレット / PC">
            <a:extLst xmlns:a="http://schemas.openxmlformats.org/drawingml/2006/main">
              <a:ext uri="{FF2B5EF4-FFF2-40B4-BE49-F238E27FC236}">
                <a16:creationId xmlns:a16="http://schemas.microsoft.com/office/drawing/2014/main" id="{5732637C-390E-4D71-ABCB-E0719D3E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800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A7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72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操作端末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72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スマートフォン / タブレット / PC</a:t>
            </a:r>
          </a:p>
        </p:txBody>
      </p:sp>
      <p:sp>
        <p:nvSpPr>
          <p:cNvPr id="5" name="ルーター">
            <a:extLst xmlns:a="http://schemas.openxmlformats.org/drawingml/2006/main">
              <a:ext uri="{FF2B5EF4-FFF2-40B4-BE49-F238E27FC236}">
                <a16:creationId xmlns:a16="http://schemas.microsoft.com/office/drawing/2014/main" id="{F2B4B7A9-BF38-4920-9586-23C29F31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76450"/>
            <a:ext cx="2495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A7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ルーター</a:t>
            </a:r>
          </a:p>
        </p:txBody>
      </p:sp>
      <p:cxnSp>
        <p:nvCxnSpPr>
          <p:cNvPr id="15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09950" y="25527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A7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7" name="Wi-Fi（無線）">
            <a:extLst xmlns:a="http://schemas.openxmlformats.org/drawingml/2006/main">
              <a:ext uri="{FF2B5EF4-FFF2-40B4-BE49-F238E27FC236}">
                <a16:creationId xmlns:a16="http://schemas.microsoft.com/office/drawing/2014/main" id="{D069E9CB-FE63-4FEC-9CAF-9337F6D2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33550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Wi-Fi（無線）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E4300-D5BB-421E-A1ED-D3962147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57575"/>
            <a:ext cx="77724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CD7E2"/>
            </a:solidFill>
          </a:ln>
        </p:spPr>
      </p:sp>
      <p:sp>
        <p:nvSpPr>
          <p:cNvPr id="9" name="EK-RA8P1">
            <a:extLst xmlns:a="http://schemas.openxmlformats.org/drawingml/2006/main">
              <a:ext uri="{FF2B5EF4-FFF2-40B4-BE49-F238E27FC236}">
                <a16:creationId xmlns:a16="http://schemas.microsoft.com/office/drawing/2014/main" id="{AEC89302-A93F-4177-B7F5-DFE3BF83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623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EK-RA8P1</a:t>
            </a:r>
          </a:p>
        </p:txBody>
      </p:sp>
      <p:sp>
        <p:nvSpPr>
          <p:cNvPr id="10" name="M85 + NPU&#10;カメラ・AI・Web">
            <a:extLst xmlns:a="http://schemas.openxmlformats.org/drawingml/2006/main">
              <a:ext uri="{FF2B5EF4-FFF2-40B4-BE49-F238E27FC236}">
                <a16:creationId xmlns:a16="http://schemas.microsoft.com/office/drawing/2014/main" id="{3A13D89E-1222-41A6-A731-76B58814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52900"/>
            <a:ext cx="2628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A7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M85 + NPU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カメラ・AI・Web</a:t>
            </a:r>
          </a:p>
        </p:txBody>
      </p:sp>
      <p:cxnSp>
        <p:nvCxnSpPr>
          <p:cNvPr id="161" name=""/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5391150" y="3028950"/>
            <a:ext cx="409575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45BA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2" name="Ethernet（有線）">
            <a:extLst xmlns:a="http://schemas.openxmlformats.org/drawingml/2006/main">
              <a:ext uri="{FF2B5EF4-FFF2-40B4-BE49-F238E27FC236}">
                <a16:creationId xmlns:a16="http://schemas.microsoft.com/office/drawing/2014/main" id="{48E43787-5B86-4A8F-9765-084D2AB9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133725"/>
            <a:ext cx="2276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Ethernet（有線）</a:t>
            </a:r>
          </a:p>
        </p:txBody>
      </p:sp>
      <p:sp>
        <p:nvSpPr>
          <p:cNvPr id="13" name="HTTP：操作要求・状態・映像">
            <a:extLst xmlns:a="http://schemas.openxmlformats.org/drawingml/2006/main">
              <a:ext uri="{FF2B5EF4-FFF2-40B4-BE49-F238E27FC236}">
                <a16:creationId xmlns:a16="http://schemas.microsoft.com/office/drawing/2014/main" id="{A3EB5AE8-4C68-4703-BC44-4B361293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219325"/>
            <a:ext cx="3733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HTTP：操作要求・状態・映像</a:t>
            </a:r>
          </a:p>
        </p:txBody>
      </p:sp>
      <p:sp>
        <p:nvSpPr>
          <p:cNvPr id="14" name="共有RAM&#10;HSEM">
            <a:extLst xmlns:a="http://schemas.openxmlformats.org/drawingml/2006/main">
              <a:ext uri="{FF2B5EF4-FFF2-40B4-BE49-F238E27FC236}">
                <a16:creationId xmlns:a16="http://schemas.microsoft.com/office/drawing/2014/main" id="{41050C53-E283-4A18-B897-9AF60B69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29100"/>
            <a:ext cx="1504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A7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72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共有RAM</a:t>
            </a:r>
          </a:p>
          <a:p xmlns:a="http://schemas.openxmlformats.org/drawingml/2006/main">
            <a:pPr algn="ctr">
              <a:buNone/>
              <a:defRPr sz="172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72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HSEM</a:t>
            </a:r>
          </a:p>
        </p:txBody>
      </p:sp>
      <p:sp>
        <p:nvSpPr>
          <p:cNvPr id="15" name="M33&#10;車両状態&#10;安全判定・出力">
            <a:extLst xmlns:a="http://schemas.openxmlformats.org/drawingml/2006/main">
              <a:ext uri="{FF2B5EF4-FFF2-40B4-BE49-F238E27FC236}">
                <a16:creationId xmlns:a16="http://schemas.microsoft.com/office/drawing/2014/main" id="{8DD0A3BE-5A8A-46D1-A9FC-05FA5743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67175"/>
            <a:ext cx="2190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F83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M33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車両状態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安全判定・出力</a:t>
            </a:r>
          </a:p>
        </p:txBody>
      </p:sp>
      <p:cxnSp>
        <p:nvCxnSpPr>
          <p:cNvPr id="166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705600" y="46101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A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6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58225" y="46101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F83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8" name="OV5640&#10;前方カメラ">
            <a:extLst xmlns:a="http://schemas.openxmlformats.org/drawingml/2006/main">
              <a:ext uri="{FF2B5EF4-FFF2-40B4-BE49-F238E27FC236}">
                <a16:creationId xmlns:a16="http://schemas.microsoft.com/office/drawing/2014/main" id="{F779C25D-D8B8-47F8-8D05-CBEBA3AD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A7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OV5640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前方カメラ</a:t>
            </a:r>
          </a:p>
        </p:txBody>
      </p:sp>
      <p:sp>
        <p:nvSpPr>
          <p:cNvPr id="19" name="ToF4M&#10;前方距離センサ">
            <a:extLst xmlns:a="http://schemas.openxmlformats.org/drawingml/2006/main">
              <a:ext uri="{FF2B5EF4-FFF2-40B4-BE49-F238E27FC236}">
                <a16:creationId xmlns:a16="http://schemas.microsoft.com/office/drawing/2014/main" id="{17AECF7D-BFCF-4684-806D-808B880D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F83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ToF4M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前方距離センサ</a:t>
            </a:r>
          </a:p>
        </p:txBody>
      </p:sp>
      <p:cxnSp>
        <p:nvCxnSpPr>
          <p:cNvPr id="170" name=""/>
          <p:cNvCxnSpPr>
            <a:stCxn xmlns:a="http://schemas.openxmlformats.org/drawingml/2006/main" id="1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95600" y="461010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A7"/>
            </a:solidFill>
            <a:prstDash val="solid"/>
            <a:tailEnd type="triangle" w="sm" len="sm"/>
          </a:ln>
        </p:spPr>
      </p:cxnSp>
      <p:cxnSp>
        <p:nvCxnSpPr>
          <p:cNvPr id="171" name=""/>
          <p:cNvCxnSpPr>
            <a:stCxn xmlns:a="http://schemas.openxmlformats.org/drawingml/2006/main" id="19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2895600" y="5153025"/>
            <a:ext cx="7305675" cy="7143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7F83"/>
            </a:solidFill>
            <a:prstDash val="solid"/>
            <a:tailEnd type="triangle" w="sm" len="sm"/>
          </a:ln>
        </p:spPr>
      </p:cxnSp>
      <p:sp>
        <p:nvSpPr>
          <p:cNvPr id="22" name="I²C">
            <a:extLst xmlns:a="http://schemas.openxmlformats.org/drawingml/2006/main">
              <a:ext uri="{FF2B5EF4-FFF2-40B4-BE49-F238E27FC236}">
                <a16:creationId xmlns:a16="http://schemas.microsoft.com/office/drawing/2014/main" id="{B3A885BF-E1AD-490B-9D91-5C9ADE31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57825"/>
            <a:ext cx="828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I²C</a:t>
            </a:r>
          </a:p>
        </p:txBody>
      </p:sp>
      <p:sp>
        <p:nvSpPr>
          <p:cNvPr id="23" name="DRV8833を介して左右モーターを駆動">
            <a:extLst xmlns:a="http://schemas.openxmlformats.org/drawingml/2006/main">
              <a:ext uri="{FF2B5EF4-FFF2-40B4-BE49-F238E27FC236}">
                <a16:creationId xmlns:a16="http://schemas.microsoft.com/office/drawing/2014/main" id="{1CB55952-59E7-4BFC-AC11-02D1A724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134100"/>
            <a:ext cx="722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DRV8833を介して左右モーターを駆動</a:t>
            </a:r>
          </a:p>
        </p:txBody>
      </p:sp>
      <p:sp>
        <p:nvSpPr>
          <p:cNvPr id="66" name="両コアでμT-Kernel 3.0">
            <a:extLst xmlns:a="http://schemas.openxmlformats.org/drawingml/2006/main">
              <a:ext uri="{FF2B5EF4-FFF2-40B4-BE49-F238E27FC236}">
                <a16:creationId xmlns:a16="http://schemas.microsoft.com/office/drawing/2014/main" id="{D28CA58B-473A-476D-AAB8-BD4E8850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590925"/>
            <a:ext cx="4219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両コアでμT-Kernel 3.0</a:t>
            </a:r>
          </a:p>
        </p:txBody>
      </p:sp>
    </p:spTree>
    <p:extLst>
      <p:ext uri="{BB962C8B-B14F-4D97-AF65-F5344CB8AC3E}">
        <p14:creationId xmlns:p14="http://schemas.microsoft.com/office/powerpoint/2010/main" val="7900420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ハードウェア構成">
            <a:extLst xmlns:a="http://schemas.openxmlformats.org/drawingml/2006/main">
              <a:ext uri="{FF2B5EF4-FFF2-40B4-BE49-F238E27FC236}">
                <a16:creationId xmlns:a16="http://schemas.microsoft.com/office/drawing/2014/main" id="{54E070AC-7CD5-47B8-892D-5F34C086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ハードウェア構成</a:t>
            </a:r>
          </a:p>
        </p:txBody>
      </p:sp>
      <p:sp>
        <p:nvSpPr>
          <p:cNvPr id="2" name="左右の駆動輪を独立して制御する、組み立て式の車体。">
            <a:extLst xmlns:a="http://schemas.openxmlformats.org/drawingml/2006/main">
              <a:ext uri="{FF2B5EF4-FFF2-40B4-BE49-F238E27FC236}">
                <a16:creationId xmlns:a16="http://schemas.microsoft.com/office/drawing/2014/main" id="{D2D76C35-9089-4E16-94EB-ADEC939D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左右の駆動輪を独立して制御する、組み立て式の車体。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D2C5BB10-F538-4A31-BD2C-F773DCE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a70d76cf64307"/>
          <a:stretch xmlns:a="http://schemas.openxmlformats.org/drawingml/2006/main"/>
        </p:blipFill>
        <p:spPr>
          <a:xfrm xmlns:a="http://schemas.openxmlformats.org/drawingml/2006/main">
            <a:off x="777875" y="1971675"/>
            <a:ext cx="5435600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制御・認識">
            <a:extLst xmlns:a="http://schemas.openxmlformats.org/drawingml/2006/main">
              <a:ext uri="{FF2B5EF4-FFF2-40B4-BE49-F238E27FC236}">
                <a16:creationId xmlns:a16="http://schemas.microsoft.com/office/drawing/2014/main" id="{1F264E35-8687-453A-A405-478CBC30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1930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制御・認識</a:t>
            </a:r>
          </a:p>
        </p:txBody>
      </p:sp>
      <p:sp>
        <p:nvSpPr>
          <p:cNvPr id="6" name="EK-RA8P1 / OV5640カメラ&#10;M5Stack Unit T">
            <a:extLst xmlns:a="http://schemas.openxmlformats.org/drawingml/2006/main">
              <a:ext uri="{FF2B5EF4-FFF2-40B4-BE49-F238E27FC236}">
                <a16:creationId xmlns:a16="http://schemas.microsoft.com/office/drawing/2014/main" id="{BFB28022-9D93-4AB4-AB94-F935EA92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1460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EK-RA8P1 / OV5640カメラ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M5Stack Unit ToF4M（U172）</a:t>
            </a:r>
          </a:p>
        </p:txBody>
      </p:sp>
      <p:sp>
        <p:nvSpPr>
          <p:cNvPr id="7" name="駆動・車体">
            <a:extLst xmlns:a="http://schemas.openxmlformats.org/drawingml/2006/main">
              <a:ext uri="{FF2B5EF4-FFF2-40B4-BE49-F238E27FC236}">
                <a16:creationId xmlns:a16="http://schemas.microsoft.com/office/drawing/2014/main" id="{76742ED2-FD36-4FA4-90A3-57468198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71875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駆動・車体</a:t>
            </a:r>
          </a:p>
        </p:txBody>
      </p:sp>
      <p:sp>
        <p:nvSpPr>
          <p:cNvPr id="8" name="DRV8833 / タミヤ ツインモーター&#10;ギヤーボックス・タイヤ・キ">
            <a:extLst xmlns:a="http://schemas.openxmlformats.org/drawingml/2006/main">
              <a:ext uri="{FF2B5EF4-FFF2-40B4-BE49-F238E27FC236}">
                <a16:creationId xmlns:a16="http://schemas.microsoft.com/office/drawing/2014/main" id="{5975B560-2576-449E-9A78-032E601C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67175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DRV8833 / タミヤ ツインモーター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ギヤーボックス・タイヤ・キャスター</a:t>
            </a:r>
          </a:p>
        </p:txBody>
      </p:sp>
      <p:sp>
        <p:nvSpPr>
          <p:cNvPr id="9" name="電源">
            <a:extLst xmlns:a="http://schemas.openxmlformats.org/drawingml/2006/main">
              <a:ext uri="{FF2B5EF4-FFF2-40B4-BE49-F238E27FC236}">
                <a16:creationId xmlns:a16="http://schemas.microsoft.com/office/drawing/2014/main" id="{D664E70C-9E31-4472-BBC4-0178FA2F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0540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電源</a:t>
            </a:r>
          </a:p>
        </p:txBody>
      </p:sp>
      <p:sp>
        <p:nvSpPr>
          <p:cNvPr id="10" name="基板：USB給電&#10;モーター：単3電池3本・物理スイッチ">
            <a:extLst xmlns:a="http://schemas.openxmlformats.org/drawingml/2006/main">
              <a:ext uri="{FF2B5EF4-FFF2-40B4-BE49-F238E27FC236}">
                <a16:creationId xmlns:a16="http://schemas.microsoft.com/office/drawing/2014/main" id="{4D704F5E-2DF7-424D-B742-63E7BE05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91175"/>
            <a:ext cx="4572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基板：USB給電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モーター：単3電池3本・物理スイッチ</a:t>
            </a:r>
          </a:p>
        </p:txBody>
      </p:sp>
    </p:spTree>
    <p:extLst>
      <p:ext uri="{BB962C8B-B14F-4D97-AF65-F5344CB8AC3E}">
        <p14:creationId xmlns:p14="http://schemas.microsoft.com/office/powerpoint/2010/main" val="5706721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ソフトウェア構成">
            <a:extLst xmlns:a="http://schemas.openxmlformats.org/drawingml/2006/main">
              <a:ext uri="{FF2B5EF4-FFF2-40B4-BE49-F238E27FC236}">
                <a16:creationId xmlns:a16="http://schemas.microsoft.com/office/drawing/2014/main" id="{2611CD16-0E80-4A2C-82FB-E85E2830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ソフトウェア構成</a:t>
            </a:r>
          </a:p>
        </p:txBody>
      </p:sp>
      <p:sp>
        <p:nvSpPr>
          <p:cNvPr id="2" name="白い走行路の画像処理と、AIによる人物・車の検知を分ける。">
            <a:extLst xmlns:a="http://schemas.openxmlformats.org/drawingml/2006/main">
              <a:ext uri="{FF2B5EF4-FFF2-40B4-BE49-F238E27FC236}">
                <a16:creationId xmlns:a16="http://schemas.microsoft.com/office/drawing/2014/main" id="{4630CA30-4420-4AD0-A773-E27CF79E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白い走行路の画像処理と、AIによる人物・車の検知を分ける。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501D3928-8B8E-4A37-B8BB-C36C0847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  <p:sp>
        <p:nvSpPr>
          <p:cNvPr id="4" name="カメラ画像">
            <a:extLst xmlns:a="http://schemas.openxmlformats.org/drawingml/2006/main">
              <a:ext uri="{FF2B5EF4-FFF2-40B4-BE49-F238E27FC236}">
                <a16:creationId xmlns:a16="http://schemas.microsoft.com/office/drawing/2014/main" id="{43C2170F-2FD1-4D28-A96E-EC87D83A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0383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A7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カメラ画像</a:t>
            </a:r>
          </a:p>
        </p:txBody>
      </p:sp>
      <p:sp>
        <p:nvSpPr>
          <p:cNvPr id="5" name="白い走行路を認識&#10;境界・進路を抽出">
            <a:extLst xmlns:a="http://schemas.openxmlformats.org/drawingml/2006/main">
              <a:ext uri="{FF2B5EF4-FFF2-40B4-BE49-F238E27FC236}">
                <a16:creationId xmlns:a16="http://schemas.microsoft.com/office/drawing/2014/main" id="{AA1892C5-7F98-49ED-9859-5C6CFD35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19300"/>
            <a:ext cx="2819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A7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白い走行路を認識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境界・進路を抽出</a:t>
            </a:r>
          </a:p>
        </p:txBody>
      </p:sp>
      <p:sp>
        <p:nvSpPr>
          <p:cNvPr id="6" name="NPUで物体検知&#10;YOLO-Fastest">
            <a:extLst xmlns:a="http://schemas.openxmlformats.org/drawingml/2006/main">
              <a:ext uri="{FF2B5EF4-FFF2-40B4-BE49-F238E27FC236}">
                <a16:creationId xmlns:a16="http://schemas.microsoft.com/office/drawing/2014/main" id="{19E0735D-C799-4B25-8D9E-1924A11E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57650"/>
            <a:ext cx="2819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A7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NPUで物体検知</a:t>
            </a:r>
          </a:p>
          <a:p xmlns:a="http://schemas.openxmlformats.org/drawingml/2006/main">
            <a:pPr algn="ctr">
              <a:buNone/>
              <a:def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0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YOLO-Fastest v1.1</a:t>
            </a:r>
          </a:p>
        </p:txBody>
      </p:sp>
      <p:sp>
        <p:nvSpPr>
          <p:cNvPr id="7" name="M33&#10;モード管理・左右出力">
            <a:extLst xmlns:a="http://schemas.openxmlformats.org/drawingml/2006/main">
              <a:ext uri="{FF2B5EF4-FFF2-40B4-BE49-F238E27FC236}">
                <a16:creationId xmlns:a16="http://schemas.microsoft.com/office/drawing/2014/main" id="{64F8178D-C627-4949-B5BF-02438BF1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3371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F83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M33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モード管理・左右出力</a:t>
            </a:r>
          </a:p>
        </p:txBody>
      </p:sp>
      <p:sp>
        <p:nvSpPr>
          <p:cNvPr id="8" name="Web UI&#10;警告・ログ・映像">
            <a:extLst xmlns:a="http://schemas.openxmlformats.org/drawingml/2006/main">
              <a:ext uri="{FF2B5EF4-FFF2-40B4-BE49-F238E27FC236}">
                <a16:creationId xmlns:a16="http://schemas.microsoft.com/office/drawing/2014/main" id="{51B58AEF-0EE7-4BBC-A2F5-415321A0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57650"/>
            <a:ext cx="3371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A7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Web UI</a:t>
            </a:r>
          </a:p>
          <a:p xmlns:a="http://schemas.openxmlformats.org/drawingml/2006/main">
            <a:pPr algn="ctr">
              <a:buNone/>
              <a:def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警告・ログ・映像</a:t>
            </a:r>
          </a:p>
        </p:txBody>
      </p:sp>
      <p:cxnSp>
        <p:nvCxnSpPr>
          <p:cNvPr id="9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647950" y="2505075"/>
            <a:ext cx="1133475" cy="585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45BA7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47950" y="3090863"/>
            <a:ext cx="1133475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45BA7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600825" y="2505075"/>
            <a:ext cx="16097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A7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00825" y="4543425"/>
            <a:ext cx="16097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A7"/>
            </a:solidFill>
            <a:prstDash val="solid"/>
            <a:tailEnd type="triangle" w="sm" len="sm"/>
          </a:ln>
        </p:spPr>
      </p:cxnSp>
      <p:sp>
        <p:nvSpPr>
          <p:cNvPr id="13" name="進路・鮮度">
            <a:extLst xmlns:a="http://schemas.openxmlformats.org/drawingml/2006/main">
              <a:ext uri="{FF2B5EF4-FFF2-40B4-BE49-F238E27FC236}">
                <a16:creationId xmlns:a16="http://schemas.microsoft.com/office/drawing/2014/main" id="{51B354E7-6273-439D-B330-6FDC9367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1400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進路・鮮度</a:t>
            </a:r>
          </a:p>
        </p:txBody>
      </p:sp>
      <p:sp>
        <p:nvSpPr>
          <p:cNvPr id="14" name="検知結果">
            <a:extLst xmlns:a="http://schemas.openxmlformats.org/drawingml/2006/main">
              <a:ext uri="{FF2B5EF4-FFF2-40B4-BE49-F238E27FC236}">
                <a16:creationId xmlns:a16="http://schemas.microsoft.com/office/drawing/2014/main" id="{5C914C63-9E27-4810-9EDF-FBC14410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29100"/>
            <a:ext cx="1400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検知結果</a:t>
            </a:r>
          </a:p>
        </p:txBody>
      </p:sp>
      <p:sp>
        <p:nvSpPr>
          <p:cNvPr id="15" name="人物・車を検知：手動切り替えを推奨。検知だけでモードは変えない。">
            <a:extLst xmlns:a="http://schemas.openxmlformats.org/drawingml/2006/main">
              <a:ext uri="{FF2B5EF4-FFF2-40B4-BE49-F238E27FC236}">
                <a16:creationId xmlns:a16="http://schemas.microsoft.com/office/drawing/2014/main" id="{80857C70-05F5-4B8C-B686-6CAD6585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人物・車を検知：手動切り替えを推奨。検知だけでモードは変えない。</a:t>
            </a:r>
          </a:p>
        </p:txBody>
      </p:sp>
      <p:sp>
        <p:nvSpPr>
          <p:cNvPr id="16" name="前方距離が300 mm以内なら距離も表示。映像配信は制御より低優先のベ">
            <a:extLst xmlns:a="http://schemas.openxmlformats.org/drawingml/2006/main">
              <a:ext uri="{FF2B5EF4-FFF2-40B4-BE49-F238E27FC236}">
                <a16:creationId xmlns:a16="http://schemas.microsoft.com/office/drawing/2014/main" id="{305D7071-9328-43EF-9718-06F02191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前方300 mm以内ならToFの測定値も表示。画像内の人・車までの距離とは限らない。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映像配信は制御より低優先のベストエフォート。</a:t>
            </a:r>
          </a:p>
        </p:txBody>
      </p:sp>
    </p:spTree>
    <p:extLst>
      <p:ext uri="{BB962C8B-B14F-4D97-AF65-F5344CB8AC3E}">
        <p14:creationId xmlns:p14="http://schemas.microsoft.com/office/powerpoint/2010/main" val="15779603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μT-Kernelの役割">
            <a:extLst xmlns:a="http://schemas.openxmlformats.org/drawingml/2006/main">
              <a:ext uri="{FF2B5EF4-FFF2-40B4-BE49-F238E27FC236}">
                <a16:creationId xmlns:a16="http://schemas.microsoft.com/office/drawing/2014/main" id="{5C7404F1-19CF-4375-A08E-7DD74A11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μT-Kernelの役割</a:t>
            </a:r>
          </a:p>
        </p:txBody>
      </p:sp>
      <p:sp>
        <p:nvSpPr>
          <p:cNvPr id="2" name="処理をタスクに分け、停止要求を走行指令より優先する。">
            <a:extLst xmlns:a="http://schemas.openxmlformats.org/drawingml/2006/main">
              <a:ext uri="{FF2B5EF4-FFF2-40B4-BE49-F238E27FC236}">
                <a16:creationId xmlns:a16="http://schemas.microsoft.com/office/drawing/2014/main" id="{9DB98C94-BF97-42FA-A1E0-22797A14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処理をタスクに分け、停止要求を走行指令より優先する。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47178A8E-90E7-4BF5-A469-5B7CB3DD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  <p:sp>
        <p:nvSpPr>
          <p:cNvPr id="4" name="M33：停止を優先するタスク構成">
            <a:extLst xmlns:a="http://schemas.openxmlformats.org/drawingml/2006/main">
              <a:ext uri="{FF2B5EF4-FFF2-40B4-BE49-F238E27FC236}">
                <a16:creationId xmlns:a16="http://schemas.microsoft.com/office/drawing/2014/main" id="{81C0F0BD-1A95-486B-A0B9-32930200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M33：停止を優先するタスク構成</a:t>
            </a:r>
          </a:p>
        </p:txBody>
      </p:sp>
      <p:sp>
        <p:nvSpPr>
          <p:cNvPr id="5" name="優先度1">
            <a:extLst xmlns:a="http://schemas.openxmlformats.org/drawingml/2006/main">
              <a:ext uri="{FF2B5EF4-FFF2-40B4-BE49-F238E27FC236}">
                <a16:creationId xmlns:a16="http://schemas.microsoft.com/office/drawing/2014/main" id="{0E438241-A9B1-498C-9E9B-F47A4DD9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優先度1</a:t>
            </a:r>
          </a:p>
        </p:txBody>
      </p:sp>
      <p:sp>
        <p:nvSpPr>
          <p:cNvPr id="6" name="緊急停止・監視">
            <a:extLst xmlns:a="http://schemas.openxmlformats.org/drawingml/2006/main">
              <a:ext uri="{FF2B5EF4-FFF2-40B4-BE49-F238E27FC236}">
                <a16:creationId xmlns:a16="http://schemas.microsoft.com/office/drawing/2014/main" id="{A9D2186C-E212-43F1-A65A-229DE4AE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64795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緊急停止・監視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E836B734-DECD-4A3E-B80B-C9BFA04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28975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8" name="モーター出力">
            <a:extLst xmlns:a="http://schemas.openxmlformats.org/drawingml/2006/main">
              <a:ext uri="{FF2B5EF4-FFF2-40B4-BE49-F238E27FC236}">
                <a16:creationId xmlns:a16="http://schemas.microsoft.com/office/drawing/2014/main" id="{719702A7-D243-4530-AABF-94BBF02A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2289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モーター出力</a:t>
            </a:r>
          </a:p>
        </p:txBody>
      </p:sp>
      <p:sp>
        <p:nvSpPr>
          <p:cNvPr id="9" name="3">
            <a:extLst xmlns:a="http://schemas.openxmlformats.org/drawingml/2006/main">
              <a:ext uri="{FF2B5EF4-FFF2-40B4-BE49-F238E27FC236}">
                <a16:creationId xmlns:a16="http://schemas.microsoft.com/office/drawing/2014/main" id="{4A91C5A8-9E87-498D-81B9-32D5AF44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0" name="距離センサ">
            <a:extLst xmlns:a="http://schemas.openxmlformats.org/drawingml/2006/main">
              <a:ext uri="{FF2B5EF4-FFF2-40B4-BE49-F238E27FC236}">
                <a16:creationId xmlns:a16="http://schemas.microsoft.com/office/drawing/2014/main" id="{381BCB97-AB41-4135-B152-08F58ED1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81000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距離センサ</a:t>
            </a:r>
          </a:p>
        </p:txBody>
      </p:sp>
      <p:sp>
        <p:nvSpPr>
          <p:cNvPr id="11" name="4">
            <a:extLst xmlns:a="http://schemas.openxmlformats.org/drawingml/2006/main">
              <a:ext uri="{FF2B5EF4-FFF2-40B4-BE49-F238E27FC236}">
                <a16:creationId xmlns:a16="http://schemas.microsoft.com/office/drawing/2014/main" id="{692619A5-20E1-4D4B-AA59-2C69B67D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12" name="走行判断">
            <a:extLst xmlns:a="http://schemas.openxmlformats.org/drawingml/2006/main">
              <a:ext uri="{FF2B5EF4-FFF2-40B4-BE49-F238E27FC236}">
                <a16:creationId xmlns:a16="http://schemas.microsoft.com/office/drawing/2014/main" id="{BCAEE340-418C-4485-B2C0-6E646B6F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9102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走行判断</a:t>
            </a:r>
          </a:p>
        </p:txBody>
      </p:sp>
      <p:sp>
        <p:nvSpPr>
          <p:cNvPr id="13" name="5 / 6 / 7">
            <a:extLst xmlns:a="http://schemas.openxmlformats.org/drawingml/2006/main">
              <a:ext uri="{FF2B5EF4-FFF2-40B4-BE49-F238E27FC236}">
                <a16:creationId xmlns:a16="http://schemas.microsoft.com/office/drawing/2014/main" id="{CC5303BC-F65A-467F-9E20-5FFCC961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5 / 6 / 7</a:t>
            </a:r>
          </a:p>
        </p:txBody>
      </p:sp>
      <p:sp>
        <p:nvSpPr>
          <p:cNvPr id="14" name="Web・認識・状態送信">
            <a:extLst xmlns:a="http://schemas.openxmlformats.org/drawingml/2006/main">
              <a:ext uri="{FF2B5EF4-FFF2-40B4-BE49-F238E27FC236}">
                <a16:creationId xmlns:a16="http://schemas.microsoft.com/office/drawing/2014/main" id="{26C9DFAB-5082-4085-9301-A649546B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97205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Web・認識・状態送信</a:t>
            </a:r>
          </a:p>
        </p:txBody>
      </p:sp>
      <p:sp>
        <p:nvSpPr>
          <p:cNvPr id="15" name="走行判断・出力：10 ms待機 / 状態送信：50 ms">
            <a:extLst xmlns:a="http://schemas.openxmlformats.org/drawingml/2006/main">
              <a:ext uri="{FF2B5EF4-FFF2-40B4-BE49-F238E27FC236}">
                <a16:creationId xmlns:a16="http://schemas.microsoft.com/office/drawing/2014/main" id="{7355F16B-6E75-4E98-9855-C44CC8D4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681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走行判断・出力：10 ms待機 / 状態送信：50 ms</a:t>
            </a:r>
          </a:p>
        </p:txBody>
      </p:sp>
      <p:sp>
        <p:nvSpPr>
          <p:cNvPr id="16" name="停止条件">
            <a:extLst xmlns:a="http://schemas.openxmlformats.org/drawingml/2006/main">
              <a:ext uri="{FF2B5EF4-FFF2-40B4-BE49-F238E27FC236}">
                <a16:creationId xmlns:a16="http://schemas.microsoft.com/office/drawing/2014/main" id="{1E147F5C-3D86-4217-B32A-556D0AB4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716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停止条件</a:t>
            </a:r>
          </a:p>
        </p:txBody>
      </p:sp>
      <p:sp>
        <p:nvSpPr>
          <p:cNvPr id="17" name="前方100 mm以内：通常停止&#10;前方50 mm以内：緊急停止">
            <a:extLst xmlns:a="http://schemas.openxmlformats.org/drawingml/2006/main">
              <a:ext uri="{FF2B5EF4-FFF2-40B4-BE49-F238E27FC236}">
                <a16:creationId xmlns:a16="http://schemas.microsoft.com/office/drawing/2014/main" id="{BCB4FD25-1D75-49D4-A244-917D632A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57475"/>
            <a:ext cx="381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前方100 mm以内：通常停止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前方50 mm以内：緊急停止</a:t>
            </a:r>
          </a:p>
        </p:txBody>
      </p:sp>
      <p:sp>
        <p:nvSpPr>
          <p:cNvPr id="18" name="手動指令の途絶：300 ms&#10;M85のHeartbeat途絶：300 ">
            <a:extLst xmlns:a="http://schemas.openxmlformats.org/drawingml/2006/main">
              <a:ext uri="{FF2B5EF4-FFF2-40B4-BE49-F238E27FC236}">
                <a16:creationId xmlns:a16="http://schemas.microsoft.com/office/drawing/2014/main" id="{C2904E46-3142-410A-A954-4B565FA0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67150"/>
            <a:ext cx="381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手動指令の途絶：300 ms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M85のHeartbeat途絶：300 ms</a:t>
            </a:r>
          </a:p>
        </p:txBody>
      </p:sp>
      <p:sp>
        <p:nvSpPr>
          <p:cNvPr id="19" name="センサ値が無効なら走行を禁止。&#10;停止しても自動で再発進しない。">
            <a:extLst xmlns:a="http://schemas.openxmlformats.org/drawingml/2006/main">
              <a:ext uri="{FF2B5EF4-FFF2-40B4-BE49-F238E27FC236}">
                <a16:creationId xmlns:a16="http://schemas.microsoft.com/office/drawing/2014/main" id="{E7EA6E3F-54D8-4D20-B5A5-71D5A708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00650"/>
            <a:ext cx="381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センサ値が無効なら走行を禁止。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停止後は新たな操作が必要。</a:t>
            </a:r>
          </a:p>
        </p:txBody>
      </p:sp>
      <p:sp>
        <p:nvSpPr>
          <p:cNvPr id="20" name="距離・時間はコードの設定値。停止距離や安全性能の保証値ではない。">
            <a:extLst xmlns:a="http://schemas.openxmlformats.org/drawingml/2006/main">
              <a:ext uri="{FF2B5EF4-FFF2-40B4-BE49-F238E27FC236}">
                <a16:creationId xmlns:a16="http://schemas.microsoft.com/office/drawing/2014/main" id="{F320BBA8-A215-4D86-8C73-8F39889A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30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10 msは待機設定で、実測周期ではない。距離の設定値も停止距離・安全性能の保証ではない。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827927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RON × AIとしての特徴">
            <a:extLst xmlns:a="http://schemas.openxmlformats.org/drawingml/2006/main">
              <a:ext uri="{FF2B5EF4-FFF2-40B4-BE49-F238E27FC236}">
                <a16:creationId xmlns:a16="http://schemas.microsoft.com/office/drawing/2014/main" id="{B2DB4B3B-287F-4315-9D71-46CF155F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TRON × AIとしての特徴</a:t>
            </a:r>
          </a:p>
        </p:txBody>
      </p:sp>
      <p:sp>
        <p:nvSpPr>
          <p:cNvPr id="2" name="車載AIの認識結果を、RTOSの制御と人の判断につなぐ。">
            <a:extLst xmlns:a="http://schemas.openxmlformats.org/drawingml/2006/main">
              <a:ext uri="{FF2B5EF4-FFF2-40B4-BE49-F238E27FC236}">
                <a16:creationId xmlns:a16="http://schemas.microsoft.com/office/drawing/2014/main" id="{4F9D83CF-0CA3-4629-B752-3431FE41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車載AIの認識結果を、RTOSの制御と人の判断につなぐ。</a:t>
            </a:r>
          </a:p>
        </p:txBody>
      </p:sp>
      <p:sp>
        <p:nvSpPr>
          <p:cNvPr id="3" name="車載NPUでAI認識">
            <a:extLst xmlns:a="http://schemas.openxmlformats.org/drawingml/2006/main">
              <a:ext uri="{FF2B5EF4-FFF2-40B4-BE49-F238E27FC236}">
                <a16:creationId xmlns:a16="http://schemas.microsoft.com/office/drawing/2014/main" id="{30C4D28F-0703-4B39-9D81-09D59E67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車載NPUでAI認識</a:t>
            </a:r>
          </a:p>
        </p:txBody>
      </p:sp>
      <p:sp>
        <p:nvSpPr>
          <p:cNvPr id="4" name="M85のNPUで人物・車を検知し、M33が距離監視と出力判断を担当。&#10;両コアでμ">
            <a:extLst xmlns:a="http://schemas.openxmlformats.org/drawingml/2006/main">
              <a:ext uri="{FF2B5EF4-FFF2-40B4-BE49-F238E27FC236}">
                <a16:creationId xmlns:a16="http://schemas.microsoft.com/office/drawing/2014/main" id="{54454833-2CFB-49D2-9D2D-FA962C2B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9550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M85のNPUで人物・車を検知し、M33が距離監視と出力判断を担当。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両コアでμT-Kernel 3.0を動かす。コア間は共有RAMと、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アクセスを調整するハードウェアセマフォ（HSEM）でつなぐ。</a:t>
            </a:r>
          </a:p>
        </p:txBody>
      </p:sp>
      <p:sp>
        <p:nvSpPr>
          <p:cNvPr id="5" name="停止処理を優先">
            <a:extLst xmlns:a="http://schemas.openxmlformats.org/drawingml/2006/main">
              <a:ext uri="{FF2B5EF4-FFF2-40B4-BE49-F238E27FC236}">
                <a16:creationId xmlns:a16="http://schemas.microsoft.com/office/drawing/2014/main" id="{F2847C61-76CB-4A8F-B788-FCC6A554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停止処理を優先</a:t>
            </a:r>
          </a:p>
        </p:txBody>
      </p:sp>
      <p:sp>
        <p:nvSpPr>
          <p:cNvPr id="6" name="イベントフラグで停止を通知し、走行指令キューを待たずに処理。&#10;指令の受け渡しには">
            <a:extLst xmlns:a="http://schemas.openxmlformats.org/drawingml/2006/main">
              <a:ext uri="{FF2B5EF4-FFF2-40B4-BE49-F238E27FC236}">
                <a16:creationId xmlns:a16="http://schemas.microsoft.com/office/drawing/2014/main" id="{27AC6C58-940B-48C3-B22D-80B65EB7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76625"/>
            <a:ext cx="7524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イベントフラグで停止を通知し、走行指令キューを待たずに処理。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指令の受け渡しにはメッセージバッファを使用。状態を保護する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ミューテックスには優先度継承を使い、優先度逆転を抑える。</a:t>
            </a:r>
          </a:p>
        </p:txBody>
      </p:sp>
      <p:sp>
        <p:nvSpPr>
          <p:cNvPr id="7" name="人への引き継ぎを体験">
            <a:extLst xmlns:a="http://schemas.openxmlformats.org/drawingml/2006/main">
              <a:ext uri="{FF2B5EF4-FFF2-40B4-BE49-F238E27FC236}">
                <a16:creationId xmlns:a16="http://schemas.microsoft.com/office/drawing/2014/main" id="{EC725B38-A6AA-4C47-97F7-7D2C4800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3276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人への引き継ぎを体験</a:t>
            </a:r>
          </a:p>
        </p:txBody>
      </p:sp>
      <p:sp>
        <p:nvSpPr>
          <p:cNvPr id="8" name="走行路を見失うと停止し、TORで手動への引き継ぎを求める。&#10;利用者はWebの停止">
            <a:extLst xmlns:a="http://schemas.openxmlformats.org/drawingml/2006/main">
              <a:ext uri="{FF2B5EF4-FFF2-40B4-BE49-F238E27FC236}">
                <a16:creationId xmlns:a16="http://schemas.microsoft.com/office/drawing/2014/main" id="{7A479AC2-93A0-4544-999D-E47E0DC5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10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走行路を見失うと停止し、TORで手動への引き継ぎを求める。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利用者はWebの停止理由を見て操作を選び、ソースから判断条件も確かめられる。</a:t>
            </a:r>
          </a:p>
        </p:txBody>
      </p:sp>
      <p:sp>
        <p:nvSpPr>
          <p:cNvPr id="9" name="08">
            <a:extLst xmlns:a="http://schemas.openxmlformats.org/drawingml/2006/main">
              <a:ext uri="{FF2B5EF4-FFF2-40B4-BE49-F238E27FC236}">
                <a16:creationId xmlns:a16="http://schemas.microsoft.com/office/drawing/2014/main" id="{BADB84AC-00A0-4658-A45A-F50F8122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6240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デモの手順">
            <a:extLst xmlns:a="http://schemas.openxmlformats.org/drawingml/2006/main">
              <a:ext uri="{FF2B5EF4-FFF2-40B4-BE49-F238E27FC236}">
                <a16:creationId xmlns:a16="http://schemas.microsoft.com/office/drawing/2014/main" id="{84CBA90F-EF07-41FF-BA37-65447C91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審査員向けの再現手順</a:t>
            </a:r>
          </a:p>
        </p:txBody>
      </p:sp>
      <p:sp>
        <p:nvSpPr>
          <p:cNvPr id="2" name="まずモーター系をOFFにして、表示と停止動作を確かめる。">
            <a:extLst xmlns:a="http://schemas.openxmlformats.org/drawingml/2006/main">
              <a:ext uri="{FF2B5EF4-FFF2-40B4-BE49-F238E27FC236}">
                <a16:creationId xmlns:a16="http://schemas.microsoft.com/office/drawing/2014/main" id="{0265679D-DE73-43CF-99EB-7C939265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ボードは書き込み済み。取り付け・接続後にWebから操作する。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81074A8D-5725-4F28-8A57-5A634429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A5D24BD5-AC33-4651-9A28-0BCD337D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5" name="起動・接続">
            <a:extLst xmlns:a="http://schemas.openxmlformats.org/drawingml/2006/main">
              <a:ext uri="{FF2B5EF4-FFF2-40B4-BE49-F238E27FC236}">
                <a16:creationId xmlns:a16="http://schemas.microsoft.com/office/drawing/2014/main" id="{E89FB1FF-3AF7-4029-93C3-C220DFA0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764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カメラ・ボードの取り付け</a:t>
            </a:r>
          </a:p>
        </p:txBody>
      </p:sp>
      <p:sp>
        <p:nvSpPr>
          <p:cNvPr id="6" name="LANをつなぎ、同じWi-FiからWebを開く。">
            <a:extLst xmlns:a="http://schemas.openxmlformats.org/drawingml/2006/main">
              <a:ext uri="{FF2B5EF4-FFF2-40B4-BE49-F238E27FC236}">
                <a16:creationId xmlns:a16="http://schemas.microsoft.com/office/drawing/2014/main" id="{495FF831-D679-4FCB-B42B-B77B6061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05025"/>
            <a:ext cx="5238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前側のフレームにボードを固定する。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96C2E1C7-C40A-4A8F-9780-BBA81374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8" name="モーター系OFFで確認">
            <a:extLst xmlns:a="http://schemas.openxmlformats.org/drawingml/2006/main">
              <a:ext uri="{FF2B5EF4-FFF2-40B4-BE49-F238E27FC236}">
                <a16:creationId xmlns:a16="http://schemas.microsoft.com/office/drawing/2014/main" id="{AE6A85B8-2757-47D8-A5C7-9CA27BBE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289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センサ・ドライバの配線</a:t>
            </a:r>
          </a:p>
        </p:txBody>
      </p:sp>
      <p:sp>
        <p:nvSpPr>
          <p:cNvPr id="9" name="距離・映像・モード・停止理由を見る。">
            <a:extLst xmlns:a="http://schemas.openxmlformats.org/drawingml/2006/main">
              <a:ext uri="{FF2B5EF4-FFF2-40B4-BE49-F238E27FC236}">
                <a16:creationId xmlns:a16="http://schemas.microsoft.com/office/drawing/2014/main" id="{748703F1-07D2-441D-B082-76F532F3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38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線の色とピン番号を接続表で確認する。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00038B4C-CE6B-4656-BFBE-5EDB404C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1" name="車輪を浮かせて駆動確認">
            <a:extLst xmlns:a="http://schemas.openxmlformats.org/drawingml/2006/main">
              <a:ext uri="{FF2B5EF4-FFF2-40B4-BE49-F238E27FC236}">
                <a16:creationId xmlns:a16="http://schemas.microsoft.com/office/drawing/2014/main" id="{2AB25224-FF84-4438-AE8F-A4B61F51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814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ケーブル接続・機器の固定</a:t>
            </a:r>
          </a:p>
        </p:txBody>
      </p:sp>
      <p:sp>
        <p:nvSpPr>
          <p:cNvPr id="12" name="電源をONにし、MANUALの押す・離すを試す。">
            <a:extLst xmlns:a="http://schemas.openxmlformats.org/drawingml/2006/main">
              <a:ext uri="{FF2B5EF4-FFF2-40B4-BE49-F238E27FC236}">
                <a16:creationId xmlns:a16="http://schemas.microsoft.com/office/drawing/2014/main" id="{581C25F3-6819-4E5D-90F1-F09B0DE4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9975"/>
            <a:ext cx="5238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LAN・USBをつなぎ、テープで固定する。</a:t>
            </a:r>
          </a:p>
        </p:txBody>
      </p:sp>
      <p:sp>
        <p:nvSpPr>
          <p:cNvPr id="13" name="4">
            <a:extLst xmlns:a="http://schemas.openxmlformats.org/drawingml/2006/main">
              <a:ext uri="{FF2B5EF4-FFF2-40B4-BE49-F238E27FC236}">
                <a16:creationId xmlns:a16="http://schemas.microsoft.com/office/drawing/2014/main" id="{01B569A3-21B4-435C-B863-2C64FD02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14" name="白いコースでAUTO">
            <a:extLst xmlns:a="http://schemas.openxmlformats.org/drawingml/2006/main">
              <a:ext uri="{FF2B5EF4-FFF2-40B4-BE49-F238E27FC236}">
                <a16:creationId xmlns:a16="http://schemas.microsoft.com/office/drawing/2014/main" id="{36A4B9B3-1AB0-42F2-846E-7B8686DB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338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起動・Web表示の確認</a:t>
            </a:r>
          </a:p>
        </p:txBody>
      </p:sp>
      <p:sp>
        <p:nvSpPr>
          <p:cNvPr id="15" name="走行路喪失のTOR、手動引き継ぎを体験する。">
            <a:extLst xmlns:a="http://schemas.openxmlformats.org/drawingml/2006/main">
              <a:ext uri="{FF2B5EF4-FFF2-40B4-BE49-F238E27FC236}">
                <a16:creationId xmlns:a16="http://schemas.microsoft.com/office/drawing/2014/main" id="{59A83810-8C26-4693-93DF-69DB5694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62450"/>
            <a:ext cx="5238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ボードをリセットし、Wi-FiからWebを開く。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F3A75B4D-27A3-4987-9DD3-826A545D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17" name="警告と距離停止">
            <a:extLst xmlns:a="http://schemas.openxmlformats.org/drawingml/2006/main">
              <a:ext uri="{FF2B5EF4-FFF2-40B4-BE49-F238E27FC236}">
                <a16:creationId xmlns:a16="http://schemas.microsoft.com/office/drawing/2014/main" id="{E480311B-A124-4CF9-9E8B-0252BEA0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863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MANUAL・AUTO・停止の確認</a:t>
            </a:r>
          </a:p>
        </p:txBody>
      </p:sp>
      <p:sp>
        <p:nvSpPr>
          <p:cNvPr id="18" name="人物・車の写真で警告。箱で距離停止を確認。">
            <a:extLst xmlns:a="http://schemas.openxmlformats.org/drawingml/2006/main">
              <a:ext uri="{FF2B5EF4-FFF2-40B4-BE49-F238E27FC236}">
                <a16:creationId xmlns:a16="http://schemas.microsoft.com/office/drawing/2014/main" id="{3CC87909-9054-4533-BA8C-8A409F5C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14925"/>
            <a:ext cx="5238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車輪を浮かせた確認後に、床上で試す。</a:t>
            </a:r>
          </a:p>
        </p:txBody>
      </p:sp>
      <p:sp>
        <p:nvSpPr>
          <p:cNvPr id="19" name="Web：http://192.168.2.200/　　終了時はモーター">
            <a:extLst xmlns:a="http://schemas.openxmlformats.org/drawingml/2006/main">
              <a:ext uri="{FF2B5EF4-FFF2-40B4-BE49-F238E27FC236}">
                <a16:creationId xmlns:a16="http://schemas.microsoft.com/office/drawing/2014/main" id="{B9EFE461-1AA0-45D8-B45E-A9A104EB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組み立て・配線中は給電を止め、モーター用電池ボックスのスイッチをOFF。</a:t>
            </a:r>
          </a:p>
        </p:txBody>
      </p:sp>
    </p:spTree>
    <p:extLst>
      <p:ext uri="{BB962C8B-B14F-4D97-AF65-F5344CB8AC3E}">
        <p14:creationId xmlns:p14="http://schemas.microsoft.com/office/powerpoint/2010/main" val="21270103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1. カメラとボードの取り付け">
            <a:extLst xmlns:a="http://schemas.openxmlformats.org/drawingml/2006/main">
              <a:ext uri="{FF2B5EF4-FFF2-40B4-BE49-F238E27FC236}">
                <a16:creationId xmlns:a16="http://schemas.microsoft.com/office/drawing/2014/main" id="{DFEE6730-D029-4DE2-A451-340DD399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1. カメラとボードの取り付け</a:t>
            </a:r>
          </a:p>
        </p:txBody>
      </p:sp>
      <p:sp>
        <p:nvSpPr>
          <p:cNvPr id="2" name="カメラを付けたボードを、車体前側の斜めフレームに固定する。">
            <a:extLst xmlns:a="http://schemas.openxmlformats.org/drawingml/2006/main">
              <a:ext uri="{FF2B5EF4-FFF2-40B4-BE49-F238E27FC236}">
                <a16:creationId xmlns:a16="http://schemas.microsoft.com/office/drawing/2014/main" id="{73B67775-841C-45B4-B6E0-3A331F56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カメラを付けたボードを、車体前側の斜めフレームに固定する。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6449b705042d7"/>
          <a:stretch xmlns:a="http://schemas.openxmlformats.org/drawingml/2006/main"/>
        </p:blipFill>
        <p:spPr>
          <a:xfrm xmlns:a="http://schemas.openxmlformats.org/drawingml/2006/main">
            <a:off x="1025525" y="1933575"/>
            <a:ext cx="4292600" cy="32194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5920493e34562"/>
          <a:stretch xmlns:a="http://schemas.openxmlformats.org/drawingml/2006/main"/>
        </p:blipFill>
        <p:spPr>
          <a:xfrm xmlns:a="http://schemas.openxmlformats.org/drawingml/2006/main">
            <a:off x="6721475" y="1933575"/>
            <a:ext cx="4292600" cy="3219450"/>
          </a:xfrm>
          <a:prstGeom xmlns:a="http://schemas.openxmlformats.org/drawingml/2006/main" prst="rect">
            <a:avLst/>
          </a:prstGeom>
        </p:spPr>
      </p:pic>
      <p:sp>
        <p:nvSpPr>
          <p:cNvPr id="5" name="OV5640をMIPI CSIコネクタに接続。&#10;写真と同じ上下の向きで取り付ける">
            <a:extLst xmlns:a="http://schemas.openxmlformats.org/drawingml/2006/main">
              <a:ext uri="{FF2B5EF4-FFF2-40B4-BE49-F238E27FC236}">
                <a16:creationId xmlns:a16="http://schemas.microsoft.com/office/drawing/2014/main" id="{92D9FA19-9571-4BEA-B016-36D90E7C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5238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OV5640をMIPI CSIコネクタに接続し、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ロックを閉じる。上下は写真に合わせる。</a:t>
            </a:r>
          </a:p>
        </p:txBody>
      </p:sp>
      <p:sp>
        <p:nvSpPr>
          <p:cNvPr id="6" name="前側のフレームを斜めにしてねじ止め。&#10;ボードはスペーサーを介して固定する。">
            <a:extLst xmlns:a="http://schemas.openxmlformats.org/drawingml/2006/main">
              <a:ext uri="{FF2B5EF4-FFF2-40B4-BE49-F238E27FC236}">
                <a16:creationId xmlns:a16="http://schemas.microsoft.com/office/drawing/2014/main" id="{93076EFF-81EC-492A-8BDD-8B918AB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67325"/>
            <a:ext cx="5429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前側のフレームを斜めにしてねじ止め。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ボードはスペーサーを介して固定する。</a:t>
            </a:r>
          </a:p>
        </p:txBody>
      </p:sp>
      <p:sp>
        <p:nvSpPr>
          <p:cNvPr id="7" name="USB給電は止めたまま。ケーブルは車輪から離し、基板に無理な力をかけない。">
            <a:extLst xmlns:a="http://schemas.openxmlformats.org/drawingml/2006/main">
              <a:ext uri="{FF2B5EF4-FFF2-40B4-BE49-F238E27FC236}">
                <a16:creationId xmlns:a16="http://schemas.microsoft.com/office/drawing/2014/main" id="{5A0D42E9-90AA-4FE2-B70F-E8106F2F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取り付け中は給電OFF。写真の上下に合わせると、プログラムが画像を180度回転して表示する。</a:t>
            </a:r>
          </a:p>
        </p:txBody>
      </p:sp>
      <p:sp>
        <p:nvSpPr>
          <p:cNvPr id="8" name="09">
            <a:extLst xmlns:a="http://schemas.openxmlformats.org/drawingml/2006/main">
              <a:ext uri="{FF2B5EF4-FFF2-40B4-BE49-F238E27FC236}">
                <a16:creationId xmlns:a16="http://schemas.microsoft.com/office/drawing/2014/main" id="{47684DB8-78F9-4D76-B613-A522B516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22347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2. モータードライバの接続">
            <a:extLst xmlns:a="http://schemas.openxmlformats.org/drawingml/2006/main">
              <a:ext uri="{FF2B5EF4-FFF2-40B4-BE49-F238E27FC236}">
                <a16:creationId xmlns:a16="http://schemas.microsoft.com/office/drawing/2014/main" id="{975AB959-85E6-4A24-86DD-FBD8F640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2. モータードライバの接続</a:t>
            </a:r>
          </a:p>
        </p:txBody>
      </p:sp>
      <p:sp>
        <p:nvSpPr>
          <p:cNvPr id="2" name="5本の線を、PMOD1（J26）の下段側へつなぐ。">
            <a:extLst xmlns:a="http://schemas.openxmlformats.org/drawingml/2006/main">
              <a:ext uri="{FF2B5EF4-FFF2-40B4-BE49-F238E27FC236}">
                <a16:creationId xmlns:a16="http://schemas.microsoft.com/office/drawing/2014/main" id="{218AE2AC-D26C-4B9E-902E-93099DA8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5本の線を、PMOD1（J26）の下段側へつなぐ。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21a5c6a80463e"/>
          <a:stretch xmlns:a="http://schemas.openxmlformats.org/drawingml/2006/main"/>
        </p:blipFill>
        <p:spPr>
          <a:xfrm xmlns:a="http://schemas.openxmlformats.org/drawingml/2006/main">
            <a:off x="759619" y="1943100"/>
            <a:ext cx="2986088" cy="39814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"/>
          <p:cNvGraphicFramePr/>
          <p:nvPr/>
        </p:nvGraphicFramePr>
        <p:xfrm>
          <a:off xmlns:a="http://schemas.openxmlformats.org/drawingml/2006/main" x="4314825" y="2124075"/>
          <a:ext xmlns:a="http://schemas.openxmlformats.org/drawingml/2006/main" cx="7267575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2143125"/>
                <a:gridCol w="3867150"/>
              </a:tblGrid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線の色</a:t>
                      </a:r>
                    </a:p>
                  </a:txBody>
                  <a:tcPr marL="91440" marR="91440" marT="45720" marB="45720" anchor="ctr">
                    <a:solidFill>
                      <a:srgbClr val="245BA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DRV8833</a:t>
                      </a:r>
                    </a:p>
                  </a:txBody>
                  <a:tcPr marL="91440" marR="91440" marT="45720" marB="45720" anchor="ctr">
                    <a:solidFill>
                      <a:srgbClr val="245BA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EK-RA8P1</a:t>
                      </a:r>
                    </a:p>
                  </a:txBody>
                  <a:tcPr marL="91440" marR="91440" marT="45720" marB="45720" anchor="ctr">
                    <a:solidFill>
                      <a:srgbClr val="245BA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AIN1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J26-7（P006）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橙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AIN2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J26-8（P402）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BIN1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J26-9（P412）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黄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BIN2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J26-10（P413）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J26-11（GND）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MOD2と取り違えず、J26のピン番号を確認する。">
            <a:extLst xmlns:a="http://schemas.openxmlformats.org/drawingml/2006/main">
              <a:ext uri="{FF2B5EF4-FFF2-40B4-BE49-F238E27FC236}">
                <a16:creationId xmlns:a16="http://schemas.microsoft.com/office/drawing/2014/main" id="{2817CBFE-EC68-4EA9-BD65-FA245B33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19750"/>
            <a:ext cx="726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PMOD2と取り違えず、J26のピン番号を確認する。</a:t>
            </a:r>
          </a:p>
        </p:txBody>
      </p:sp>
      <p:sp>
        <p:nvSpPr>
          <p:cNvPr id="6" name="モーター・電池側のはんだ付け済み配線はそのまま使用する。">
            <a:extLst xmlns:a="http://schemas.openxmlformats.org/drawingml/2006/main">
              <a:ext uri="{FF2B5EF4-FFF2-40B4-BE49-F238E27FC236}">
                <a16:creationId xmlns:a16="http://schemas.microsoft.com/office/drawing/2014/main" id="{07A77622-EC50-4B21-AF6C-9F72B6A0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J26-12にはつながない。モーター・電池側のはんだ付け済み配線はそのまま使用する。</a:t>
            </a:r>
          </a:p>
        </p:txBody>
      </p:sp>
      <p:sp>
        <p:nvSpPr>
          <p:cNvPr id="7" name="10">
            <a:extLst xmlns:a="http://schemas.openxmlformats.org/drawingml/2006/main">
              <a:ext uri="{FF2B5EF4-FFF2-40B4-BE49-F238E27FC236}">
                <a16:creationId xmlns:a16="http://schemas.microsoft.com/office/drawing/2014/main" id="{A3E38FDD-5570-4632-BDEE-7BB39C90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67969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3. 距離センサの接続">
            <a:extLst xmlns:a="http://schemas.openxmlformats.org/drawingml/2006/main">
              <a:ext uri="{FF2B5EF4-FFF2-40B4-BE49-F238E27FC236}">
                <a16:creationId xmlns:a16="http://schemas.microsoft.com/office/drawing/2014/main" id="{88455A59-5ADE-46C8-B3A9-56267EBC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3. 距離センサの接続</a:t>
            </a:r>
          </a:p>
        </p:txBody>
      </p:sp>
      <p:sp>
        <p:nvSpPr>
          <p:cNvPr id="2" name="ToF4Mの4本を、5V・GND・SDA・SCLへつなぐ。">
            <a:extLst xmlns:a="http://schemas.openxmlformats.org/drawingml/2006/main">
              <a:ext uri="{FF2B5EF4-FFF2-40B4-BE49-F238E27FC236}">
                <a16:creationId xmlns:a16="http://schemas.microsoft.com/office/drawing/2014/main" id="{95CAEFCE-B780-423E-9A3B-52AF9090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ToF4Mの4本を、5V・GND・SDA・SCLへつなぐ。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3b4c1e1664b75"/>
          <a:stretch xmlns:a="http://schemas.openxmlformats.org/drawingml/2006/main"/>
        </p:blipFill>
        <p:spPr>
          <a:xfrm xmlns:a="http://schemas.openxmlformats.org/drawingml/2006/main">
            <a:off x="611188" y="2038350"/>
            <a:ext cx="5092700" cy="38195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"/>
          <p:cNvGraphicFramePr/>
          <p:nvPr/>
        </p:nvGraphicFramePr>
        <p:xfrm>
          <a:off xmlns:a="http://schemas.openxmlformats.org/drawingml/2006/main" x="6067425" y="2190750"/>
          <a:ext xmlns:a="http://schemas.openxmlformats.org/drawingml/2006/main" cx="5514975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38225"/>
                <a:gridCol w="1238250"/>
                <a:gridCol w="3238500"/>
              </a:tblGrid>
              <a:tr h="5810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線の色</a:t>
                      </a:r>
                    </a:p>
                  </a:txBody>
                  <a:tcPr marL="91440" marR="91440" marT="45720" marB="45720" anchor="ctr">
                    <a:solidFill>
                      <a:srgbClr val="245BA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センサ側</a:t>
                      </a:r>
                    </a:p>
                  </a:txBody>
                  <a:tcPr marL="91440" marR="91440" marT="45720" marB="45720" anchor="ctr">
                    <a:solidFill>
                      <a:srgbClr val="245BA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EK-RA8P1</a:t>
                      </a:r>
                    </a:p>
                  </a:txBody>
                  <a:tcPr marL="91440" marR="91440" marT="45720" marB="45720" anchor="ctr">
                    <a:solidFill>
                      <a:srgbClr val="245BA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J18-5（5V）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黒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GND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J24-7（GND）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J24-9（P511）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白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SCL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5283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J24-10（P512）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5" name="距離センサを前方へ向け、&#10;窓を配線や車体でふさがない。">
            <a:extLst xmlns:a="http://schemas.openxmlformats.org/drawingml/2006/main">
              <a:ext uri="{FF2B5EF4-FFF2-40B4-BE49-F238E27FC236}">
                <a16:creationId xmlns:a16="http://schemas.microsoft.com/office/drawing/2014/main" id="{681C85B0-17D6-4ED0-B0D7-5663E44D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391150"/>
            <a:ext cx="55149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距離センサを前方へ向け、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窓を配線や車体でふさがない。</a:t>
            </a:r>
          </a:p>
        </p:txBody>
      </p:sp>
      <p:sp>
        <p:nvSpPr>
          <p:cNvPr id="6" name="使用センサ：M5Stack Unit ToF4M（U172）。写真はボード側の接">
            <a:extLst xmlns:a="http://schemas.openxmlformats.org/drawingml/2006/main">
              <a:ext uri="{FF2B5EF4-FFF2-40B4-BE49-F238E27FC236}">
                <a16:creationId xmlns:a16="http://schemas.microsoft.com/office/drawing/2014/main" id="{E181683C-D2F3-4468-BB20-646FB8B8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使用センサ：M5Stack Unit ToF4M（U172）。写真はボード側の接続位置の参考。</a:t>
            </a:r>
          </a:p>
        </p:txBody>
      </p:sp>
      <p:sp>
        <p:nvSpPr>
          <p:cNvPr id="7" name="11">
            <a:extLst xmlns:a="http://schemas.openxmlformats.org/drawingml/2006/main">
              <a:ext uri="{FF2B5EF4-FFF2-40B4-BE49-F238E27FC236}">
                <a16:creationId xmlns:a16="http://schemas.microsoft.com/office/drawing/2014/main" id="{BC2BD248-89AC-41E3-A4A1-8584B2B9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738520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4. ケーブル接続と機器の固定">
            <a:extLst xmlns:a="http://schemas.openxmlformats.org/drawingml/2006/main">
              <a:ext uri="{FF2B5EF4-FFF2-40B4-BE49-F238E27FC236}">
                <a16:creationId xmlns:a16="http://schemas.microsoft.com/office/drawing/2014/main" id="{90BD8D38-0D06-431B-ACC0-B9435B4C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4. ケーブル接続と機器の固定</a:t>
            </a:r>
          </a:p>
        </p:txBody>
      </p:sp>
      <p:sp>
        <p:nvSpPr>
          <p:cNvPr id="2" name="ボードとルーターをLANでつなぎ、USBで給電する。">
            <a:extLst xmlns:a="http://schemas.openxmlformats.org/drawingml/2006/main">
              <a:ext uri="{FF2B5EF4-FFF2-40B4-BE49-F238E27FC236}">
                <a16:creationId xmlns:a16="http://schemas.microsoft.com/office/drawing/2014/main" id="{1D5CE1E2-1791-43FA-873D-572C5391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ボードとルーターをLANでつなぎ、USBで給電する。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a31cecc2d4641"/>
          <a:stretch xmlns:a="http://schemas.openxmlformats.org/drawingml/2006/main"/>
        </p:blipFill>
        <p:spPr>
          <a:xfrm xmlns:a="http://schemas.openxmlformats.org/drawingml/2006/main">
            <a:off x="631825" y="1933575"/>
            <a:ext cx="5384800" cy="4038600"/>
          </a:xfrm>
          <a:prstGeom xmlns:a="http://schemas.openxmlformats.org/drawingml/2006/main" prst="rect">
            <a:avLst/>
          </a:prstGeom>
        </p:spPr>
      </p:pic>
      <p:sp>
        <p:nvSpPr>
          <p:cNvPr id="4" name="LANケーブル">
            <a:extLst xmlns:a="http://schemas.openxmlformats.org/drawingml/2006/main">
              <a:ext uri="{FF2B5EF4-FFF2-40B4-BE49-F238E27FC236}">
                <a16:creationId xmlns:a16="http://schemas.microsoft.com/office/drawing/2014/main" id="{7E7D425B-7CA6-4B11-9B02-2F54A723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4787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LANケーブル</a:t>
            </a:r>
          </a:p>
        </p:txBody>
      </p:sp>
      <p:sp>
        <p:nvSpPr>
          <p:cNvPr id="5" name="ボードのEthernetポートと&#10;ルーターのLANポートを接続。">
            <a:extLst xmlns:a="http://schemas.openxmlformats.org/drawingml/2006/main">
              <a:ext uri="{FF2B5EF4-FFF2-40B4-BE49-F238E27FC236}">
                <a16:creationId xmlns:a16="http://schemas.microsoft.com/office/drawing/2014/main" id="{9046463B-4CD5-4C83-B444-A080BE22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43175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ボードのEthernetポートと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ルーターのLANポートを接続。</a:t>
            </a:r>
          </a:p>
        </p:txBody>
      </p:sp>
      <p:sp>
        <p:nvSpPr>
          <p:cNvPr id="6" name="USB給電ケーブル">
            <a:extLst xmlns:a="http://schemas.openxmlformats.org/drawingml/2006/main">
              <a:ext uri="{FF2B5EF4-FFF2-40B4-BE49-F238E27FC236}">
                <a16:creationId xmlns:a16="http://schemas.microsoft.com/office/drawing/2014/main" id="{F1426D10-7056-4DDD-9B2D-4E803577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USB給電ケーブル</a:t>
            </a:r>
          </a:p>
        </p:txBody>
      </p:sp>
      <p:sp>
        <p:nvSpPr>
          <p:cNvPr id="7" name="モバイルバッテリーからボードの&#10;J-Link OB側USBとルーターへ給電。">
            <a:extLst xmlns:a="http://schemas.openxmlformats.org/drawingml/2006/main">
              <a:ext uri="{FF2B5EF4-FFF2-40B4-BE49-F238E27FC236}">
                <a16:creationId xmlns:a16="http://schemas.microsoft.com/office/drawing/2014/main" id="{B7987B00-77A7-4327-8470-B4B86982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86225"/>
            <a:ext cx="5048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モバイルバッテリーからボードの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J-Link OB側USBとルーターへ給電。</a:t>
            </a:r>
          </a:p>
        </p:txBody>
      </p:sp>
      <p:sp>
        <p:nvSpPr>
          <p:cNvPr id="8" name="固定">
            <a:extLst xmlns:a="http://schemas.openxmlformats.org/drawingml/2006/main">
              <a:ext uri="{FF2B5EF4-FFF2-40B4-BE49-F238E27FC236}">
                <a16:creationId xmlns:a16="http://schemas.microsoft.com/office/drawing/2014/main" id="{5BC4D2D2-A849-4AA1-8F63-9F0F7484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625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固定</a:t>
            </a:r>
          </a:p>
        </p:txBody>
      </p:sp>
      <p:sp>
        <p:nvSpPr>
          <p:cNvPr id="9" name="ルーターとバッテリーを&#10;フレームへテープで固定。">
            <a:extLst xmlns:a="http://schemas.openxmlformats.org/drawingml/2006/main">
              <a:ext uri="{FF2B5EF4-FFF2-40B4-BE49-F238E27FC236}">
                <a16:creationId xmlns:a16="http://schemas.microsoft.com/office/drawing/2014/main" id="{1B5527B5-B1CA-4FCD-9C61-9E575DCC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29275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ルーターとバッテリーを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フレームへテープで固定。</a:t>
            </a:r>
          </a:p>
        </p:txBody>
      </p:sp>
      <p:sp>
        <p:nvSpPr>
          <p:cNvPr id="10" name="12">
            <a:extLst xmlns:a="http://schemas.openxmlformats.org/drawingml/2006/main">
              <a:ext uri="{FF2B5EF4-FFF2-40B4-BE49-F238E27FC236}">
                <a16:creationId xmlns:a16="http://schemas.microsoft.com/office/drawing/2014/main" id="{D8A37B49-D778-446B-B64C-051CD91E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150625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5. 起動とWeb接続">
            <a:extLst xmlns:a="http://schemas.openxmlformats.org/drawingml/2006/main">
              <a:ext uri="{FF2B5EF4-FFF2-40B4-BE49-F238E27FC236}">
                <a16:creationId xmlns:a16="http://schemas.microsoft.com/office/drawing/2014/main" id="{2F4EC9E2-9C9B-4AE3-A110-53346889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5. 起動とWeb接続</a:t>
            </a:r>
          </a:p>
        </p:txBody>
      </p:sp>
      <p:sp>
        <p:nvSpPr>
          <p:cNvPr id="2" name="ルーター起動後、ボードの赤いRESETボタンを押す。">
            <a:extLst xmlns:a="http://schemas.openxmlformats.org/drawingml/2006/main">
              <a:ext uri="{FF2B5EF4-FFF2-40B4-BE49-F238E27FC236}">
                <a16:creationId xmlns:a16="http://schemas.microsoft.com/office/drawing/2014/main" id="{EA264419-243C-45B1-BA3A-5BAAA678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ルーター起動後、ボードの赤いRESETボタンを押す。</a:t>
            </a:r>
          </a:p>
        </p:txBody>
      </p:sp>
      <p:sp>
        <p:nvSpPr>
          <p:cNvPr id="3" name="起動前">
            <a:extLst xmlns:a="http://schemas.openxmlformats.org/drawingml/2006/main">
              <a:ext uri="{FF2B5EF4-FFF2-40B4-BE49-F238E27FC236}">
                <a16:creationId xmlns:a16="http://schemas.microsoft.com/office/drawing/2014/main" id="{0AF631E0-7780-4DB6-B176-8B710694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起動前</a:t>
            </a:r>
          </a:p>
        </p:txBody>
      </p:sp>
      <p:sp>
        <p:nvSpPr>
          <p:cNvPr id="4" name="モーター用電池ボックスのスイッチはOFF。&#10;車輪を浮かせ、LAN・USBを確認す">
            <a:extLst xmlns:a="http://schemas.openxmlformats.org/drawingml/2006/main">
              <a:ext uri="{FF2B5EF4-FFF2-40B4-BE49-F238E27FC236}">
                <a16:creationId xmlns:a16="http://schemas.microsoft.com/office/drawing/2014/main" id="{D9FBBD1C-D919-4A38-B8BF-61B44E14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9531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モーター用電池ボックスのスイッチはOFF。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車輪を浮かせ、LAN・USBを確認する。</a:t>
            </a:r>
          </a:p>
        </p:txBody>
      </p:sp>
      <p:sp>
        <p:nvSpPr>
          <p:cNvPr id="5" name="起動">
            <a:extLst xmlns:a="http://schemas.openxmlformats.org/drawingml/2006/main">
              <a:ext uri="{FF2B5EF4-FFF2-40B4-BE49-F238E27FC236}">
                <a16:creationId xmlns:a16="http://schemas.microsoft.com/office/drawing/2014/main" id="{9B4C8F06-1352-44A5-9835-DF0D484E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245BA7"/>
                </a:solidFill>
                <a:latin typeface="Noto Sans JP"/>
                <a:ea typeface="Noto Sans JP"/>
                <a:cs typeface="Noto Sans JP"/>
              </a:rPr>
              <a:t>起動</a:t>
            </a:r>
          </a:p>
        </p:txBody>
      </p:sp>
      <p:sp>
        <p:nvSpPr>
          <p:cNvPr id="6" name="ルーターを起動してボードに給電。&#10;赤いRESETを1回押し、起動を待つ。">
            <a:extLst xmlns:a="http://schemas.openxmlformats.org/drawingml/2006/main">
              <a:ext uri="{FF2B5EF4-FFF2-40B4-BE49-F238E27FC236}">
                <a16:creationId xmlns:a16="http://schemas.microsoft.com/office/drawing/2014/main" id="{C5AD361D-30D8-4125-BE59-150EF563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59531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ルーターを起動してボードに給電。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赤いRESETを1回押し、起動を待つ。</a:t>
            </a:r>
          </a:p>
        </p:txBody>
      </p:sp>
      <p:sp>
        <p:nvSpPr>
          <p:cNvPr id="7" name="距離が「----」なら、走行せず配線を確認。">
            <a:extLst xmlns:a="http://schemas.openxmlformats.org/drawingml/2006/main">
              <a:ext uri="{FF2B5EF4-FFF2-40B4-BE49-F238E27FC236}">
                <a16:creationId xmlns:a16="http://schemas.microsoft.com/office/drawing/2014/main" id="{E4D54380-F8F9-473E-BDB6-9C3C64AD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595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52934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A52934"/>
                </a:solidFill>
                <a:latin typeface="Noto Sans JP"/>
                <a:ea typeface="Noto Sans JP"/>
                <a:cs typeface="Noto Sans JP"/>
              </a:rPr>
              <a:t>距離が「----」なら走行禁止。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52934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A52934"/>
                </a:solidFill>
                <a:latin typeface="Noto Sans JP"/>
                <a:ea typeface="Noto Sans JP"/>
                <a:cs typeface="Noto Sans JP"/>
              </a:rPr>
              <a:t>遠方とは限らないため、配線・向きを確認。</a:t>
            </a:r>
          </a:p>
        </p:txBody>
      </p:sp>
      <p:sp>
        <p:nvSpPr>
          <p:cNvPr id="8" name="操作端末のWi-Fi">
            <a:extLst xmlns:a="http://schemas.openxmlformats.org/drawingml/2006/main">
              <a:ext uri="{FF2B5EF4-FFF2-40B4-BE49-F238E27FC236}">
                <a16:creationId xmlns:a16="http://schemas.microsoft.com/office/drawing/2014/main" id="{9DFF1BFB-8905-4F4E-881E-403005E7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200275"/>
            <a:ext cx="450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操作端末のWi-Fi</a:t>
            </a:r>
          </a:p>
        </p:txBody>
      </p:sp>
      <p:sp>
        <p:nvSpPr>
          <p:cNvPr id="9" name="使用ルーターのSSIDへ接続。&#10;端末のIPは192.168.2.x。&#10;ボードのI">
            <a:extLst xmlns:a="http://schemas.openxmlformats.org/drawingml/2006/main">
              <a:ext uri="{FF2B5EF4-FFF2-40B4-BE49-F238E27FC236}">
                <a16:creationId xmlns:a16="http://schemas.microsoft.com/office/drawing/2014/main" id="{8B6954D2-1CBF-4F9F-8AE8-6B7A3E00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71775"/>
            <a:ext cx="45053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使用ルーターのSSIDへ接続。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端末のIPは192.168.2.x。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ボードのIPとは重複させない。</a:t>
            </a:r>
          </a:p>
        </p:txBody>
      </p:sp>
      <p:sp>
        <p:nvSpPr>
          <p:cNvPr id="10" name="ブラウザで開く">
            <a:extLst xmlns:a="http://schemas.openxmlformats.org/drawingml/2006/main">
              <a:ext uri="{FF2B5EF4-FFF2-40B4-BE49-F238E27FC236}">
                <a16:creationId xmlns:a16="http://schemas.microsoft.com/office/drawing/2014/main" id="{5F9820A2-14BB-4057-83F8-F872075E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14850"/>
            <a:ext cx="450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ブラウザで開く</a:t>
            </a:r>
          </a:p>
        </p:txBody>
      </p:sp>
      <p:sp>
        <p:nvSpPr>
          <p:cNvPr id="11" name="http://192.168.2.200/">
            <a:extLst xmlns:a="http://schemas.openxmlformats.org/drawingml/2006/main">
              <a:ext uri="{FF2B5EF4-FFF2-40B4-BE49-F238E27FC236}">
                <a16:creationId xmlns:a16="http://schemas.microsoft.com/office/drawing/2014/main" id="{10694408-CDB6-43E1-8C08-565A547B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086350"/>
            <a:ext cx="4505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http://192.168.2.200/</a:t>
            </a:r>
          </a:p>
        </p:txBody>
      </p:sp>
      <p:sp>
        <p:nvSpPr>
          <p:cNvPr id="12" name="接続表示・距離・映像を確認。">
            <a:extLst xmlns:a="http://schemas.openxmlformats.org/drawingml/2006/main">
              <a:ext uri="{FF2B5EF4-FFF2-40B4-BE49-F238E27FC236}">
                <a16:creationId xmlns:a16="http://schemas.microsoft.com/office/drawing/2014/main" id="{1ACB64C7-8312-4C0F-A3C9-3D2BB34B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734050"/>
            <a:ext cx="4505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接続表示・距離・映像を確認。</a:t>
            </a:r>
          </a:p>
        </p:txBody>
      </p:sp>
      <p:sp>
        <p:nvSpPr>
          <p:cNvPr id="13" name="13">
            <a:extLst xmlns:a="http://schemas.openxmlformats.org/drawingml/2006/main">
              <a:ext uri="{FF2B5EF4-FFF2-40B4-BE49-F238E27FC236}">
                <a16:creationId xmlns:a16="http://schemas.microsoft.com/office/drawing/2014/main" id="{5D5E0786-9E64-4DC0-8544-16AF14CF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518938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6. MANUALとAUTOの確認">
            <a:extLst xmlns:a="http://schemas.openxmlformats.org/drawingml/2006/main">
              <a:ext uri="{FF2B5EF4-FFF2-40B4-BE49-F238E27FC236}">
                <a16:creationId xmlns:a16="http://schemas.microsoft.com/office/drawing/2014/main" id="{8759557D-F47F-468A-B705-5E4E27C5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6. MANUALとAUTOの確認</a:t>
            </a:r>
          </a:p>
        </p:txBody>
      </p:sp>
      <p:sp>
        <p:nvSpPr>
          <p:cNvPr id="2" name="表示確認後、車輪を浮かせて短時間の回転を試す。">
            <a:extLst xmlns:a="http://schemas.openxmlformats.org/drawingml/2006/main">
              <a:ext uri="{FF2B5EF4-FFF2-40B4-BE49-F238E27FC236}">
                <a16:creationId xmlns:a16="http://schemas.microsoft.com/office/drawing/2014/main" id="{F5B2A3D5-E2F9-429E-A231-54267F23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有効な前方距離（100 mm超）を確認し、車輪を浮かせて回転を試す。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6a63071374d27"/>
          <a:stretch xmlns:a="http://schemas.openxmlformats.org/drawingml/2006/main"/>
        </p:blipFill>
        <p:spPr>
          <a:xfrm xmlns:a="http://schemas.openxmlformats.org/drawingml/2006/main">
            <a:off x="609600" y="1968724"/>
            <a:ext cx="5257800" cy="2425253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486110a3c4e88"/>
          <a:stretch xmlns:a="http://schemas.openxmlformats.org/drawingml/2006/main"/>
        </p:blipFill>
        <p:spPr>
          <a:xfrm xmlns:a="http://schemas.openxmlformats.org/drawingml/2006/main">
            <a:off x="6324600" y="1968724"/>
            <a:ext cx="5257800" cy="2425253"/>
          </a:xfrm>
          <a:prstGeom xmlns:a="http://schemas.openxmlformats.org/drawingml/2006/main" prst="rect">
            <a:avLst/>
          </a:prstGeom>
        </p:spPr>
      </p:pic>
      <p:sp>
        <p:nvSpPr>
          <p:cNvPr id="5" name="MANUAL">
            <a:extLst xmlns:a="http://schemas.openxmlformats.org/drawingml/2006/main">
              <a:ext uri="{FF2B5EF4-FFF2-40B4-BE49-F238E27FC236}">
                <a16:creationId xmlns:a16="http://schemas.microsoft.com/office/drawing/2014/main" id="{C3CD9C34-73C6-4A7F-9303-2C2AFC2B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5257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MANUAL</a:t>
            </a:r>
          </a:p>
        </p:txBody>
      </p:sp>
      <p:sp>
        <p:nvSpPr>
          <p:cNvPr id="6" name="モーター用スイッチをON。&#10;▲を押すと前進し、離すと停止。&#10;◀・▶で旋回を確認す">
            <a:extLst xmlns:a="http://schemas.openxmlformats.org/drawingml/2006/main">
              <a:ext uri="{FF2B5EF4-FFF2-40B4-BE49-F238E27FC236}">
                <a16:creationId xmlns:a16="http://schemas.microsoft.com/office/drawing/2014/main" id="{AE62BE56-7227-43AF-B7C0-32A4AF19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5257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起動時はMANUAL・停止。スイッチをON。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▲で前進、離すと停止。◀・▶で旋回。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操作が300 ms途絶えた場合も停止する。</a:t>
            </a:r>
          </a:p>
        </p:txBody>
      </p:sp>
      <p:sp>
        <p:nvSpPr>
          <p:cNvPr id="7" name="AUTO">
            <a:extLst xmlns:a="http://schemas.openxmlformats.org/drawingml/2006/main">
              <a:ext uri="{FF2B5EF4-FFF2-40B4-BE49-F238E27FC236}">
                <a16:creationId xmlns:a16="http://schemas.microsoft.com/office/drawing/2014/main" id="{57CB113C-AF86-409F-BA9D-C0F5D787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00575"/>
            <a:ext cx="5257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AUTO</a:t>
            </a:r>
          </a:p>
        </p:txBody>
      </p:sp>
      <p:sp>
        <p:nvSpPr>
          <p:cNvPr id="8" name="手動の確認後に白いコースへ置く。&#10;MANUAL MODEボタンでAUTO開始。&#10;">
            <a:extLst xmlns:a="http://schemas.openxmlformats.org/drawingml/2006/main">
              <a:ext uri="{FF2B5EF4-FFF2-40B4-BE49-F238E27FC236}">
                <a16:creationId xmlns:a16="http://schemas.microsoft.com/office/drawing/2014/main" id="{D54F28B1-26C7-4146-92AB-CC220E1D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86350"/>
            <a:ext cx="5257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白い道をカメラ下半分に大きく映す。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MANUAL MODEを押すとAUTOへ切り替わる。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AUTO中はパッド無効。STOPで止める。</a:t>
            </a:r>
          </a:p>
        </p:txBody>
      </p:sp>
      <p:sp>
        <p:nvSpPr>
          <p:cNvPr id="9" name="14">
            <a:extLst xmlns:a="http://schemas.openxmlformats.org/drawingml/2006/main">
              <a:ext uri="{FF2B5EF4-FFF2-40B4-BE49-F238E27FC236}">
                <a16:creationId xmlns:a16="http://schemas.microsoft.com/office/drawing/2014/main" id="{F76CB417-9EC5-41E5-930F-96A296DE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220833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7. 人物・車の検知">
            <a:extLst xmlns:a="http://schemas.openxmlformats.org/drawingml/2006/main">
              <a:ext uri="{FF2B5EF4-FFF2-40B4-BE49-F238E27FC236}">
                <a16:creationId xmlns:a16="http://schemas.microsoft.com/office/drawing/2014/main" id="{C182291B-BEEE-44A9-A6F2-4484C511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7. 人物・車の検知</a:t>
            </a:r>
          </a:p>
        </p:txBody>
      </p:sp>
      <p:sp>
        <p:nvSpPr>
          <p:cNvPr id="2" name="人物や車の写真・模型を見せ、検知枠と警告を確認する。">
            <a:extLst xmlns:a="http://schemas.openxmlformats.org/drawingml/2006/main">
              <a:ext uri="{FF2B5EF4-FFF2-40B4-BE49-F238E27FC236}">
                <a16:creationId xmlns:a16="http://schemas.microsoft.com/office/drawing/2014/main" id="{DD522216-05E9-45A7-8648-471DA2B4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人物や車の写真・模型を見せ、検知枠と警告を確認する。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5ac50946e410d"/>
          <a:stretch xmlns:a="http://schemas.openxmlformats.org/drawingml/2006/main"/>
        </p:blipFill>
        <p:spPr>
          <a:xfrm xmlns:a="http://schemas.openxmlformats.org/drawingml/2006/main">
            <a:off x="609600" y="1968724"/>
            <a:ext cx="5257800" cy="2425253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e3dabdac5465a"/>
          <a:stretch xmlns:a="http://schemas.openxmlformats.org/drawingml/2006/main"/>
        </p:blipFill>
        <p:spPr>
          <a:xfrm xmlns:a="http://schemas.openxmlformats.org/drawingml/2006/main">
            <a:off x="6324600" y="1968724"/>
            <a:ext cx="5257800" cy="2425253"/>
          </a:xfrm>
          <a:prstGeom xmlns:a="http://schemas.openxmlformats.org/drawingml/2006/main" prst="rect">
            <a:avLst/>
          </a:prstGeom>
        </p:spPr>
      </p:pic>
      <p:sp>
        <p:nvSpPr>
          <p:cNvPr id="5" name="検知の表示">
            <a:extLst xmlns:a="http://schemas.openxmlformats.org/drawingml/2006/main">
              <a:ext uri="{FF2B5EF4-FFF2-40B4-BE49-F238E27FC236}">
                <a16:creationId xmlns:a16="http://schemas.microsoft.com/office/drawing/2014/main" id="{7F682DB4-A423-4803-9E94-52D3FC4E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525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紫枠・ログ：人物の検知例</a:t>
            </a:r>
          </a:p>
        </p:txBody>
      </p:sp>
      <p:sp>
        <p:nvSpPr>
          <p:cNvPr id="6" name="紫の枠と検知ログを表示。&#10;AUTO中は条件を満たすと&#10;手動操作への切り替えを勧め">
            <a:extLst xmlns:a="http://schemas.openxmlformats.org/drawingml/2006/main">
              <a:ext uri="{FF2B5EF4-FFF2-40B4-BE49-F238E27FC236}">
                <a16:creationId xmlns:a16="http://schemas.microsoft.com/office/drawing/2014/main" id="{3AB1B88A-E210-45E5-81DF-E55B04B7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5257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写真はMANUAL時の画面。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AUTO中は信頼度・進路との重なり等の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条件を満たすと、手動切り替えを勧める。</a:t>
            </a:r>
          </a:p>
        </p:txBody>
      </p:sp>
      <p:sp>
        <p:nvSpPr>
          <p:cNvPr id="7" name="走行路が隠れた場合">
            <a:extLst xmlns:a="http://schemas.openxmlformats.org/drawingml/2006/main">
              <a:ext uri="{FF2B5EF4-FFF2-40B4-BE49-F238E27FC236}">
                <a16:creationId xmlns:a16="http://schemas.microsoft.com/office/drawing/2014/main" id="{5740290A-AF82-4F67-820B-AD61EE9E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00575"/>
            <a:ext cx="5257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走行路が隠れた場合</a:t>
            </a:r>
          </a:p>
        </p:txBody>
      </p:sp>
      <p:sp>
        <p:nvSpPr>
          <p:cNvPr id="8" name="大きな障害物で白い道が見えないと、&#10;走行路喪失の判定でTORになる。&#10;検知そのも">
            <a:extLst xmlns:a="http://schemas.openxmlformats.org/drawingml/2006/main">
              <a:ext uri="{FF2B5EF4-FFF2-40B4-BE49-F238E27FC236}">
                <a16:creationId xmlns:a16="http://schemas.microsoft.com/office/drawing/2014/main" id="{DC605043-4548-46BD-B40F-313310A2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95875"/>
            <a:ext cx="5257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大きな障害物で白い道が見えないと、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走行路喪失の判定でTORになる。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検知だけではモード・出力を変えない。</a:t>
            </a:r>
          </a:p>
        </p:txBody>
      </p:sp>
      <p:sp>
        <p:nvSpPr>
          <p:cNvPr id="9" name="15">
            <a:extLst xmlns:a="http://schemas.openxmlformats.org/drawingml/2006/main">
              <a:ext uri="{FF2B5EF4-FFF2-40B4-BE49-F238E27FC236}">
                <a16:creationId xmlns:a16="http://schemas.microsoft.com/office/drawing/2014/main" id="{83F1AD95-DB68-4CFF-8B82-EB0D2915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  <p:sp>
        <p:nvSpPr>
          <p:cNvPr id="13" name="AUTO中の案内例：「人物を検知しました。安全のため、手動操作への切り替えをお勧">
            <a:extLst xmlns:a="http://schemas.openxmlformats.org/drawingml/2006/main">
              <a:ext uri="{FF2B5EF4-FFF2-40B4-BE49-F238E27FC236}">
                <a16:creationId xmlns:a16="http://schemas.microsoft.com/office/drawing/2014/main" id="{FA6632F3-02B5-40B7-94FB-A0B1E2DC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AUTO中の案内例：「人物を検知しました。安全のため、手動操作への切り替えをお勧めします。」</a:t>
            </a:r>
          </a:p>
        </p:txBody>
      </p:sp>
    </p:spTree>
    <p:extLst>
      <p:ext uri="{BB962C8B-B14F-4D97-AF65-F5344CB8AC3E}">
        <p14:creationId xmlns:p14="http://schemas.microsoft.com/office/powerpoint/2010/main" val="2747346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8. TORと手動引き継ぎ">
            <a:extLst xmlns:a="http://schemas.openxmlformats.org/drawingml/2006/main">
              <a:ext uri="{FF2B5EF4-FFF2-40B4-BE49-F238E27FC236}">
                <a16:creationId xmlns:a16="http://schemas.microsoft.com/office/drawing/2014/main" id="{820687B1-478E-4ED2-9003-B758FA0E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8. TORと手動引き継ぎ</a:t>
            </a:r>
          </a:p>
        </p:txBody>
      </p:sp>
      <p:sp>
        <p:nvSpPr>
          <p:cNvPr id="2" name="AUTOで走行路を見失うと停止し、3秒間の引き継ぎを求める。">
            <a:extLst xmlns:a="http://schemas.openxmlformats.org/drawingml/2006/main">
              <a:ext uri="{FF2B5EF4-FFF2-40B4-BE49-F238E27FC236}">
                <a16:creationId xmlns:a16="http://schemas.microsoft.com/office/drawing/2014/main" id="{D454B946-5303-4B49-A9A7-C1AB546E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AUTOで走行路を見失うと停止し、3秒間の引き継ぎを求める。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c72782100481d"/>
          <a:stretch xmlns:a="http://schemas.openxmlformats.org/drawingml/2006/main"/>
        </p:blipFill>
        <p:spPr>
          <a:xfrm xmlns:a="http://schemas.openxmlformats.org/drawingml/2006/main">
            <a:off x="609600" y="2391613"/>
            <a:ext cx="6191250" cy="2855823"/>
          </a:xfrm>
          <a:prstGeom xmlns:a="http://schemas.openxmlformats.org/drawingml/2006/main" prst="rect">
            <a:avLst/>
          </a:prstGeom>
        </p:spPr>
      </p:pic>
      <p:sp>
        <p:nvSpPr>
          <p:cNvPr id="4" name="3秒以内の操作">
            <a:extLst xmlns:a="http://schemas.openxmlformats.org/drawingml/2006/main">
              <a:ext uri="{FF2B5EF4-FFF2-40B4-BE49-F238E27FC236}">
                <a16:creationId xmlns:a16="http://schemas.microsoft.com/office/drawing/2014/main" id="{ABE54A23-3DB1-4D76-A804-B65A9EBA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0764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3秒以内の操作</a:t>
            </a:r>
          </a:p>
        </p:txBody>
      </p:sp>
      <p:sp>
        <p:nvSpPr>
          <p:cNvPr id="5" name="「手動操作に切り替える」を押す。&#10;切り替え直後は停止したまま。&#10;方向パッドで再操">
            <a:extLst xmlns:a="http://schemas.openxmlformats.org/drawingml/2006/main">
              <a:ext uri="{FF2B5EF4-FFF2-40B4-BE49-F238E27FC236}">
                <a16:creationId xmlns:a16="http://schemas.microsoft.com/office/drawing/2014/main" id="{4EA6C3F2-D8A1-485C-BED6-E5B87181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67000"/>
            <a:ext cx="4238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「手動操作に切り替える」を押す。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切り替え直後は停止したまま。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方向パッドで再操作する。</a:t>
            </a:r>
          </a:p>
        </p:txBody>
      </p:sp>
      <p:sp>
        <p:nvSpPr>
          <p:cNvPr id="6" name="時間切れの場合">
            <a:extLst xmlns:a="http://schemas.openxmlformats.org/drawingml/2006/main">
              <a:ext uri="{FF2B5EF4-FFF2-40B4-BE49-F238E27FC236}">
                <a16:creationId xmlns:a16="http://schemas.microsoft.com/office/drawing/2014/main" id="{6D59E12A-3F1D-4759-93F1-1E8541AE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4386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時間切れの場合</a:t>
            </a:r>
          </a:p>
        </p:txBody>
      </p:sp>
      <p:sp>
        <p:nvSpPr>
          <p:cNvPr id="7" name="停止を維持する。&#10;WebのRESETで解除して再操作。&#10;自動で再発進しない。">
            <a:extLst xmlns:a="http://schemas.openxmlformats.org/drawingml/2006/main">
              <a:ext uri="{FF2B5EF4-FFF2-40B4-BE49-F238E27FC236}">
                <a16:creationId xmlns:a16="http://schemas.microsoft.com/office/drawing/2014/main" id="{3E3FCD49-5721-45AF-8351-D6D0E104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038725"/>
            <a:ext cx="4238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停止を維持する。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WebのRESETで時間切れ表示を解除。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方向パッドを押すまで走らない。</a:t>
            </a:r>
          </a:p>
        </p:txBody>
      </p:sp>
      <p:sp>
        <p:nvSpPr>
          <p:cNvPr id="8" name="モーター用スイッチをOFFにし、&#10;白い路面を隠して表示を確認する。">
            <a:extLst xmlns:a="http://schemas.openxmlformats.org/drawingml/2006/main">
              <a:ext uri="{FF2B5EF4-FFF2-40B4-BE49-F238E27FC236}">
                <a16:creationId xmlns:a16="http://schemas.microsoft.com/office/drawing/2014/main" id="{A9B99EA4-FE32-4B2B-A886-2EF1D416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モーター電源OFFで白い路面を隠して確認。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ESTOP・内部異常はWeb RESETでは解除不可。</a:t>
            </a:r>
          </a:p>
        </p:txBody>
      </p:sp>
      <p:sp>
        <p:nvSpPr>
          <p:cNvPr id="9" name="16">
            <a:extLst xmlns:a="http://schemas.openxmlformats.org/drawingml/2006/main">
              <a:ext uri="{FF2B5EF4-FFF2-40B4-BE49-F238E27FC236}">
                <a16:creationId xmlns:a16="http://schemas.microsoft.com/office/drawing/2014/main" id="{43365840-99B6-455D-8695-ACA6DC85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081231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9. 距離停止の確認と終了">
            <a:extLst xmlns:a="http://schemas.openxmlformats.org/drawingml/2006/main">
              <a:ext uri="{FF2B5EF4-FFF2-40B4-BE49-F238E27FC236}">
                <a16:creationId xmlns:a16="http://schemas.microsoft.com/office/drawing/2014/main" id="{06D809A2-16B8-481E-A38B-D2DBF63A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9. 距離停止の確認と終了</a:t>
            </a:r>
          </a:p>
        </p:txBody>
      </p:sp>
      <p:sp>
        <p:nvSpPr>
          <p:cNvPr id="2" name="箱を前方へ近づけ、距離表示と停止理由を確認する。">
            <a:extLst xmlns:a="http://schemas.openxmlformats.org/drawingml/2006/main">
              <a:ext uri="{FF2B5EF4-FFF2-40B4-BE49-F238E27FC236}">
                <a16:creationId xmlns:a16="http://schemas.microsoft.com/office/drawing/2014/main" id="{56AAD9C0-6B36-4F87-B532-5DAAAA68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箱を前方へ近づけ、距離表示と停止理由を確認する。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d43aca0994f60"/>
          <a:stretch xmlns:a="http://schemas.openxmlformats.org/drawingml/2006/main"/>
        </p:blipFill>
        <p:spPr>
          <a:xfrm xmlns:a="http://schemas.openxmlformats.org/drawingml/2006/main">
            <a:off x="609600" y="2365956"/>
            <a:ext cx="6096000" cy="2811887"/>
          </a:xfrm>
          <a:prstGeom xmlns:a="http://schemas.openxmlformats.org/drawingml/2006/main" prst="rect">
            <a:avLst/>
          </a:prstGeom>
        </p:spPr>
      </p:pic>
      <p:sp>
        <p:nvSpPr>
          <p:cNvPr id="4" name="モーター系OFFで確認">
            <a:extLst xmlns:a="http://schemas.openxmlformats.org/drawingml/2006/main">
              <a:ext uri="{FF2B5EF4-FFF2-40B4-BE49-F238E27FC236}">
                <a16:creationId xmlns:a16="http://schemas.microsoft.com/office/drawing/2014/main" id="{43D6157E-E0BC-4808-B4CE-B3B1BF2C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76450"/>
            <a:ext cx="4371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モーター系OFFで確認</a:t>
            </a:r>
          </a:p>
        </p:txBody>
      </p:sp>
      <p:sp>
        <p:nvSpPr>
          <p:cNvPr id="5" name="前方100 mm以内：通常停止。&#10;前方50 mm以内：緊急停止。&#10;測定値と理由の">
            <a:extLst xmlns:a="http://schemas.openxmlformats.org/drawingml/2006/main">
              <a:ext uri="{FF2B5EF4-FFF2-40B4-BE49-F238E27FC236}">
                <a16:creationId xmlns:a16="http://schemas.microsoft.com/office/drawing/2014/main" id="{912CDB07-4910-40F4-B0A8-0E0D910C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667000"/>
            <a:ext cx="43719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前方100 mm以内：通常停止。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前方50 mm以内：緊急停止。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測定値と理由の表示を見る。</a:t>
            </a:r>
          </a:p>
        </p:txBody>
      </p:sp>
      <p:sp>
        <p:nvSpPr>
          <p:cNvPr id="6" name="試験の終了">
            <a:extLst xmlns:a="http://schemas.openxmlformats.org/drawingml/2006/main">
              <a:ext uri="{FF2B5EF4-FFF2-40B4-BE49-F238E27FC236}">
                <a16:creationId xmlns:a16="http://schemas.microsoft.com/office/drawing/2014/main" id="{F80447CB-D9AA-4BF0-86AC-39ED5065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286250"/>
            <a:ext cx="4371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試験の終了</a:t>
            </a:r>
          </a:p>
        </p:txBody>
      </p:sp>
      <p:sp>
        <p:nvSpPr>
          <p:cNvPr id="7" name="モーター用スイッチをOFF。&#10;その後、ボードとルーターの&#10;給電を止める。">
            <a:extLst xmlns:a="http://schemas.openxmlformats.org/drawingml/2006/main">
              <a:ext uri="{FF2B5EF4-FFF2-40B4-BE49-F238E27FC236}">
                <a16:creationId xmlns:a16="http://schemas.microsoft.com/office/drawing/2014/main" id="{95B6E06A-D082-4CE9-9F54-92B195D0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76800"/>
            <a:ext cx="43719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モーター用スイッチをOFF。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その後、ボードとルーターの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給電を止める。</a:t>
            </a:r>
          </a:p>
        </p:txBody>
      </p:sp>
      <p:sp>
        <p:nvSpPr>
          <p:cNvPr id="8" name="画面例：84 mmで通常停止。&#10;緊急停止は別の試行で確認する。">
            <a:extLst xmlns:a="http://schemas.openxmlformats.org/drawingml/2006/main">
              <a:ext uri="{FF2B5EF4-FFF2-40B4-BE49-F238E27FC236}">
                <a16:creationId xmlns:a16="http://schemas.microsoft.com/office/drawing/2014/main" id="{405E3697-273C-4EAD-82EF-9BBA49D9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09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画面例：84 mmで通常停止。緊急停止は別試行で確認。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距離は設定値で、実車の制動距離を保証しない。</a:t>
            </a:r>
          </a:p>
        </p:txBody>
      </p:sp>
      <p:sp>
        <p:nvSpPr>
          <p:cNvPr id="9" name="17">
            <a:extLst xmlns:a="http://schemas.openxmlformats.org/drawingml/2006/main">
              <a:ext uri="{FF2B5EF4-FFF2-40B4-BE49-F238E27FC236}">
                <a16:creationId xmlns:a16="http://schemas.microsoft.com/office/drawing/2014/main" id="{E428B573-DB77-4562-A9C6-0B5115AB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021783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教材としての再現性">
            <a:extLst xmlns:a="http://schemas.openxmlformats.org/drawingml/2006/main">
              <a:ext uri="{FF2B5EF4-FFF2-40B4-BE49-F238E27FC236}">
                <a16:creationId xmlns:a16="http://schemas.microsoft.com/office/drawing/2014/main" id="{AC116008-BD5B-41E5-AB88-D9E0DEC9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教材としての再現性</a:t>
            </a:r>
          </a:p>
        </p:txBody>
      </p:sp>
      <p:sp>
        <p:nvSpPr>
          <p:cNvPr id="2" name="GitHubのソースと導入手順から、組み立て・書き込みへ進める。">
            <a:extLst xmlns:a="http://schemas.openxmlformats.org/drawingml/2006/main">
              <a:ext uri="{FF2B5EF4-FFF2-40B4-BE49-F238E27FC236}">
                <a16:creationId xmlns:a16="http://schemas.microsoft.com/office/drawing/2014/main" id="{9037CD04-7065-41E3-9818-D9176E17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新たに製作する場合の導入手順も公開。審査用ボードは書き込み済み。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B79FD32C-94EF-4FA5-A28D-66F6B3EF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20</a:t>
            </a:r>
          </a:p>
        </p:txBody>
      </p:sp>
      <p:sp>
        <p:nvSpPr>
          <p:cNvPr id="4" name="市販部品で組み立て">
            <a:extLst xmlns:a="http://schemas.openxmlformats.org/drawingml/2006/main">
              <a:ext uri="{FF2B5EF4-FFF2-40B4-BE49-F238E27FC236}">
                <a16:creationId xmlns:a16="http://schemas.microsoft.com/office/drawing/2014/main" id="{095C5E5F-BAE0-4105-851D-29DAB803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市販部品で組み立て</a:t>
            </a:r>
          </a:p>
        </p:txBody>
      </p:sp>
      <p:sp>
        <p:nvSpPr>
          <p:cNvPr id="5" name="部品表・接続表をREADMEに掲載。&#10;スマートフォン・タブレット・PC">
            <a:extLst xmlns:a="http://schemas.openxmlformats.org/drawingml/2006/main">
              <a:ext uri="{FF2B5EF4-FFF2-40B4-BE49-F238E27FC236}">
                <a16:creationId xmlns:a16="http://schemas.microsoft.com/office/drawing/2014/main" id="{52BE5951-75B0-4E0B-8D2F-F6A52570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33700"/>
            <a:ext cx="50292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部品表・接続表をREADMEに掲載。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スマートフォン・タブレット・PCの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ブラウザで操作する。</a:t>
            </a:r>
          </a:p>
        </p:txBody>
      </p:sp>
      <p:sp>
        <p:nvSpPr>
          <p:cNvPr id="6" name="ソースと確認手順を公開">
            <a:extLst xmlns:a="http://schemas.openxmlformats.org/drawingml/2006/main">
              <a:ext uri="{FF2B5EF4-FFF2-40B4-BE49-F238E27FC236}">
                <a16:creationId xmlns:a16="http://schemas.microsoft.com/office/drawing/2014/main" id="{94FB8A5F-7D7E-4FCC-899D-A2FA8154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ソースと確認手順を公開</a:t>
            </a:r>
          </a:p>
        </p:txBody>
      </p:sp>
      <p:sp>
        <p:nvSpPr>
          <p:cNvPr id="7" name="オリジナルプログラムはMIT。&#10;第三者コード・AIモデルは別の条件。">
            <a:extLst xmlns:a="http://schemas.openxmlformats.org/drawingml/2006/main">
              <a:ext uri="{FF2B5EF4-FFF2-40B4-BE49-F238E27FC236}">
                <a16:creationId xmlns:a16="http://schemas.microsoft.com/office/drawing/2014/main" id="{07B3D08F-EB98-46B8-A388-A608F104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14950"/>
            <a:ext cx="5867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オリジナルプログラムはMIT。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第三者コード・AIモデルには別の条件。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最適化AIモデルの再配布条件は要確認。</a:t>
            </a:r>
          </a:p>
        </p:txBody>
      </p:sp>
      <p:sp>
        <p:nvSpPr>
          <p:cNvPr id="8" name="GitHubから取得">
            <a:extLst xmlns:a="http://schemas.openxmlformats.org/drawingml/2006/main">
              <a:ext uri="{FF2B5EF4-FFF2-40B4-BE49-F238E27FC236}">
                <a16:creationId xmlns:a16="http://schemas.microsoft.com/office/drawing/2014/main" id="{606DAFD0-3163-4AF6-B8A5-92880950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F83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95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GitHubから取得</a:t>
            </a:r>
          </a:p>
        </p:txBody>
      </p:sp>
      <p:sp>
        <p:nvSpPr>
          <p:cNvPr id="9" name="e² studio&#10;3プロジェクトを取り込む">
            <a:extLst xmlns:a="http://schemas.openxmlformats.org/drawingml/2006/main">
              <a:ext uri="{FF2B5EF4-FFF2-40B4-BE49-F238E27FC236}">
                <a16:creationId xmlns:a16="http://schemas.microsoft.com/office/drawing/2014/main" id="{B56A5D49-EF87-47EB-B5C5-ED678BEB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48025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F83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e² studio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3プロジェクトを取り込む</a:t>
            </a:r>
          </a:p>
        </p:txBody>
      </p:sp>
      <p:sp>
        <p:nvSpPr>
          <p:cNvPr id="10" name="両コアをビルド&#10;Debug Asで書き込み">
            <a:extLst xmlns:a="http://schemas.openxmlformats.org/drawingml/2006/main">
              <a:ext uri="{FF2B5EF4-FFF2-40B4-BE49-F238E27FC236}">
                <a16:creationId xmlns:a16="http://schemas.microsoft.com/office/drawing/2014/main" id="{D2C933E3-CF0D-45D7-915E-3610FAD4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1485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F83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両コアをビルド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1875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Debug Asで書き込み</a:t>
            </a:r>
          </a:p>
        </p:txBody>
      </p:sp>
      <p:cxnSp>
        <p:nvCxnSpPr>
          <p:cNvPr id="9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515475" y="264795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F83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515475" y="4010025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F83"/>
            </a:solidFill>
            <a:prstDash val="solid"/>
            <a:tailEnd type="triangle" w="sm" len="sm"/>
          </a:ln>
        </p:spPr>
      </p:cxnSp>
      <p:sp>
        <p:nvSpPr>
          <p:cNvPr id="13" name="英数字の短いパスに配置&#10;導入手順・実機確認手順を同梱">
            <a:extLst xmlns:a="http://schemas.openxmlformats.org/drawingml/2006/main">
              <a:ext uri="{FF2B5EF4-FFF2-40B4-BE49-F238E27FC236}">
                <a16:creationId xmlns:a16="http://schemas.microsoft.com/office/drawing/2014/main" id="{EBE3B6F5-2C5F-490A-9283-2749092E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591175"/>
            <a:ext cx="41243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英数字の短いパスに配置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導入手順・実機確認手順を同梱</a:t>
            </a:r>
          </a:p>
        </p:txBody>
      </p:sp>
    </p:spTree>
    <p:extLst>
      <p:ext uri="{BB962C8B-B14F-4D97-AF65-F5344CB8AC3E}">
        <p14:creationId xmlns:p14="http://schemas.microsoft.com/office/powerpoint/2010/main" val="7243322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まとめ">
            <a:extLst xmlns:a="http://schemas.openxmlformats.org/drawingml/2006/main">
              <a:ext uri="{FF2B5EF4-FFF2-40B4-BE49-F238E27FC236}">
                <a16:creationId xmlns:a16="http://schemas.microsoft.com/office/drawing/2014/main" id="{B48F6F8D-5675-472A-A4C4-0BCF5CB3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まとめ</a:t>
            </a:r>
          </a:p>
        </p:txBody>
      </p:sp>
      <p:sp>
        <p:nvSpPr>
          <p:cNvPr id="2" name="組み立てた車両で、人と自動運転のバトンタッチを学ぶ。">
            <a:extLst xmlns:a="http://schemas.openxmlformats.org/drawingml/2006/main">
              <a:ext uri="{FF2B5EF4-FFF2-40B4-BE49-F238E27FC236}">
                <a16:creationId xmlns:a16="http://schemas.microsoft.com/office/drawing/2014/main" id="{37BF8AA7-74C6-4482-AB92-FED94C5E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AI・RTOS・手動介入を、一台の車両でつなげて学ぶ。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7101BDDB-F8D0-43E4-A35D-B8877E3B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29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21</a:t>
            </a:r>
          </a:p>
        </p:txBody>
      </p:sp>
      <p:sp>
        <p:nvSpPr>
          <p:cNvPr id="4" name="走る・止まる・引き継ぐ">
            <a:extLst xmlns:a="http://schemas.openxmlformats.org/drawingml/2006/main">
              <a:ext uri="{FF2B5EF4-FFF2-40B4-BE49-F238E27FC236}">
                <a16:creationId xmlns:a16="http://schemas.microsoft.com/office/drawing/2014/main" id="{837E92B1-123F-42F1-8F30-BBA43589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4200" b="1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走る・止まる・引き継ぐ</a:t>
            </a:r>
          </a:p>
        </p:txBody>
      </p:sp>
      <p:sp>
        <p:nvSpPr>
          <p:cNvPr id="5" name="白い道を走ることで、画像認識と制御の関係を確かめる。">
            <a:extLst xmlns:a="http://schemas.openxmlformats.org/drawingml/2006/main">
              <a:ext uri="{FF2B5EF4-FFF2-40B4-BE49-F238E27FC236}">
                <a16:creationId xmlns:a16="http://schemas.microsoft.com/office/drawing/2014/main" id="{CD6138FD-F574-4D26-9A99-6F415265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051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白い道の走行から、画像処理とモーター制御の関係を確かめる。</a:t>
            </a:r>
          </a:p>
        </p:txBody>
      </p:sp>
      <p:sp>
        <p:nvSpPr>
          <p:cNvPr id="6" name="停止とTORを通じて、自動運転の限界と人の役割を考える。">
            <a:extLst xmlns:a="http://schemas.openxmlformats.org/drawingml/2006/main">
              <a:ext uri="{FF2B5EF4-FFF2-40B4-BE49-F238E27FC236}">
                <a16:creationId xmlns:a16="http://schemas.microsoft.com/office/drawing/2014/main" id="{B11D02FA-033B-41BF-BEF4-FADBA529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052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停止とTORを通じて、自動運転の限界と人の役割を考える。</a:t>
            </a:r>
          </a:p>
        </p:txBody>
      </p:sp>
      <p:sp>
        <p:nvSpPr>
          <p:cNvPr id="7" name="μT-Kernelのタスク構成から、停止を優先する実装を学ぶ。">
            <a:extLst xmlns:a="http://schemas.openxmlformats.org/drawingml/2006/main">
              <a:ext uri="{FF2B5EF4-FFF2-40B4-BE49-F238E27FC236}">
                <a16:creationId xmlns:a16="http://schemas.microsoft.com/office/drawing/2014/main" id="{9F0350F6-332C-4104-BDE1-03334E63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053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5283D"/>
                </a:solidFill>
                <a:latin typeface="Noto Sans JP"/>
                <a:ea typeface="Noto Sans JP"/>
                <a:cs typeface="Noto Sans JP"/>
              </a:rPr>
              <a:t>μT-Kernelのタスク構成から、停止を優先する実装を学ぶ。</a:t>
            </a:r>
          </a:p>
        </p:txBody>
      </p:sp>
      <p:sp>
        <p:nvSpPr>
          <p:cNvPr id="8" name="ソースと導入手順：github.com/tut-cc/tron-202">
            <a:extLst xmlns:a="http://schemas.openxmlformats.org/drawingml/2006/main">
              <a:ext uri="{FF2B5EF4-FFF2-40B4-BE49-F238E27FC236}">
                <a16:creationId xmlns:a16="http://schemas.microsoft.com/office/drawing/2014/main" id="{DE221BCA-71CD-42F0-B4E5-73A20B92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817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7F8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007F83"/>
                </a:solidFill>
                <a:latin typeface="Noto Sans JP"/>
                <a:ea typeface="Noto Sans JP"/>
                <a:cs typeface="Noto Sans JP"/>
              </a:rPr>
              <a:t>ソースと導入手順：github.com/tut-cc/tron-2026-autonomous-driving</a:t>
            </a:r>
          </a:p>
        </p:txBody>
      </p:sp>
      <p:sp>
        <p:nvSpPr>
          <p:cNvPr id="10" name="今後の課題：走行の安定性、停止までの距離、映像性能、教材としての学習効果の定量評">
            <a:extLst xmlns:a="http://schemas.openxmlformats.org/drawingml/2006/main">
              <a:ext uri="{FF2B5EF4-FFF2-40B4-BE49-F238E27FC236}">
                <a16:creationId xmlns:a16="http://schemas.microsoft.com/office/drawing/2014/main" id="{DD637EFF-6214-4FA3-98CC-2DB50B1D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67275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858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0858C"/>
                </a:solidFill>
                <a:latin typeface="Noto Sans JP"/>
                <a:ea typeface="Noto Sans JP"/>
                <a:cs typeface="Noto Sans JP"/>
              </a:rPr>
              <a:t>今後の課題</a:t>
            </a:r>
          </a:p>
        </p:txBody>
      </p:sp>
      <p:sp>
        <p:nvSpPr>
          <p:cNvPr id="11" name="future-challenge-1">
            <a:extLst xmlns:a="http://schemas.openxmlformats.org/drawingml/2006/main">
              <a:ext uri="{FF2B5EF4-FFF2-40B4-BE49-F238E27FC236}">
                <a16:creationId xmlns:a16="http://schemas.microsoft.com/office/drawing/2014/main" id="{1B7D0A33-D5ED-4C49-8632-96C596EA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5780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映像を高画質・高フレームレートで伝送し、見やすさと滑らかさを高める。</a:t>
            </a:r>
          </a:p>
        </p:txBody>
      </p:sp>
      <p:sp>
        <p:nvSpPr>
          <p:cNvPr id="12" name="future-challenge-2">
            <a:extLst xmlns:a="http://schemas.openxmlformats.org/drawingml/2006/main">
              <a:ext uri="{FF2B5EF4-FFF2-40B4-BE49-F238E27FC236}">
                <a16:creationId xmlns:a16="http://schemas.microsoft.com/office/drawing/2014/main" id="{41E9FEBB-0990-4987-AC7C-8DC0AD2E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0070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警告や引き継ぎの伝え方を改善し、人が判断しやすい表示を目指す。</a:t>
            </a:r>
          </a:p>
        </p:txBody>
      </p:sp>
      <p:sp>
        <p:nvSpPr>
          <p:cNvPr id="13" name="future-challenge-3">
            <a:extLst xmlns:a="http://schemas.openxmlformats.org/drawingml/2006/main">
              <a:ext uri="{FF2B5EF4-FFF2-40B4-BE49-F238E27FC236}">
                <a16:creationId xmlns:a16="http://schemas.microsoft.com/office/drawing/2014/main" id="{BA24C91B-D3DD-42BF-9F98-B873FB06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4360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26273"/>
                </a:solidFill>
                <a:latin typeface="Noto Sans JP"/>
                <a:ea typeface="Noto Sans JP"/>
                <a:cs typeface="Noto Sans JP"/>
              </a:rPr>
              <a:t>AIモデル・制御方式・車体を改良し、現実に近い運転・引き継ぎ体験を目指す。</a:t>
            </a:r>
          </a:p>
        </p:txBody>
      </p:sp>
    </p:spTree>
    <p:extLst>
      <p:ext uri="{BB962C8B-B14F-4D97-AF65-F5344CB8AC3E}">
        <p14:creationId xmlns:p14="http://schemas.microsoft.com/office/powerpoint/2010/main" val="334039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2026-09-30T06:19:55.8540000Z</dcterms:created>
  <dcterms:modified xsi:type="dcterms:W3CDTF">2026-09-30T06:19:55.8540000Z</dcterms:modified>
</coreProperties>
</file>