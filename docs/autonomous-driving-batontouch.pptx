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eda3fcffed64d15" /><Relationship Type="http://schemas.openxmlformats.org/officeDocument/2006/relationships/extended-properties" Target="/docProps/app.xml" Id="R85f580c1ac9d4de3" /><Relationship Type="http://schemas.openxmlformats.org/officeDocument/2006/relationships/officeDocument" Target="/ppt/presentation.xml" Id="Rf02696c3849e433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8c55127e1654e6c"/>
  </p:sldMasterIdLst>
  <p:notesMasterIdLst>
    <p:notesMasterId xmlns:r="http://schemas.openxmlformats.org/officeDocument/2006/relationships" r:id="R7d4d03844bb64675"/>
  </p:notesMasterIdLst>
  <p:sldIdLst>
    <p:sldId xmlns:r="http://schemas.openxmlformats.org/officeDocument/2006/relationships" id="256" r:id="R5a5b8831c59047c6"/>
    <p:sldId xmlns:r="http://schemas.openxmlformats.org/officeDocument/2006/relationships" id="257" r:id="R66a6692114da4b0d"/>
    <p:sldId xmlns:r="http://schemas.openxmlformats.org/officeDocument/2006/relationships" id="258" r:id="Rfa68569f7bfc4fd7"/>
    <p:sldId xmlns:r="http://schemas.openxmlformats.org/officeDocument/2006/relationships" id="259" r:id="Rdc719dc95ec74a26"/>
    <p:sldId xmlns:r="http://schemas.openxmlformats.org/officeDocument/2006/relationships" id="260" r:id="R9b81a56876dd4f90"/>
    <p:sldId xmlns:r="http://schemas.openxmlformats.org/officeDocument/2006/relationships" id="261" r:id="R32928653fafb4fe7"/>
    <p:sldId xmlns:r="http://schemas.openxmlformats.org/officeDocument/2006/relationships" id="262" r:id="R1ee35360c3274861"/>
    <p:sldId xmlns:r="http://schemas.openxmlformats.org/officeDocument/2006/relationships" id="263" r:id="R54f119b6b9b34ece"/>
    <p:sldId xmlns:r="http://schemas.openxmlformats.org/officeDocument/2006/relationships" id="264" r:id="Rd3c873daf62b48d0"/>
    <p:sldId xmlns:r="http://schemas.openxmlformats.org/officeDocument/2006/relationships" id="265" r:id="Rfe4dc7a567724245"/>
    <p:sldId xmlns:r="http://schemas.openxmlformats.org/officeDocument/2006/relationships" id="266" r:id="R8a8ffa7ce8e149df"/>
    <p:sldId xmlns:r="http://schemas.openxmlformats.org/officeDocument/2006/relationships" id="267" r:id="R434b574c2d68402b"/>
    <p:sldId xmlns:r="http://schemas.openxmlformats.org/officeDocument/2006/relationships" id="268" r:id="R4597705998ef4587"/>
    <p:sldId xmlns:r="http://schemas.openxmlformats.org/officeDocument/2006/relationships" id="269" r:id="R060f7def1024420a"/>
    <p:sldId xmlns:r="http://schemas.openxmlformats.org/officeDocument/2006/relationships" id="270" r:id="Rb39d3e9852054bea"/>
    <p:sldId xmlns:r="http://schemas.openxmlformats.org/officeDocument/2006/relationships" id="271" r:id="Rcccbc127b69b406a"/>
    <p:sldId xmlns:r="http://schemas.openxmlformats.org/officeDocument/2006/relationships" id="272" r:id="R42de4179be7c40c8"/>
    <p:sldId xmlns:r="http://schemas.openxmlformats.org/officeDocument/2006/relationships" id="273" r:id="R24e76a13b85d461a"/>
    <p:sldId xmlns:r="http://schemas.openxmlformats.org/officeDocument/2006/relationships" id="274" r:id="R0a83f67ea3524c5a"/>
    <p:sldId xmlns:r="http://schemas.openxmlformats.org/officeDocument/2006/relationships" id="275" r:id="Rd2304b88857145ec"/>
    <p:sldId xmlns:r="http://schemas.openxmlformats.org/officeDocument/2006/relationships" id="276" r:id="R22828ded91d4443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80173d1d51245e9" /><Relationship Type="http://schemas.openxmlformats.org/officeDocument/2006/relationships/slideMaster" Target="/ppt/slideMasters/slideMaster1.xml" Id="Rf8c55127e1654e6c" /><Relationship Type="http://schemas.openxmlformats.org/officeDocument/2006/relationships/notesMaster" Target="/ppt/notesMasters/notesMaster1.xml" Id="R7d4d03844bb64675" /><Relationship Type="http://schemas.openxmlformats.org/officeDocument/2006/relationships/presProps" Target="/ppt/presProps.xml" Id="R9659da71760444c4" /><Relationship Type="http://schemas.openxmlformats.org/officeDocument/2006/relationships/tableStyles" Target="/ppt/tableStyles.xml" Id="Rddfdaa64abaa4815" /><Relationship Type="http://schemas.openxmlformats.org/officeDocument/2006/relationships/slide" Target="/ppt/slides/slide1.xml" Id="R5a5b8831c59047c6" /><Relationship Type="http://schemas.openxmlformats.org/officeDocument/2006/relationships/slide" Target="/ppt/slides/slide2.xml" Id="R66a6692114da4b0d" /><Relationship Type="http://schemas.openxmlformats.org/officeDocument/2006/relationships/slide" Target="/ppt/slides/slide3.xml" Id="Rfa68569f7bfc4fd7" /><Relationship Type="http://schemas.openxmlformats.org/officeDocument/2006/relationships/slide" Target="/ppt/slides/slide4.xml" Id="Rdc719dc95ec74a26" /><Relationship Type="http://schemas.openxmlformats.org/officeDocument/2006/relationships/slide" Target="/ppt/slides/slide5.xml" Id="R9b81a56876dd4f90" /><Relationship Type="http://schemas.openxmlformats.org/officeDocument/2006/relationships/slide" Target="/ppt/slides/slide6.xml" Id="R32928653fafb4fe7" /><Relationship Type="http://schemas.openxmlformats.org/officeDocument/2006/relationships/slide" Target="/ppt/slides/slide7.xml" Id="R1ee35360c3274861" /><Relationship Type="http://schemas.openxmlformats.org/officeDocument/2006/relationships/slide" Target="/ppt/slides/slide8.xml" Id="R54f119b6b9b34ece" /><Relationship Type="http://schemas.openxmlformats.org/officeDocument/2006/relationships/slide" Target="/ppt/slides/slide9.xml" Id="Rd3c873daf62b48d0" /><Relationship Type="http://schemas.openxmlformats.org/officeDocument/2006/relationships/slide" Target="/ppt/slides/slide10.xml" Id="Rfe4dc7a567724245" /><Relationship Type="http://schemas.openxmlformats.org/officeDocument/2006/relationships/slide" Target="/ppt/slides/slide11.xml" Id="R8a8ffa7ce8e149df" /><Relationship Type="http://schemas.openxmlformats.org/officeDocument/2006/relationships/slide" Target="/ppt/slides/slide12.xml" Id="R434b574c2d68402b" /><Relationship Type="http://schemas.openxmlformats.org/officeDocument/2006/relationships/slide" Target="/ppt/slides/slide13.xml" Id="R4597705998ef4587" /><Relationship Type="http://schemas.openxmlformats.org/officeDocument/2006/relationships/slide" Target="/ppt/slides/slide14.xml" Id="R060f7def1024420a" /><Relationship Type="http://schemas.openxmlformats.org/officeDocument/2006/relationships/slide" Target="/ppt/slides/slide15.xml" Id="Rb39d3e9852054bea" /><Relationship Type="http://schemas.openxmlformats.org/officeDocument/2006/relationships/slide" Target="/ppt/slides/slide16.xml" Id="Rcccbc127b69b406a" /><Relationship Type="http://schemas.openxmlformats.org/officeDocument/2006/relationships/slide" Target="/ppt/slides/slide17.xml" Id="R42de4179be7c40c8" /><Relationship Type="http://schemas.openxmlformats.org/officeDocument/2006/relationships/slide" Target="/ppt/slides/slide18.xml" Id="R24e76a13b85d461a" /><Relationship Type="http://schemas.openxmlformats.org/officeDocument/2006/relationships/slide" Target="/ppt/slides/slide19.xml" Id="R0a83f67ea3524c5a" /><Relationship Type="http://schemas.openxmlformats.org/officeDocument/2006/relationships/slide" Target="/ppt/slides/slide20.xml" Id="Rd2304b88857145ec" /><Relationship Type="http://schemas.openxmlformats.org/officeDocument/2006/relationships/slide" Target="/ppt/slides/slide21.xml" Id="R22828ded91d4443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445b51deb1c4b0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7fc93f0ae734bc8" /><Relationship Type="http://schemas.openxmlformats.org/officeDocument/2006/relationships/notesMaster" Target="/ppt/notesMasters/notesMaster1.xml" Id="R54a9edf9a4e14f6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bee00ed21254bc2" /><Relationship Type="http://schemas.openxmlformats.org/officeDocument/2006/relationships/notesMaster" Target="/ppt/notesMasters/notesMaster1.xml" Id="R1bde8184677d4e2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e550943afbb4b1f" /><Relationship Type="http://schemas.openxmlformats.org/officeDocument/2006/relationships/notesMaster" Target="/ppt/notesMasters/notesMaster1.xml" Id="R0de7fed0f1084e7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683cbb1f73a4a40" /><Relationship Type="http://schemas.openxmlformats.org/officeDocument/2006/relationships/notesMaster" Target="/ppt/notesMasters/notesMaster1.xml" Id="R3bf3315de9504f9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3e5701d177c4150" /><Relationship Type="http://schemas.openxmlformats.org/officeDocument/2006/relationships/notesMaster" Target="/ppt/notesMasters/notesMaster1.xml" Id="R256ce59feca5418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78a036dc2f94fd3" /><Relationship Type="http://schemas.openxmlformats.org/officeDocument/2006/relationships/notesMaster" Target="/ppt/notesMasters/notesMaster1.xml" Id="R1b16f5a5bc714fc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441800726c74d4f" /><Relationship Type="http://schemas.openxmlformats.org/officeDocument/2006/relationships/notesMaster" Target="/ppt/notesMasters/notesMaster1.xml" Id="Rf1f3c74167494f6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3a205aac2174aaa" /><Relationship Type="http://schemas.openxmlformats.org/officeDocument/2006/relationships/notesMaster" Target="/ppt/notesMasters/notesMaster1.xml" Id="Ra9734c0945044c5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bc44289b8174a8f" /><Relationship Type="http://schemas.openxmlformats.org/officeDocument/2006/relationships/notesMaster" Target="/ppt/notesMasters/notesMaster1.xml" Id="R7c67c945fe2d442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73802c7a7294c35" /><Relationship Type="http://schemas.openxmlformats.org/officeDocument/2006/relationships/notesMaster" Target="/ppt/notesMasters/notesMaster1.xml" Id="R256be4ac75d1465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e5c994e644b4c3e" /><Relationship Type="http://schemas.openxmlformats.org/officeDocument/2006/relationships/notesMaster" Target="/ppt/notesMasters/notesMaster1.xml" Id="R4418cef9cd9f46d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32b73c38657416b" /><Relationship Type="http://schemas.openxmlformats.org/officeDocument/2006/relationships/notesMaster" Target="/ppt/notesMasters/notesMaster1.xml" Id="Rf8b4e058283a4f3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c6d77f43530470d" /><Relationship Type="http://schemas.openxmlformats.org/officeDocument/2006/relationships/notesMaster" Target="/ppt/notesMasters/notesMaster1.xml" Id="R5ca871a7600c407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dfa67368bc842c2" /><Relationship Type="http://schemas.openxmlformats.org/officeDocument/2006/relationships/notesMaster" Target="/ppt/notesMasters/notesMaster1.xml" Id="R770f1cd6ffa9483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ac44fad581e4a90" /><Relationship Type="http://schemas.openxmlformats.org/officeDocument/2006/relationships/notesMaster" Target="/ppt/notesMasters/notesMaster1.xml" Id="R4dade139b34a461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bfc50fb61aa4937" /><Relationship Type="http://schemas.openxmlformats.org/officeDocument/2006/relationships/notesMaster" Target="/ppt/notesMasters/notesMaster1.xml" Id="Rdc9615a4aaca403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6352adf8a494e65" /><Relationship Type="http://schemas.openxmlformats.org/officeDocument/2006/relationships/notesMaster" Target="/ppt/notesMasters/notesMaster1.xml" Id="R69ada81d53c74a6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54ba18d9ecf4971" /><Relationship Type="http://schemas.openxmlformats.org/officeDocument/2006/relationships/notesMaster" Target="/ppt/notesMasters/notesMaster1.xml" Id="R07d8c51b6c10470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79cc398958c474f" /><Relationship Type="http://schemas.openxmlformats.org/officeDocument/2006/relationships/notesMaster" Target="/ppt/notesMasters/notesMaster1.xml" Id="R739c6616faaf4ca8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0938018d8b174e2e" /><Relationship Type="http://schemas.openxmlformats.org/officeDocument/2006/relationships/notesMaster" Target="/ppt/notesMasters/notesMaster1.xml" Id="Rd4785df3d7de4789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c07f40c76778412a" /><Relationship Type="http://schemas.openxmlformats.org/officeDocument/2006/relationships/notesMaster" Target="/ppt/notesMasters/notesMaster1.xml" Id="Rb4f517c2bdf0469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出典：</a:t>
            </a:r>
          </a:p>
          <a:p xmlns:a="http://schemas.openxmlformats.org/drawingml/2006/main">
            <a:r>
              <a:t>https://github.com/tut-cc/tron-2026-autonomous-driving/blob/4caba2bfb099c179d3efe90510edf599031abb7b/README.md</a:t>
            </a:r>
          </a:p>
          <a:p xmlns:a="http://schemas.openxmlformats.org/drawingml/2006/main">
            <a:r>
              <a:t>https://www.tron.org/ja/programming_contest-2026/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出典：</a:t>
            </a:r>
          </a:p>
          <a:p xmlns:a="http://schemas.openxmlformats.org/drawingml/2006/main">
            <a:r>
              <a:t>https://waymo.com/blog/2025/12/2025-year-in-review/</a:t>
            </a:r>
          </a:p>
          <a:p xmlns:a="http://schemas.openxmlformats.org/drawingml/2006/main">
            <a:r>
              <a:t>https://www.nhtsa.gov/vehicle-safety/automated-vehicle-safety</a:t>
            </a:r>
          </a:p>
          <a:p xmlns:a="http://schemas.openxmlformats.org/drawingml/2006/main">
            <a:r>
              <a:t>Waymoの年末追記は2025年の利用実績を1,500万回と公表。レベル2・3の人の役割はNHTSAの説明に基づく。自動運転タクシーの利用実績をレベル3の運転引き継ぎ事例として扱わない。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出典：</a:t>
            </a:r>
          </a:p>
          <a:p xmlns:a="http://schemas.openxmlformats.org/drawingml/2006/main">
            <a:r>
              <a:t>https://github.com/tut-cc/tron-2026-autonomous-driving/blob/4caba2bfb099c179d3efe90510edf599031abb7b/README.md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出典：</a:t>
            </a:r>
          </a:p>
          <a:p xmlns:a="http://schemas.openxmlformats.org/drawingml/2006/main">
            <a:r>
              <a:t>https://github.com/tut-cc/tron-2026-autonomous-driving/blob/4caba2bfb099c179d3efe90510edf599031abb7b/control/src/vehicle_control.c</a:t>
            </a:r>
          </a:p>
          <a:p xmlns:a="http://schemas.openxmlformats.org/drawingml/2006/main">
            <a:r>
              <a:t>https://github.com/tut-cc/tron-2026-autonomous-driving/blob/4caba2bfb099c179d3efe90510edf599031abb7b/control/include/vehicle_control.h</a:t>
            </a:r>
          </a:p>
          <a:p xmlns:a="http://schemas.openxmlformats.org/drawingml/2006/main">
            <a:r>
              <a:t>https://github.com/tut-cc/tron-2026-autonomous-driving/blob/4caba2bfb099c179d3efe90510edf599031abb7b/M85Web/Application/mini-4wd-webapp/js/ui.js</a:t>
            </a:r>
          </a:p>
          <a:p xmlns:a="http://schemas.openxmlformats.org/drawingml/2006/main">
            <a:r>
              <a:t>https://github.com/tut-cc/tron-2026-autonomous-driving/blob/4caba2bfb099c179d3efe90510edf599031abb7b/README.md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出典：</a:t>
            </a:r>
          </a:p>
          <a:p xmlns:a="http://schemas.openxmlformats.org/drawingml/2006/main">
            <a:r>
              <a:t>https://github.com/tut-cc/tron-2026-autonomous-driving/blob/4caba2bfb099c179d3efe90510edf599031abb7b/README.md</a:t>
            </a:r>
          </a:p>
          <a:p xmlns:a="http://schemas.openxmlformats.org/drawingml/2006/main">
            <a:r>
              <a:t>https://github.com/tut-cc/tron-2026-autonomous-driving/blob/4caba2bfb099c179d3efe90510edf599031abb7b/docs/system_architecture.drawio</a:t>
            </a:r>
          </a:p>
          <a:p xmlns:a="http://schemas.openxmlformats.org/drawingml/2006/main">
            <a:r>
              <a:t>https://github.com/tut-cc/tron-2026-autonomous-driving/blob/4caba2bfb099c179d3efe90510edf599031abb7b/CPU0/src/m85_gateway_task.c</a:t>
            </a:r>
          </a:p>
          <a:p xmlns:a="http://schemas.openxmlformats.org/drawingml/2006/main">
            <a:r>
              <a:t>https://github.com/tut-cc/tron-2026-autonomous-driving/blob/4caba2bfb099c179d3efe90510edf599031abb7b/CPU1/src/dualcore/bus_owner.c</a:t>
            </a:r>
          </a:p>
          <a:p xmlns:a="http://schemas.openxmlformats.org/drawingml/2006/main">
            <a:r>
              <a:t>https://github.com/tut-cc/tron-2026-autonomous-driving/blob/4caba2bfb099c179d3efe90510edf599031abb7b/control/src/control_runtime.c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出典：</a:t>
            </a:r>
          </a:p>
          <a:p xmlns:a="http://schemas.openxmlformats.org/drawingml/2006/main">
            <a:r>
              <a:t>https://github.com/tut-cc/tron-2026-autonomous-driving/blob/4caba2bfb099c179d3efe90510edf599031abb7b/README.md</a:t>
            </a:r>
          </a:p>
          <a:p xmlns:a="http://schemas.openxmlformats.org/drawingml/2006/main">
            <a:r>
              <a:t>https://github.com/tut-cc/tron-2026-autonomous-driving/blob/4caba2bfb099c179d3efe90510edf599031abb7b/docs/PIN_OWNERSHIP.md</a:t>
            </a:r>
          </a:p>
          <a:p xmlns:a="http://schemas.openxmlformats.org/drawingml/2006/main">
            <a:r>
              <a:t>https://github.com/tut-cc/tron-2026-autonomous-driving/blob/4caba2bfb099c179d3efe90510edf599031abb7b/control/include/motor_build_profile.h</a:t>
            </a:r>
          </a:p>
          <a:p xmlns:a="http://schemas.openxmlformats.org/drawingml/2006/main">
            <a:r>
              <a:t>写真：ユーザー提供 サイド.jpg。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出典：</a:t>
            </a:r>
          </a:p>
          <a:p xmlns:a="http://schemas.openxmlformats.org/drawingml/2006/main">
            <a:r>
              <a:t>https://github.com/tut-cc/tron-2026-autonomous-driving/blob/4caba2bfb099c179d3efe90510edf599031abb7b/CPU0/src/road_navigation.c</a:t>
            </a:r>
          </a:p>
          <a:p xmlns:a="http://schemas.openxmlformats.org/drawingml/2006/main">
            <a:r>
              <a:t>https://github.com/tut-cc/tron-2026-autonomous-driving/blob/4caba2bfb099c179d3efe90510edf599031abb7b/CPU0/src/autonomy_controller.c</a:t>
            </a:r>
          </a:p>
          <a:p xmlns:a="http://schemas.openxmlformats.org/drawingml/2006/main">
            <a:r>
              <a:t>https://github.com/tut-cc/tron-2026-autonomous-driving/blob/4caba2bfb099c179d3efe90510edf599031abb7b/CPU0/src/user_config.h</a:t>
            </a:r>
          </a:p>
          <a:p xmlns:a="http://schemas.openxmlformats.org/drawingml/2006/main">
            <a:r>
              <a:t>https://github.com/tut-cc/tron-2026-autonomous-driving/blob/4caba2bfb099c179d3efe90510edf599031abb7b/CPU0/src/ai_model.cc</a:t>
            </a:r>
          </a:p>
          <a:p xmlns:a="http://schemas.openxmlformats.org/drawingml/2006/main">
            <a:r>
              <a:t>https://github.com/tut-cc/tron-2026-autonomous-driving/blob/4caba2bfb099c179d3efe90510edf599031abb7b/control/src/vehicle_control.c</a:t>
            </a:r>
          </a:p>
          <a:p xmlns:a="http://schemas.openxmlformats.org/drawingml/2006/main">
            <a:r>
              <a:t>https://github.com/tut-cc/tron-2026-autonomous-driving/blob/4caba2bfb099c179d3efe90510edf599031abb7b/M85Web/Application/mini-4wd-webapp/js/ui.js</a:t>
            </a:r>
          </a:p>
          <a:p xmlns:a="http://schemas.openxmlformats.org/drawingml/2006/main">
            <a:r>
              <a:t>https://github.com/tut-cc/tron-2026-autonomous-driving/blob/4caba2bfb099c179d3efe90510edf599031abb7b/docs/HARDWARE_TEST.md</a:t>
            </a:r>
          </a:p>
          <a:p xmlns:a="http://schemas.openxmlformats.org/drawingml/2006/main">
            <a:r>
              <a:t>https://github.com/tut-cc/tron-2026-autonomous-driving/blob/4caba2bfb099c179d3efe90510edf599031abb7b/CPU0/model/README.md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出典：</a:t>
            </a:r>
          </a:p>
          <a:p xmlns:a="http://schemas.openxmlformats.org/drawingml/2006/main">
            <a:r>
              <a:t>https://github.com/tut-cc/tron-2026-autonomous-driving/blob/4caba2bfb099c179d3efe90510edf599031abb7b/control/src/control_runtime.c</a:t>
            </a:r>
          </a:p>
          <a:p xmlns:a="http://schemas.openxmlformats.org/drawingml/2006/main">
            <a:r>
              <a:t>https://github.com/tut-cc/tron-2026-autonomous-driving/blob/4caba2bfb099c179d3efe90510edf599031abb7b/control/include/vehicle_control.h</a:t>
            </a:r>
          </a:p>
          <a:p xmlns:a="http://schemas.openxmlformats.org/drawingml/2006/main">
            <a:r>
              <a:t>https://github.com/tut-cc/tron-2026-autonomous-driving/blob/4caba2bfb099c179d3efe90510edf599031abb7b/control/src/vehicle_control.c</a:t>
            </a:r>
          </a:p>
          <a:p xmlns:a="http://schemas.openxmlformats.org/drawingml/2006/main">
            <a:r>
              <a:t>https://github.com/tut-cc/tron-2026-autonomous-driving/blob/4caba2bfb099c179d3efe90510edf599031abb7b/CPU0/src/m85_gateway_task.c</a:t>
            </a:r>
          </a:p>
          <a:p xmlns:a="http://schemas.openxmlformats.org/drawingml/2006/main">
            <a:r>
              <a:t>https://github.com/tut-cc/tron-2026-autonomous-driving/blob/4caba2bfb099c179d3efe90510edf599031abb7b/docs/HARDWARE_TEST.md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出典：</a:t>
            </a:r>
          </a:p>
          <a:p xmlns:a="http://schemas.openxmlformats.org/drawingml/2006/main">
            <a:r>
              <a:t>https://github.com/tut-cc/tron-2026-autonomous-driving/blob/4caba2bfb099c179d3efe90510edf599031abb7b/README.md</a:t>
            </a:r>
          </a:p>
          <a:p xmlns:a="http://schemas.openxmlformats.org/drawingml/2006/main">
            <a:r>
              <a:t>https://github.com/tut-cc/tron-2026-autonomous-driving/blob/4caba2bfb099c179d3efe90510edf599031abb7b/control/src/control_runtime.c</a:t>
            </a:r>
          </a:p>
          <a:p xmlns:a="http://schemas.openxmlformats.org/drawingml/2006/main">
            <a:r>
              <a:t>https://github.com/tut-cc/tron-2026-autonomous-driving/blob/4caba2bfb099c179d3efe90510edf599031abb7b/control/src/vehicle_control.c</a:t>
            </a:r>
          </a:p>
          <a:p xmlns:a="http://schemas.openxmlformats.org/drawingml/2006/main">
            <a:r>
              <a:t>https://github.com/tut-cc/tron-2026-autonomous-driving/blob/4caba2bfb099c179d3efe90510edf599031abb7b/CPU0/src/ai_model.cc</a:t>
            </a:r>
          </a:p>
          <a:p xmlns:a="http://schemas.openxmlformats.org/drawingml/2006/main">
            <a:r>
              <a:t>https://github.com/tut-cc/tron-2026-autonomous-driving/blob/4caba2bfb099c179d3efe90510edf599031abb7b/CPU0/src/m85_gateway_task.c</a:t>
            </a:r>
          </a:p>
          <a:p xmlns:a="http://schemas.openxmlformats.org/drawingml/2006/main">
            <a:r>
              <a:t>https://github.com/tut-cc/tron-2026-autonomous-driving/blob/4caba2bfb099c179d3efe90510edf599031abb7b/CPU1/src/dualcore/bus_owner.c</a:t>
            </a:r>
          </a:p>
          <a:p xmlns:a="http://schemas.openxmlformats.org/drawingml/2006/main">
            <a:r>
              <a:t>https://www.tron.org/ja/programming_contest-2026/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出典：</a:t>
            </a:r>
          </a:p>
          <a:p xmlns:a="http://schemas.openxmlformats.org/drawingml/2006/main">
            <a:r>
              <a:t>https://github.com/tut-cc/tron-2026-autonomous-driving/blob/4caba2bfb099c179d3efe90510edf599031abb7b/README.md</a:t>
            </a:r>
          </a:p>
          <a:p xmlns:a="http://schemas.openxmlformats.org/drawingml/2006/main">
            <a:r>
              <a:t>https://github.com/tut-cc/tron-2026-autonomous-driving/blob/4caba2bfb099c179d3efe90510edf599031abb7b/docs/HARDWARE_TEST.md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出典：</a:t>
            </a:r>
          </a:p>
          <a:p xmlns:a="http://schemas.openxmlformats.org/drawingml/2006/main">
            <a:r>
              <a:t>https://github.com/tut-cc/tron-2026-autonomous-driving/blob/4caba2bfb099c179d3efe90510edf599031abb7b/README.md</a:t>
            </a:r>
          </a:p>
          <a:p xmlns:a="http://schemas.openxmlformats.org/drawingml/2006/main">
            <a:r>
              <a:t>写真：ユーザー提供 正面.jpg、ねじどめ.jpg。画面は撮影時の例。表示内容はモード・認識条件で変わる。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出典：</a:t>
            </a:r>
          </a:p>
          <a:p xmlns:a="http://schemas.openxmlformats.org/drawingml/2006/main">
            <a:r>
              <a:t>https://github.com/tut-cc/tron-2026-autonomous-driving/blob/4caba2bfb099c179d3efe90510edf599031abb7b/README.md</a:t>
            </a:r>
          </a:p>
          <a:p xmlns:a="http://schemas.openxmlformats.org/drawingml/2006/main">
            <a:r>
              <a:t>https://github.com/tut-cc/tron-2026-autonomous-driving/blob/4caba2bfb099c179d3efe90510edf599031abb7b/docs/PIN_OWNERSHIP.md</a:t>
            </a:r>
          </a:p>
          <a:p xmlns:a="http://schemas.openxmlformats.org/drawingml/2006/main">
            <a:r>
              <a:t>https://github.com/tut-cc/tron-2026-autonomous-driving/blob/4caba2bfb099c179d3efe90510edf599031abb7b/control/include/motor_pins_ra8p1.h</a:t>
            </a:r>
          </a:p>
          <a:p xmlns:a="http://schemas.openxmlformats.org/drawingml/2006/main">
            <a:r>
              <a:t>写真：ユーザー提供 IMG_4914.jpg。画面は撮影時の例。表示内容はモード・認識条件で変わる。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出典：</a:t>
            </a:r>
          </a:p>
          <a:p xmlns:a="http://schemas.openxmlformats.org/drawingml/2006/main">
            <a:r>
              <a:t>https://github.com/tut-cc/tron-2026-autonomous-driving/blob/4caba2bfb099c179d3efe90510edf599031abb7b/README.md</a:t>
            </a:r>
          </a:p>
          <a:p xmlns:a="http://schemas.openxmlformats.org/drawingml/2006/main">
            <a:r>
              <a:t>https://github.com/tut-cc/tron-2026-autonomous-driving/blob/4caba2bfb099c179d3efe90510edf599031abb7b/docs/PIN_OWNERSHIP.md</a:t>
            </a:r>
          </a:p>
          <a:p xmlns:a="http://schemas.openxmlformats.org/drawingml/2006/main">
            <a:r>
              <a:t>写真：ユーザー提供 IMG_4915.jpg。画面は撮影時の例。表示内容はモード・認識条件で変わる。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出典：</a:t>
            </a:r>
          </a:p>
          <a:p xmlns:a="http://schemas.openxmlformats.org/drawingml/2006/main">
            <a:r>
              <a:t>https://github.com/tut-cc/tron-2026-autonomous-driving/blob/4caba2bfb099c179d3efe90510edf599031abb7b/README.md</a:t>
            </a:r>
          </a:p>
          <a:p xmlns:a="http://schemas.openxmlformats.org/drawingml/2006/main">
            <a:r>
              <a:t>写真：ユーザー提供 上.jpg。画面は撮影時の例。表示内容はモード・認識条件で変わる。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出典：</a:t>
            </a:r>
          </a:p>
          <a:p xmlns:a="http://schemas.openxmlformats.org/drawingml/2006/main">
            <a:r>
              <a:t>https://github.com/tut-cc/tron-2026-autonomous-driving/blob/4caba2bfb099c179d3efe90510edf599031abb7b/README.md</a:t>
            </a:r>
          </a:p>
          <a:p xmlns:a="http://schemas.openxmlformats.org/drawingml/2006/main">
            <a:r>
              <a:t>https://github.com/tut-cc/tron-2026-autonomous-driving/blob/4caba2bfb099c179d3efe90510edf599031abb7b/docs/HARDWARE_TEST.md</a:t>
            </a:r>
          </a:p>
          <a:p xmlns:a="http://schemas.openxmlformats.org/drawingml/2006/main">
            <a:r>
              <a:t>写真：ユーザー提供 。画面は撮影時の例。表示内容はモード・認識条件で変わる。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出典：</a:t>
            </a:r>
          </a:p>
          <a:p xmlns:a="http://schemas.openxmlformats.org/drawingml/2006/main">
            <a:r>
              <a:t>https://github.com/tut-cc/tron-2026-autonomous-driving/blob/4caba2bfb099c179d3efe90510edf599031abb7b/README.md</a:t>
            </a:r>
          </a:p>
          <a:p xmlns:a="http://schemas.openxmlformats.org/drawingml/2006/main">
            <a:r>
              <a:t>https://github.com/tut-cc/tron-2026-autonomous-driving/blob/4caba2bfb099c179d3efe90510edf599031abb7b/docs/HARDWARE_TEST.md</a:t>
            </a:r>
          </a:p>
          <a:p xmlns:a="http://schemas.openxmlformats.org/drawingml/2006/main">
            <a:r>
              <a:t>https://github.com/tut-cc/tron-2026-autonomous-driving/blob/4caba2bfb099c179d3efe90510edf599031abb7b/M85Web/Application/mini-4wd-webapp/js/ui.js</a:t>
            </a:r>
          </a:p>
          <a:p xmlns:a="http://schemas.openxmlformats.org/drawingml/2006/main">
            <a:r>
              <a:t>写真：ユーザー提供 web1.png、web6.png。画面は撮影時の例。表示内容はモード・認識条件で変わる。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出典：</a:t>
            </a:r>
          </a:p>
          <a:p xmlns:a="http://schemas.openxmlformats.org/drawingml/2006/main">
            <a:r>
              <a:t>https://github.com/tut-cc/tron-2026-autonomous-driving/blob/4caba2bfb099c179d3efe90510edf599031abb7b/CPU0/src/autonomy_controller.c</a:t>
            </a:r>
          </a:p>
          <a:p xmlns:a="http://schemas.openxmlformats.org/drawingml/2006/main">
            <a:r>
              <a:t>https://github.com/tut-cc/tron-2026-autonomous-driving/blob/4caba2bfb099c179d3efe90510edf599031abb7b/control/src/vehicle_control.c</a:t>
            </a:r>
          </a:p>
          <a:p xmlns:a="http://schemas.openxmlformats.org/drawingml/2006/main">
            <a:r>
              <a:t>https://github.com/tut-cc/tron-2026-autonomous-driving/blob/4caba2bfb099c179d3efe90510edf599031abb7b/M85Web/Application/mini-4wd-webapp/js/ui.js</a:t>
            </a:r>
          </a:p>
          <a:p xmlns:a="http://schemas.openxmlformats.org/drawingml/2006/main">
            <a:r>
              <a:t>https://github.com/tut-cc/tron-2026-autonomous-driving/blob/4caba2bfb099c179d3efe90510edf599031abb7b/docs/HARDWARE_TEST.md</a:t>
            </a:r>
          </a:p>
          <a:p xmlns:a="http://schemas.openxmlformats.org/drawingml/2006/main">
            <a:r>
              <a:t>写真：ユーザー提供 web2.png、web3.png。画面は撮影時の例。表示内容はモード・認識条件で変わる。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出典：</a:t>
            </a:r>
          </a:p>
          <a:p xmlns:a="http://schemas.openxmlformats.org/drawingml/2006/main">
            <a:r>
              <a:t>https://github.com/tut-cc/tron-2026-autonomous-driving/blob/4caba2bfb099c179d3efe90510edf599031abb7b/control/src/vehicle_control.c</a:t>
            </a:r>
          </a:p>
          <a:p xmlns:a="http://schemas.openxmlformats.org/drawingml/2006/main">
            <a:r>
              <a:t>https://github.com/tut-cc/tron-2026-autonomous-driving/blob/4caba2bfb099c179d3efe90510edf599031abb7b/control/include/vehicle_control.h</a:t>
            </a:r>
          </a:p>
          <a:p xmlns:a="http://schemas.openxmlformats.org/drawingml/2006/main">
            <a:r>
              <a:t>https://github.com/tut-cc/tron-2026-autonomous-driving/blob/4caba2bfb099c179d3efe90510edf599031abb7b/M85Web/Application/mini-4wd-webapp/js/ui.js</a:t>
            </a:r>
          </a:p>
          <a:p xmlns:a="http://schemas.openxmlformats.org/drawingml/2006/main">
            <a:r>
              <a:t>https://github.com/tut-cc/tron-2026-autonomous-driving/blob/4caba2bfb099c179d3efe90510edf599031abb7b/docs/HARDWARE_TEST.md</a:t>
            </a:r>
          </a:p>
          <a:p xmlns:a="http://schemas.openxmlformats.org/drawingml/2006/main">
            <a:r>
              <a:t>写真：ユーザー提供 web4.png。画面は撮影時の例。表示内容はモード・認識条件で変わる。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出典：</a:t>
            </a:r>
          </a:p>
          <a:p xmlns:a="http://schemas.openxmlformats.org/drawingml/2006/main">
            <a:r>
              <a:t>https://github.com/tut-cc/tron-2026-autonomous-driving/blob/4caba2bfb099c179d3efe90510edf599031abb7b/README.md</a:t>
            </a:r>
          </a:p>
          <a:p xmlns:a="http://schemas.openxmlformats.org/drawingml/2006/main">
            <a:r>
              <a:t>https://github.com/tut-cc/tron-2026-autonomous-driving/blob/4caba2bfb099c179d3efe90510edf599031abb7b/control/include/vehicle_control.h</a:t>
            </a:r>
          </a:p>
          <a:p xmlns:a="http://schemas.openxmlformats.org/drawingml/2006/main">
            <a:r>
              <a:t>https://github.com/tut-cc/tron-2026-autonomous-driving/blob/4caba2bfb099c179d3efe90510edf599031abb7b/control/src/vehicle_control.c</a:t>
            </a:r>
          </a:p>
          <a:p xmlns:a="http://schemas.openxmlformats.org/drawingml/2006/main">
            <a:r>
              <a:t>https://github.com/tut-cc/tron-2026-autonomous-driving/blob/4caba2bfb099c179d3efe90510edf599031abb7b/docs/HARDWARE_TEST.md</a:t>
            </a:r>
          </a:p>
          <a:p xmlns:a="http://schemas.openxmlformats.org/drawingml/2006/main">
            <a:r>
              <a:t>写真：ユーザー提供 web5.png。画面は撮影時の例。表示内容はモード・認識条件で変わる。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出典：</a:t>
            </a:r>
          </a:p>
          <a:p xmlns:a="http://schemas.openxmlformats.org/drawingml/2006/main">
            <a:r>
              <a:t>https://github.com/tut-cc/tron-2026-autonomous-driving/blob/4caba2bfb099c179d3efe90510edf599031abb7b/docs/GITHUB_SETUP.md</a:t>
            </a:r>
          </a:p>
          <a:p xmlns:a="http://schemas.openxmlformats.org/drawingml/2006/main">
            <a:r>
              <a:t>https://github.com/tut-cc/tron-2026-autonomous-driving/blob/4caba2bfb099c179d3efe90510edf599031abb7b/docs/HARDWARE_TEST.md</a:t>
            </a:r>
          </a:p>
          <a:p xmlns:a="http://schemas.openxmlformats.org/drawingml/2006/main">
            <a:r>
              <a:t>https://github.com/tut-cc/tron-2026-autonomous-driving/blob/4caba2bfb099c179d3efe90510edf599031abb7b/README.md</a:t>
            </a:r>
          </a:p>
          <a:p xmlns:a="http://schemas.openxmlformats.org/drawingml/2006/main">
            <a:r>
              <a:t>https://github.com/tut-cc/tron-2026-autonomous-driving/blob/4caba2bfb099c179d3efe90510edf599031abb7b/LICENSE</a:t>
            </a:r>
          </a:p>
          <a:p xmlns:a="http://schemas.openxmlformats.org/drawingml/2006/main">
            <a:r>
              <a:t>https://github.com/tut-cc/tron-2026-autonomous-driving/blob/4caba2bfb099c179d3efe90510edf599031abb7b/NOTICE.md</a:t>
            </a:r>
          </a:p>
          <a:p xmlns:a="http://schemas.openxmlformats.org/drawingml/2006/main">
            <a:r>
              <a:t>https://github.com/tut-cc/tron-2026-autonomous-driving/blob/4caba2bfb099c179d3efe90510edf599031abb7b/CPU0/model/README.md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出典：</a:t>
            </a:r>
          </a:p>
          <a:p xmlns:a="http://schemas.openxmlformats.org/drawingml/2006/main">
            <a:r>
              <a:t>https://github.com/tut-cc/tron-2026-autonomous-driving/blob/4caba2bfb099c179d3efe90510edf599031abb7b/README.md</a:t>
            </a:r>
          </a:p>
          <a:p xmlns:a="http://schemas.openxmlformats.org/drawingml/2006/main">
            <a:r>
              <a:t>https://github.com/tut-cc/tron-2026-autonomous-driving/blob/4caba2bfb099c179d3efe90510edf599031abb7b/control/src/control_runtime.c</a:t>
            </a:r>
          </a:p>
          <a:p xmlns:a="http://schemas.openxmlformats.org/drawingml/2006/main">
            <a:r>
              <a:t>https://github.com/tut-cc/tron-2026-autonomous-driving/blob/4caba2bfb099c179d3efe90510edf599031abb7b/docs/HARDWARE_TEST.md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b882bc931644f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109ca9baeae4200" /><Relationship Type="http://schemas.openxmlformats.org/officeDocument/2006/relationships/slideLayout" Target="/ppt/slideLayouts/slideLayout1.xml" Id="R67a26ade8bb5441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7a26ade8bb5441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6da947dabf49e6" /><Relationship Type="http://schemas.openxmlformats.org/officeDocument/2006/relationships/notesSlide" Target="/ppt/notesSlides/notesSlide1.xml" Id="Rc6fa1cdc5ec7484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c061bb2e2b40dc" /><Relationship Type="http://schemas.openxmlformats.org/officeDocument/2006/relationships/notesSlide" Target="/ppt/notesSlides/notesSlide2.xml" Id="R4d49c6ad8b32419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4d12ce88aa48e1" /><Relationship Type="http://schemas.openxmlformats.org/officeDocument/2006/relationships/notesSlide" Target="/ppt/notesSlides/notesSlide3.xml" Id="Rc35f4384d14c47e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5998a25e7347f6" /><Relationship Type="http://schemas.openxmlformats.org/officeDocument/2006/relationships/notesSlide" Target="/ppt/notesSlides/notesSlide4.xml" Id="Ra8ef9fc5fe9f4c8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3a005dfe044b4c" /><Relationship Type="http://schemas.openxmlformats.org/officeDocument/2006/relationships/notesSlide" Target="/ppt/notesSlides/notesSlide5.xml" Id="R52b538b1d19b481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1e1fd80b81435f" /><Relationship Type="http://schemas.openxmlformats.org/officeDocument/2006/relationships/image" Target="/ppt/media/image.jpeg" Id="R7d7459a668834954" /><Relationship Type="http://schemas.openxmlformats.org/officeDocument/2006/relationships/notesSlide" Target="/ppt/notesSlides/notesSlide6.xml" Id="R57c74db87bcf4d9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1bdf8fca1b49e3" /><Relationship Type="http://schemas.openxmlformats.org/officeDocument/2006/relationships/notesSlide" Target="/ppt/notesSlides/notesSlide7.xml" Id="R08c05bc6fbe5495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4fdd0f0e4d4725" /><Relationship Type="http://schemas.openxmlformats.org/officeDocument/2006/relationships/notesSlide" Target="/ppt/notesSlides/notesSlide8.xml" Id="Rd3a528d1c3b24bc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06b01b08224fe6" /><Relationship Type="http://schemas.openxmlformats.org/officeDocument/2006/relationships/notesSlide" Target="/ppt/notesSlides/notesSlide9.xml" Id="Rab95f2fa6a5743c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72c2b2d04b4d1c" /><Relationship Type="http://schemas.openxmlformats.org/officeDocument/2006/relationships/notesSlide" Target="/ppt/notesSlides/notesSlide10.xml" Id="R538e9e48b3a44a7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fdec701a8c4711" /><Relationship Type="http://schemas.openxmlformats.org/officeDocument/2006/relationships/image" Target="/ppt/media/image2.jpeg" Id="Re3e748543d4f4ca5" /><Relationship Type="http://schemas.openxmlformats.org/officeDocument/2006/relationships/image" Target="/ppt/media/image3.jpeg" Id="Reb6bdee499b544ff" /><Relationship Type="http://schemas.openxmlformats.org/officeDocument/2006/relationships/notesSlide" Target="/ppt/notesSlides/notesSlide11.xml" Id="R755ac80c9f614d9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123112d3a040da" /><Relationship Type="http://schemas.openxmlformats.org/officeDocument/2006/relationships/image" Target="/ppt/media/image4.jpeg" Id="Rbf76b82e950246ef" /><Relationship Type="http://schemas.openxmlformats.org/officeDocument/2006/relationships/notesSlide" Target="/ppt/notesSlides/notesSlide12.xml" Id="Red1890964be84a7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b3b54b96be4b64" /><Relationship Type="http://schemas.openxmlformats.org/officeDocument/2006/relationships/image" Target="/ppt/media/image5.jpeg" Id="R8f44c02a94784eaa" /><Relationship Type="http://schemas.openxmlformats.org/officeDocument/2006/relationships/notesSlide" Target="/ppt/notesSlides/notesSlide13.xml" Id="R29ef940422b643d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9b2aaff2df4e14" /><Relationship Type="http://schemas.openxmlformats.org/officeDocument/2006/relationships/image" Target="/ppt/media/image6.jpeg" Id="Rfecf28090fb94bdd" /><Relationship Type="http://schemas.openxmlformats.org/officeDocument/2006/relationships/notesSlide" Target="/ppt/notesSlides/notesSlide14.xml" Id="R160e268bc3f6431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020ef3f5044b44" /><Relationship Type="http://schemas.openxmlformats.org/officeDocument/2006/relationships/notesSlide" Target="/ppt/notesSlides/notesSlide15.xml" Id="Rcbecee72d46247e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ebe99ffec94d99" /><Relationship Type="http://schemas.openxmlformats.org/officeDocument/2006/relationships/image" Target="/ppt/media/image.png" Id="Rce36ed10c36442f1" /><Relationship Type="http://schemas.openxmlformats.org/officeDocument/2006/relationships/image" Target="/ppt/media/image2.png" Id="Rad57efb37acf46c0" /><Relationship Type="http://schemas.openxmlformats.org/officeDocument/2006/relationships/notesSlide" Target="/ppt/notesSlides/notesSlide16.xml" Id="Ra24d7a3a9ae9426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e954c7b8054889" /><Relationship Type="http://schemas.openxmlformats.org/officeDocument/2006/relationships/image" Target="/ppt/media/image3.png" Id="R12957f4c37094e05" /><Relationship Type="http://schemas.openxmlformats.org/officeDocument/2006/relationships/image" Target="/ppt/media/image4.png" Id="Ra65019a2d6f8451d" /><Relationship Type="http://schemas.openxmlformats.org/officeDocument/2006/relationships/notesSlide" Target="/ppt/notesSlides/notesSlide17.xml" Id="R6d220cfee475430f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8e1bfe1323471c" /><Relationship Type="http://schemas.openxmlformats.org/officeDocument/2006/relationships/image" Target="/ppt/media/image5.png" Id="Rc7fcc2de2d624275" /><Relationship Type="http://schemas.openxmlformats.org/officeDocument/2006/relationships/notesSlide" Target="/ppt/notesSlides/notesSlide18.xml" Id="R44105d23edc64204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0925ff13044888" /><Relationship Type="http://schemas.openxmlformats.org/officeDocument/2006/relationships/image" Target="/ppt/media/image6.png" Id="Rcef85fbf88874cbc" /><Relationship Type="http://schemas.openxmlformats.org/officeDocument/2006/relationships/notesSlide" Target="/ppt/notesSlides/notesSlide19.xml" Id="R78e8bfc7891246ce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1da0f9eda340b0" /><Relationship Type="http://schemas.openxmlformats.org/officeDocument/2006/relationships/notesSlide" Target="/ppt/notesSlides/notesSlide20.xml" Id="R0edfdb6bde5a4916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d947783ac74a90" /><Relationship Type="http://schemas.openxmlformats.org/officeDocument/2006/relationships/notesSlide" Target="/ppt/notesSlides/notesSlide21.xml" Id="R33ddac74462d431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自動運転&#10;バトンタッチ">
            <a:extLst xmlns:a="http://schemas.openxmlformats.org/drawingml/2006/main">
              <a:ext uri="{FF2B5EF4-FFF2-40B4-BE49-F238E27FC236}">
                <a16:creationId xmlns:a16="http://schemas.microsoft.com/office/drawing/2014/main" id="{536D747C-D19D-4DF5-93B9-A8A5FEB90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400" b="1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5400" b="1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自動運転バトンタッチ</a:t>
            </a:r>
          </a:p>
        </p:txBody>
      </p:sp>
      <p:sp>
        <p:nvSpPr>
          <p:cNvPr id="2" name="組み立て式の&#10;自動運転体験教材">
            <a:extLst xmlns:a="http://schemas.openxmlformats.org/drawingml/2006/main">
              <a:ext uri="{FF2B5EF4-FFF2-40B4-BE49-F238E27FC236}">
                <a16:creationId xmlns:a16="http://schemas.microsoft.com/office/drawing/2014/main" id="{B07D4B48-F0C6-46A7-B61F-4E5FFA682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90875"/>
            <a:ext cx="10896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0">
                <a:solidFill>
                  <a:srgbClr val="007F83"/>
                </a:solidFill>
                <a:latin typeface="Noto Sans JP"/>
                <a:ea typeface="Noto Sans JP"/>
                <a:cs typeface="Noto Sans JP"/>
              </a:defRPr>
            </a:pPr>
            <a:r>
              <a:rPr sz="2700" b="0">
                <a:solidFill>
                  <a:srgbClr val="007F83"/>
                </a:solidFill>
                <a:latin typeface="Noto Sans JP"/>
                <a:ea typeface="Noto Sans JP"/>
                <a:cs typeface="Noto Sans JP"/>
              </a:rPr>
              <a:t>組み立て式の自動運転体験教材</a:t>
            </a:r>
          </a:p>
        </p:txBody>
      </p:sp>
      <p:sp>
        <p:nvSpPr>
          <p:cNvPr id="3" name="TRON Programming Contest 2026&#10;応募作品">
            <a:extLst xmlns:a="http://schemas.openxmlformats.org/drawingml/2006/main">
              <a:ext uri="{FF2B5EF4-FFF2-40B4-BE49-F238E27FC236}">
                <a16:creationId xmlns:a16="http://schemas.microsoft.com/office/drawing/2014/main" id="{A44D2BA8-CD82-47D0-82CF-13D359A70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734050"/>
            <a:ext cx="10896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rPr>
              <a:t>TRONプログラミングコンテスト2026</a:t>
            </a:r>
          </a:p>
        </p:txBody>
      </p:sp>
      <p:sp>
        <p:nvSpPr>
          <p:cNvPr id="6" name="自動走行・停止・人への引き継ぎを、一台の車両で体験する。">
            <a:extLst xmlns:a="http://schemas.openxmlformats.org/drawingml/2006/main">
              <a:ext uri="{FF2B5EF4-FFF2-40B4-BE49-F238E27FC236}">
                <a16:creationId xmlns:a16="http://schemas.microsoft.com/office/drawing/2014/main" id="{BDB4C0EC-E625-4CF8-8C81-7F4726D5E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91000"/>
            <a:ext cx="10896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defRPr>
            </a:pPr>
            <a:r>
              <a:rPr sz="210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rPr>
              <a:t>自動走行・停止・人への引き継ぎを、一台の車両で体験する。</a:t>
            </a:r>
          </a:p>
        </p:txBody>
      </p:sp>
    </p:spTree>
    <p:extLst>
      <p:ext uri="{BB962C8B-B14F-4D97-AF65-F5344CB8AC3E}">
        <p14:creationId xmlns:p14="http://schemas.microsoft.com/office/powerpoint/2010/main" val="4568147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background-title">
            <a:extLst xmlns:a="http://schemas.openxmlformats.org/drawingml/2006/main">
              <a:ext uri="{FF2B5EF4-FFF2-40B4-BE49-F238E27FC236}">
                <a16:creationId xmlns:a16="http://schemas.microsoft.com/office/drawing/2014/main" id="{3DFFC7C0-26FC-45D8-88CC-5279A572B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72A3F"/>
                </a:solidFill>
                <a:latin typeface="Noto Sans JP"/>
                <a:ea typeface="Noto Sans JP"/>
                <a:cs typeface="Noto Sans JP"/>
              </a:defRPr>
            </a:pPr>
            <a:r>
              <a:rPr sz="3300" b="1">
                <a:solidFill>
                  <a:srgbClr val="172A3F"/>
                </a:solidFill>
                <a:latin typeface="Noto Sans JP"/>
                <a:ea typeface="Noto Sans JP"/>
                <a:cs typeface="Noto Sans JP"/>
              </a:rPr>
              <a:t>開発の背景</a:t>
            </a:r>
          </a:p>
        </p:txBody>
      </p:sp>
      <p:sp>
        <p:nvSpPr>
          <p:cNvPr id="2" name="background-message">
            <a:extLst xmlns:a="http://schemas.openxmlformats.org/drawingml/2006/main">
              <a:ext uri="{FF2B5EF4-FFF2-40B4-BE49-F238E27FC236}">
                <a16:creationId xmlns:a16="http://schemas.microsoft.com/office/drawing/2014/main" id="{093B3502-C78A-43DD-BEF3-80E4D5EF8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00150"/>
            <a:ext cx="10934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00858C"/>
                </a:solidFill>
                <a:latin typeface="Noto Sans JP"/>
                <a:ea typeface="Noto Sans JP"/>
                <a:cs typeface="Noto Sans JP"/>
              </a:defRPr>
            </a:pPr>
            <a:r>
              <a:rPr sz="2100" b="0">
                <a:solidFill>
                  <a:srgbClr val="00858C"/>
                </a:solidFill>
                <a:latin typeface="Noto Sans JP"/>
                <a:ea typeface="Noto Sans JP"/>
                <a:cs typeface="Noto Sans JP"/>
              </a:rPr>
              <a:t>自動化の広がりに合わせて、人の役割を学ぶ入口が必要。</a:t>
            </a:r>
          </a:p>
        </p:txBody>
      </p:sp>
      <p:sp>
        <p:nvSpPr>
          <p:cNvPr id="3" name="taxi-introduction">
            <a:extLst xmlns:a="http://schemas.openxmlformats.org/drawingml/2006/main">
              <a:ext uri="{FF2B5EF4-FFF2-40B4-BE49-F238E27FC236}">
                <a16:creationId xmlns:a16="http://schemas.microsoft.com/office/drawing/2014/main" id="{187FD132-922A-4309-B775-0CAF9FF92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38350"/>
            <a:ext cx="590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00858C"/>
                </a:solidFill>
                <a:latin typeface="Noto Sans JP"/>
                <a:ea typeface="Noto Sans JP"/>
                <a:cs typeface="Noto Sans JP"/>
              </a:defRPr>
            </a:pPr>
            <a:r>
              <a:rPr sz="2175" b="1">
                <a:solidFill>
                  <a:srgbClr val="00858C"/>
                </a:solidFill>
                <a:latin typeface="Noto Sans JP"/>
                <a:ea typeface="Noto Sans JP"/>
                <a:cs typeface="Noto Sans JP"/>
              </a:rPr>
              <a:t>米国では自動運転タクシーが運行</a:t>
            </a:r>
          </a:p>
        </p:txBody>
      </p:sp>
      <p:sp>
        <p:nvSpPr>
          <p:cNvPr id="4" name="waymo-2025-rides">
            <a:extLst xmlns:a="http://schemas.openxmlformats.org/drawingml/2006/main">
              <a:ext uri="{FF2B5EF4-FFF2-40B4-BE49-F238E27FC236}">
                <a16:creationId xmlns:a16="http://schemas.microsoft.com/office/drawing/2014/main" id="{683122B0-469A-45C3-8E76-F917076F2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43175"/>
            <a:ext cx="581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400" b="1">
                <a:solidFill>
                  <a:srgbClr val="172A3F"/>
                </a:solidFill>
                <a:latin typeface="Noto Sans JP"/>
                <a:ea typeface="Noto Sans JP"/>
                <a:cs typeface="Noto Sans JP"/>
              </a:defRPr>
            </a:pPr>
            <a:r>
              <a:rPr sz="5400" b="1">
                <a:solidFill>
                  <a:srgbClr val="172A3F"/>
                </a:solidFill>
                <a:latin typeface="Noto Sans JP"/>
                <a:ea typeface="Noto Sans JP"/>
                <a:cs typeface="Noto Sans JP"/>
              </a:rPr>
              <a:t>1,500万回</a:t>
            </a:r>
          </a:p>
        </p:txBody>
      </p:sp>
      <p:sp>
        <p:nvSpPr>
          <p:cNvPr id="5" name="waymo-label">
            <a:extLst xmlns:a="http://schemas.openxmlformats.org/drawingml/2006/main">
              <a:ext uri="{FF2B5EF4-FFF2-40B4-BE49-F238E27FC236}">
                <a16:creationId xmlns:a16="http://schemas.microsoft.com/office/drawing/2014/main" id="{48E59041-2135-42C0-A220-5EA5A5106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33775"/>
            <a:ext cx="58102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526273"/>
                </a:solidFill>
                <a:latin typeface="Noto Sans JP"/>
                <a:ea typeface="Noto Sans JP"/>
                <a:cs typeface="Noto Sans JP"/>
              </a:defRPr>
            </a:pPr>
            <a:r>
              <a:rPr sz="1875" b="0">
                <a:solidFill>
                  <a:srgbClr val="526273"/>
                </a:solidFill>
                <a:latin typeface="Noto Sans JP"/>
                <a:ea typeface="Noto Sans JP"/>
                <a:cs typeface="Noto Sans JP"/>
              </a:rPr>
              <a:t>Waymoの2025年利用実績（同社公表）</a:t>
            </a:r>
          </a:p>
        </p:txBody>
      </p:sp>
      <p:sp>
        <p:nvSpPr>
          <p:cNvPr id="6" name="autonomy-benefits">
            <a:extLst xmlns:a="http://schemas.openxmlformats.org/drawingml/2006/main">
              <a:ext uri="{FF2B5EF4-FFF2-40B4-BE49-F238E27FC236}">
                <a16:creationId xmlns:a16="http://schemas.microsoft.com/office/drawing/2014/main" id="{F9A09613-D27E-4472-A71C-E95FCF870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71950"/>
            <a:ext cx="5810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defRPr>
            </a:pPr>
            <a:r>
              <a:rPr sz="195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rPr>
              <a:t>移動の負担軽減や交通事故の削減が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defRPr>
            </a:pPr>
            <a:r>
              <a:rPr sz="195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rPr>
              <a:t>期待され、社会での利用が広がっている。</a:t>
            </a:r>
          </a:p>
        </p:txBody>
      </p:sp>
      <p:sp>
        <p:nvSpPr>
          <p:cNvPr id="7" name="human-roles">
            <a:extLst xmlns:a="http://schemas.openxmlformats.org/drawingml/2006/main">
              <a:ext uri="{FF2B5EF4-FFF2-40B4-BE49-F238E27FC236}">
                <a16:creationId xmlns:a16="http://schemas.microsoft.com/office/drawing/2014/main" id="{5C21A4E3-F4A7-4996-9792-11258A51A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038350"/>
            <a:ext cx="447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0858C"/>
                </a:solidFill>
                <a:latin typeface="Noto Sans JP"/>
                <a:ea typeface="Noto Sans JP"/>
                <a:cs typeface="Noto Sans JP"/>
              </a:defRPr>
            </a:pPr>
            <a:r>
              <a:rPr sz="2025" b="1">
                <a:solidFill>
                  <a:srgbClr val="00858C"/>
                </a:solidFill>
                <a:latin typeface="Noto Sans JP"/>
                <a:ea typeface="Noto Sans JP"/>
                <a:cs typeface="Noto Sans JP"/>
              </a:rPr>
              <a:t>自動化の程度で、人の役割が変わる</a:t>
            </a:r>
          </a:p>
        </p:txBody>
      </p:sp>
      <p:sp>
        <p:nvSpPr>
          <p:cNvPr id="8" name="level2-label">
            <a:extLst xmlns:a="http://schemas.openxmlformats.org/drawingml/2006/main">
              <a:ext uri="{FF2B5EF4-FFF2-40B4-BE49-F238E27FC236}">
                <a16:creationId xmlns:a16="http://schemas.microsoft.com/office/drawing/2014/main" id="{9861CDC6-4B99-45D8-A835-24FB24D9D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657475"/>
            <a:ext cx="44196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A3F"/>
                </a:solidFill>
                <a:latin typeface="Noto Sans JP"/>
                <a:ea typeface="Noto Sans JP"/>
                <a:cs typeface="Noto Sans JP"/>
              </a:defRPr>
            </a:pPr>
            <a:r>
              <a:rPr sz="2100" b="1">
                <a:solidFill>
                  <a:srgbClr val="172A3F"/>
                </a:solidFill>
                <a:latin typeface="Noto Sans JP"/>
                <a:ea typeface="Noto Sans JP"/>
                <a:cs typeface="Noto Sans JP"/>
              </a:rPr>
              <a:t>レベル2：周囲の監視</a:t>
            </a:r>
          </a:p>
        </p:txBody>
      </p:sp>
      <p:sp>
        <p:nvSpPr>
          <p:cNvPr id="9" name="level2-body">
            <a:extLst xmlns:a="http://schemas.openxmlformats.org/drawingml/2006/main">
              <a:ext uri="{FF2B5EF4-FFF2-40B4-BE49-F238E27FC236}">
                <a16:creationId xmlns:a16="http://schemas.microsoft.com/office/drawing/2014/main" id="{A35A68D7-7A43-47CF-87CE-57C5D4A6A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105150"/>
            <a:ext cx="4419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defRPr>
            </a:pPr>
            <a:r>
              <a:rPr sz="195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rPr>
              <a:t>運転者が常に周囲を監視する。</a:t>
            </a:r>
          </a:p>
        </p:txBody>
      </p:sp>
      <p:sp>
        <p:nvSpPr>
          <p:cNvPr id="10" name="level3-label">
            <a:extLst xmlns:a="http://schemas.openxmlformats.org/drawingml/2006/main">
              <a:ext uri="{FF2B5EF4-FFF2-40B4-BE49-F238E27FC236}">
                <a16:creationId xmlns:a16="http://schemas.microsoft.com/office/drawing/2014/main" id="{1A3E1767-46A4-41F2-99EB-DE813A7A5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714750"/>
            <a:ext cx="441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A3F"/>
                </a:solidFill>
                <a:latin typeface="Noto Sans JP"/>
                <a:ea typeface="Noto Sans JP"/>
                <a:cs typeface="Noto Sans JP"/>
              </a:defRPr>
            </a:pPr>
            <a:r>
              <a:rPr sz="2100" b="1">
                <a:solidFill>
                  <a:srgbClr val="172A3F"/>
                </a:solidFill>
                <a:latin typeface="Noto Sans JP"/>
                <a:ea typeface="Noto Sans JP"/>
                <a:cs typeface="Noto Sans JP"/>
              </a:rPr>
              <a:t>レベル3：運転の引き継ぎ</a:t>
            </a:r>
          </a:p>
        </p:txBody>
      </p:sp>
      <p:sp>
        <p:nvSpPr>
          <p:cNvPr id="11" name="level3-body">
            <a:extLst xmlns:a="http://schemas.openxmlformats.org/drawingml/2006/main">
              <a:ext uri="{FF2B5EF4-FFF2-40B4-BE49-F238E27FC236}">
                <a16:creationId xmlns:a16="http://schemas.microsoft.com/office/drawing/2014/main" id="{1D0D0330-5F04-4EB4-8421-825F927D6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171950"/>
            <a:ext cx="4419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defRPr>
            </a:pPr>
            <a:r>
              <a:rPr sz="195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rPr>
              <a:t>システムの要求に応じて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defRPr>
            </a:pPr>
            <a:r>
              <a:rPr sz="195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rPr>
              <a:t>人が運転を引き継ぐ。</a:t>
            </a:r>
          </a:p>
        </p:txBody>
      </p:sp>
      <p:sp>
        <p:nvSpPr>
          <p:cNvPr id="12" name="educational-purpose">
            <a:extLst xmlns:a="http://schemas.openxmlformats.org/drawingml/2006/main">
              <a:ext uri="{FF2B5EF4-FFF2-40B4-BE49-F238E27FC236}">
                <a16:creationId xmlns:a16="http://schemas.microsoft.com/office/drawing/2014/main" id="{2B4E0D1B-1343-4E43-9F56-087C19939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00650"/>
            <a:ext cx="1095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00858C"/>
                </a:solidFill>
                <a:latin typeface="Noto Sans JP"/>
                <a:ea typeface="Noto Sans JP"/>
                <a:cs typeface="Noto Sans JP"/>
              </a:defRPr>
            </a:pPr>
            <a:r>
              <a:rPr sz="2325" b="1">
                <a:solidFill>
                  <a:srgbClr val="00858C"/>
                </a:solidFill>
                <a:latin typeface="Noto Sans JP"/>
                <a:ea typeface="Noto Sans JP"/>
                <a:cs typeface="Noto Sans JP"/>
              </a:rPr>
              <a:t>中高生が「いつ人が判断するか」を考える教材へ</a:t>
            </a:r>
          </a:p>
        </p:txBody>
      </p:sp>
      <p:sp>
        <p:nvSpPr>
          <p:cNvPr id="13" name="learning-experience">
            <a:extLst xmlns:a="http://schemas.openxmlformats.org/drawingml/2006/main">
              <a:ext uri="{FF2B5EF4-FFF2-40B4-BE49-F238E27FC236}">
                <a16:creationId xmlns:a16="http://schemas.microsoft.com/office/drawing/2014/main" id="{03016AE5-18BF-4D4F-A56E-48C65294F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724525"/>
            <a:ext cx="1085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72A3F"/>
                </a:solidFill>
                <a:latin typeface="Noto Sans JP"/>
                <a:ea typeface="Noto Sans JP"/>
                <a:cs typeface="Noto Sans JP"/>
              </a:defRPr>
            </a:pPr>
            <a:r>
              <a:rPr sz="1950" b="0">
                <a:solidFill>
                  <a:srgbClr val="172A3F"/>
                </a:solidFill>
                <a:latin typeface="Noto Sans JP"/>
                <a:ea typeface="Noto Sans JP"/>
                <a:cs typeface="Noto Sans JP"/>
              </a:rPr>
              <a:t>自動走行、警告、停止、手動引き継ぎを模型で確かめる。</a:t>
            </a:r>
          </a:p>
        </p:txBody>
      </p:sp>
      <p:sp>
        <p:nvSpPr>
          <p:cNvPr id="14" name="waymo-source">
            <a:extLst xmlns:a="http://schemas.openxmlformats.org/drawingml/2006/main">
              <a:ext uri="{FF2B5EF4-FFF2-40B4-BE49-F238E27FC236}">
                <a16:creationId xmlns:a16="http://schemas.microsoft.com/office/drawing/2014/main" id="{94E44D14-0B04-424B-B5A4-A8173D309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219825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defRPr>
            </a:pPr>
            <a:r>
              <a:rPr sz="105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rPr>
              <a:t>出典：Waymo「2025 year in review」 https://waymo.com/blog/2025/12/2025-year-in-review/</a:t>
            </a:r>
          </a:p>
        </p:txBody>
      </p:sp>
      <p:sp>
        <p:nvSpPr>
          <p:cNvPr id="15" name="nhtsa-source">
            <a:extLst xmlns:a="http://schemas.openxmlformats.org/drawingml/2006/main">
              <a:ext uri="{FF2B5EF4-FFF2-40B4-BE49-F238E27FC236}">
                <a16:creationId xmlns:a16="http://schemas.microsoft.com/office/drawing/2014/main" id="{22705DA8-EB88-431E-B6F9-0629EE2D1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3890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defRPr>
            </a:pPr>
            <a:r>
              <a:rPr sz="105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rPr>
              <a:t>出典：NHTSA「Automated Vehicle Safety」 https://www.nhtsa.gov/vehicle-safety/automated-vehicle-safety</a:t>
            </a:r>
          </a:p>
        </p:txBody>
      </p:sp>
      <p:sp>
        <p:nvSpPr>
          <p:cNvPr id="16" name="background-page">
            <a:extLst xmlns:a="http://schemas.openxmlformats.org/drawingml/2006/main">
              <a:ext uri="{FF2B5EF4-FFF2-40B4-BE49-F238E27FC236}">
                <a16:creationId xmlns:a16="http://schemas.microsoft.com/office/drawing/2014/main" id="{1C32B9C1-7CB8-4109-8B01-F67C6BD85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2937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defRPr>
            </a:pPr>
            <a:r>
              <a:rPr sz="135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7562796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作品の目的">
            <a:extLst xmlns:a="http://schemas.openxmlformats.org/drawingml/2006/main">
              <a:ext uri="{FF2B5EF4-FFF2-40B4-BE49-F238E27FC236}">
                <a16:creationId xmlns:a16="http://schemas.microsoft.com/office/drawing/2014/main" id="{F87D3287-3074-4995-AD42-599C115EB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3300" b="1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作品の目的</a:t>
            </a:r>
          </a:p>
        </p:txBody>
      </p:sp>
      <p:sp>
        <p:nvSpPr>
          <p:cNvPr id="2" name="人が引き継ぐ場面まで、自分で確かめる。">
            <a:extLst xmlns:a="http://schemas.openxmlformats.org/drawingml/2006/main">
              <a:ext uri="{FF2B5EF4-FFF2-40B4-BE49-F238E27FC236}">
                <a16:creationId xmlns:a16="http://schemas.microsoft.com/office/drawing/2014/main" id="{BDAD0DC2-227F-4B5E-A14E-FC343EA7E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00150"/>
            <a:ext cx="10934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007F83"/>
                </a:solidFill>
                <a:latin typeface="Noto Sans JP"/>
                <a:ea typeface="Noto Sans JP"/>
                <a:cs typeface="Noto Sans JP"/>
              </a:defRPr>
            </a:pPr>
            <a:r>
              <a:rPr sz="2100" b="0">
                <a:solidFill>
                  <a:srgbClr val="007F83"/>
                </a:solidFill>
                <a:latin typeface="Noto Sans JP"/>
                <a:ea typeface="Noto Sans JP"/>
                <a:cs typeface="Noto Sans JP"/>
              </a:rPr>
              <a:t>中高生が、人への運転引き継ぎを模型で体験する。</a:t>
            </a:r>
          </a:p>
        </p:txBody>
      </p:sp>
      <p:sp>
        <p:nvSpPr>
          <p:cNvPr id="3" name="02">
            <a:extLst xmlns:a="http://schemas.openxmlformats.org/drawingml/2006/main">
              <a:ext uri="{FF2B5EF4-FFF2-40B4-BE49-F238E27FC236}">
                <a16:creationId xmlns:a16="http://schemas.microsoft.com/office/drawing/2014/main" id="{88C5EA73-2F70-45CE-A9EB-EA62F67A3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2937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defRPr>
            </a:pPr>
            <a:r>
              <a:rPr sz="135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rPr>
              <a:t>03</a:t>
            </a:r>
          </a:p>
        </p:txBody>
      </p:sp>
      <p:sp>
        <p:nvSpPr>
          <p:cNvPr id="4" name="自動運転と人の&#10;境界面を体験する">
            <a:extLst xmlns:a="http://schemas.openxmlformats.org/drawingml/2006/main">
              <a:ext uri="{FF2B5EF4-FFF2-40B4-BE49-F238E27FC236}">
                <a16:creationId xmlns:a16="http://schemas.microsoft.com/office/drawing/2014/main" id="{8B6D9926-1EE9-4DF1-BED3-06FEEA6F1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71725"/>
            <a:ext cx="609600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3900" b="1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自動運転と人の</a:t>
            </a:r>
          </a:p>
          <a:p xmlns:a="http://schemas.openxmlformats.org/drawingml/2006/main">
            <a:pPr algn="l">
              <a:buNone/>
              <a:defRPr sz="3900" b="1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3900" b="1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境界面を体験する</a:t>
            </a:r>
          </a:p>
        </p:txBody>
      </p:sp>
      <p:sp>
        <p:nvSpPr>
          <p:cNvPr id="5" name="「なぜ止まったか」&#10;「いつ自分が操作するか」">
            <a:extLst xmlns:a="http://schemas.openxmlformats.org/drawingml/2006/main">
              <a:ext uri="{FF2B5EF4-FFF2-40B4-BE49-F238E27FC236}">
                <a16:creationId xmlns:a16="http://schemas.microsoft.com/office/drawing/2014/main" id="{DFB2BD87-12BC-4FB6-B43E-5E938E639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0"/>
            <a:ext cx="6191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defRPr>
            </a:pPr>
            <a:r>
              <a:rPr sz="225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rPr>
              <a:t>白い道を走らせ、停止理由を見て、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defRPr>
            </a:pPr>
            <a:r>
              <a:rPr sz="225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rPr>
              <a:t>自分で運転を引き継ぐ。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defRPr>
            </a:pPr>
            <a:r>
              <a:rPr sz="225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rPr>
              <a:t>人とシステムの役割分担を学ぶ。</a:t>
            </a:r>
          </a:p>
        </p:txBody>
      </p:sp>
      <p:sp>
        <p:nvSpPr>
          <p:cNvPr id="6" name="車体を組み立てる">
            <a:extLst xmlns:a="http://schemas.openxmlformats.org/drawingml/2006/main">
              <a:ext uri="{FF2B5EF4-FFF2-40B4-BE49-F238E27FC236}">
                <a16:creationId xmlns:a16="http://schemas.microsoft.com/office/drawing/2014/main" id="{B00247D6-36D1-4539-87CD-B8CC20F6A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286000"/>
            <a:ext cx="3790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7F83"/>
                </a:solidFill>
                <a:latin typeface="Noto Sans JP"/>
                <a:ea typeface="Noto Sans JP"/>
                <a:cs typeface="Noto Sans JP"/>
              </a:defRPr>
            </a:pPr>
            <a:r>
              <a:rPr sz="2100" b="1">
                <a:solidFill>
                  <a:srgbClr val="007F83"/>
                </a:solidFill>
                <a:latin typeface="Noto Sans JP"/>
                <a:ea typeface="Noto Sans JP"/>
                <a:cs typeface="Noto Sans JP"/>
              </a:rPr>
              <a:t>車体を組み立てる</a:t>
            </a:r>
          </a:p>
        </p:txBody>
      </p:sp>
      <p:sp>
        <p:nvSpPr>
          <p:cNvPr id="7" name="市販部品で構造と配線を学ぶ">
            <a:extLst xmlns:a="http://schemas.openxmlformats.org/drawingml/2006/main">
              <a:ext uri="{FF2B5EF4-FFF2-40B4-BE49-F238E27FC236}">
                <a16:creationId xmlns:a16="http://schemas.microsoft.com/office/drawing/2014/main" id="{1E8750E0-4193-4FD3-968A-1157B5EA1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762250"/>
            <a:ext cx="37909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市販部品で構造と配線を学ぶ</a:t>
            </a:r>
          </a:p>
        </p:txBody>
      </p:sp>
      <p:sp>
        <p:nvSpPr>
          <p:cNvPr id="8" name="白い走行路を走らせる">
            <a:extLst xmlns:a="http://schemas.openxmlformats.org/drawingml/2006/main">
              <a:ext uri="{FF2B5EF4-FFF2-40B4-BE49-F238E27FC236}">
                <a16:creationId xmlns:a16="http://schemas.microsoft.com/office/drawing/2014/main" id="{8F1CB6AC-C172-412F-BFC6-12CD631B5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705225"/>
            <a:ext cx="3790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7F83"/>
                </a:solidFill>
                <a:latin typeface="Noto Sans JP"/>
                <a:ea typeface="Noto Sans JP"/>
                <a:cs typeface="Noto Sans JP"/>
              </a:defRPr>
            </a:pPr>
            <a:r>
              <a:rPr sz="2100" b="1">
                <a:solidFill>
                  <a:srgbClr val="007F83"/>
                </a:solidFill>
                <a:latin typeface="Noto Sans JP"/>
                <a:ea typeface="Noto Sans JP"/>
                <a:cs typeface="Noto Sans JP"/>
              </a:rPr>
              <a:t>白い走行路を走らせる</a:t>
            </a:r>
          </a:p>
        </p:txBody>
      </p:sp>
      <p:sp>
        <p:nvSpPr>
          <p:cNvPr id="9" name="カメラ・AI・制御をつなぐ">
            <a:extLst xmlns:a="http://schemas.openxmlformats.org/drawingml/2006/main">
              <a:ext uri="{FF2B5EF4-FFF2-40B4-BE49-F238E27FC236}">
                <a16:creationId xmlns:a16="http://schemas.microsoft.com/office/drawing/2014/main" id="{A7CCE419-D917-471A-997B-028C70EA7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181475"/>
            <a:ext cx="37909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カメラ・AI・制御をつなぐ</a:t>
            </a:r>
          </a:p>
        </p:txBody>
      </p:sp>
      <p:sp>
        <p:nvSpPr>
          <p:cNvPr id="10" name="停止理由を見て、引き継ぐ">
            <a:extLst xmlns:a="http://schemas.openxmlformats.org/drawingml/2006/main">
              <a:ext uri="{FF2B5EF4-FFF2-40B4-BE49-F238E27FC236}">
                <a16:creationId xmlns:a16="http://schemas.microsoft.com/office/drawing/2014/main" id="{4A30A2E5-CECF-4EE6-BF07-1577F0640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5133975"/>
            <a:ext cx="3790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7F83"/>
                </a:solidFill>
                <a:latin typeface="Noto Sans JP"/>
                <a:ea typeface="Noto Sans JP"/>
                <a:cs typeface="Noto Sans JP"/>
              </a:defRPr>
            </a:pPr>
            <a:r>
              <a:rPr sz="2100" b="1">
                <a:solidFill>
                  <a:srgbClr val="007F83"/>
                </a:solidFill>
                <a:latin typeface="Noto Sans JP"/>
                <a:ea typeface="Noto Sans JP"/>
                <a:cs typeface="Noto Sans JP"/>
              </a:rPr>
              <a:t>停止理由を見て、引き継ぐ</a:t>
            </a:r>
          </a:p>
        </p:txBody>
      </p:sp>
      <p:sp>
        <p:nvSpPr>
          <p:cNvPr id="11" name="状態を見て、手動操作に切り替える">
            <a:extLst xmlns:a="http://schemas.openxmlformats.org/drawingml/2006/main">
              <a:ext uri="{FF2B5EF4-FFF2-40B4-BE49-F238E27FC236}">
                <a16:creationId xmlns:a16="http://schemas.microsoft.com/office/drawing/2014/main" id="{0BA2A04B-358D-4E4E-A0AF-BB7F56C9C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5610225"/>
            <a:ext cx="3790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状態を見て、手動操作に切り替える</a:t>
            </a:r>
          </a:p>
        </p:txBody>
      </p:sp>
      <p:sp>
        <p:nvSpPr>
          <p:cNvPr id="13" name="人と自動運転の役割分担を学ぶ模型教材。公道用車両や自動運転レベルの認証を示すもの">
            <a:extLst xmlns:a="http://schemas.openxmlformats.org/drawingml/2006/main">
              <a:ext uri="{FF2B5EF4-FFF2-40B4-BE49-F238E27FC236}">
                <a16:creationId xmlns:a16="http://schemas.microsoft.com/office/drawing/2014/main" id="{2FA588D1-3B1C-4F79-8501-984CAEB26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238875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defRPr>
            </a:pPr>
            <a:r>
              <a:rPr sz="150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rPr>
              <a:t>人と自動運転の役割分担を学ぶ模型教材。</a:t>
            </a:r>
          </a:p>
        </p:txBody>
      </p:sp>
    </p:spTree>
    <p:extLst>
      <p:ext uri="{BB962C8B-B14F-4D97-AF65-F5344CB8AC3E}">
        <p14:creationId xmlns:p14="http://schemas.microsoft.com/office/powerpoint/2010/main" val="162757381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運転の引き継ぎ">
            <a:extLst xmlns:a="http://schemas.openxmlformats.org/drawingml/2006/main">
              <a:ext uri="{FF2B5EF4-FFF2-40B4-BE49-F238E27FC236}">
                <a16:creationId xmlns:a16="http://schemas.microsoft.com/office/drawing/2014/main" id="{E5242506-5DD9-4455-A389-13CD64AFB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3300" b="1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運転の引き継ぎ</a:t>
            </a:r>
          </a:p>
        </p:txBody>
      </p:sp>
      <p:sp>
        <p:nvSpPr>
          <p:cNvPr id="2" name="運転引き継ぎ要求（TOR）では先に停止し、3秒待つ。">
            <a:extLst xmlns:a="http://schemas.openxmlformats.org/drawingml/2006/main">
              <a:ext uri="{FF2B5EF4-FFF2-40B4-BE49-F238E27FC236}">
                <a16:creationId xmlns:a16="http://schemas.microsoft.com/office/drawing/2014/main" id="{4A106DE2-6EAA-42E6-A53C-4680DD3A6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00150"/>
            <a:ext cx="10934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007F83"/>
                </a:solidFill>
                <a:latin typeface="Noto Sans JP"/>
                <a:ea typeface="Noto Sans JP"/>
                <a:cs typeface="Noto Sans JP"/>
              </a:defRPr>
            </a:pPr>
            <a:r>
              <a:rPr sz="2100" b="0">
                <a:solidFill>
                  <a:srgbClr val="007F83"/>
                </a:solidFill>
                <a:latin typeface="Noto Sans JP"/>
                <a:ea typeface="Noto Sans JP"/>
                <a:cs typeface="Noto Sans JP"/>
              </a:rPr>
              <a:t>運転引き継ぎ要求（TOR）では先に停止し、3秒待つ。</a:t>
            </a:r>
          </a:p>
        </p:txBody>
      </p:sp>
      <p:sp>
        <p:nvSpPr>
          <p:cNvPr id="3" name="03">
            <a:extLst xmlns:a="http://schemas.openxmlformats.org/drawingml/2006/main">
              <a:ext uri="{FF2B5EF4-FFF2-40B4-BE49-F238E27FC236}">
                <a16:creationId xmlns:a16="http://schemas.microsoft.com/office/drawing/2014/main" id="{E56A2444-FABB-431D-BD48-E6924C0F3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2937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defRPr>
            </a:pPr>
            <a:r>
              <a:rPr sz="135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rPr>
              <a:t>04</a:t>
            </a:r>
          </a:p>
        </p:txBody>
      </p:sp>
      <p:sp>
        <p:nvSpPr>
          <p:cNvPr id="4" name="AUTO&#10;白い走行路を追う">
            <a:extLst xmlns:a="http://schemas.openxmlformats.org/drawingml/2006/main">
              <a:ext uri="{FF2B5EF4-FFF2-40B4-BE49-F238E27FC236}">
                <a16:creationId xmlns:a16="http://schemas.microsoft.com/office/drawing/2014/main" id="{DB95B09B-EB4B-4E01-9D5D-CADDBBC31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27432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45BA7"/>
            </a:solidFill>
          </a:ln>
        </p:spPr>
        <p:txBody>
          <a:bodyPr xmlns:a="http://schemas.openxmlformats.org/drawingml/2006/main" lIns="133350" tIns="95250" rIns="133350" bIns="952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210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AUTO</a:t>
            </a:r>
          </a:p>
          <a:p xmlns:a="http://schemas.openxmlformats.org/drawingml/2006/main">
            <a:pPr algn="ctr">
              <a:buNone/>
              <a:defRPr sz="210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210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白い走行路を追う</a:t>
            </a:r>
          </a:p>
        </p:txBody>
      </p:sp>
      <p:sp>
        <p:nvSpPr>
          <p:cNvPr id="5" name="TOR&#10;出力0・引き継ぎ待ち">
            <a:extLst xmlns:a="http://schemas.openxmlformats.org/drawingml/2006/main">
              <a:ext uri="{FF2B5EF4-FFF2-40B4-BE49-F238E27FC236}">
                <a16:creationId xmlns:a16="http://schemas.microsoft.com/office/drawing/2014/main" id="{065C84C9-53A6-41F6-B688-356D1F6A6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495550"/>
            <a:ext cx="28575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8A5600"/>
            </a:solidFill>
          </a:ln>
        </p:spPr>
        <p:txBody>
          <a:bodyPr xmlns:a="http://schemas.openxmlformats.org/drawingml/2006/main" lIns="133350" tIns="95250" rIns="133350" bIns="952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210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TOR</a:t>
            </a:r>
          </a:p>
          <a:p xmlns:a="http://schemas.openxmlformats.org/drawingml/2006/main">
            <a:pPr algn="ctr">
              <a:buNone/>
              <a:defRPr sz="210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210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出力0・引き継ぎ待ち</a:t>
            </a:r>
          </a:p>
        </p:txBody>
      </p:sp>
      <p:sp>
        <p:nvSpPr>
          <p:cNvPr id="6" name="MANUAL&#10;切り替え直後は停止">
            <a:extLst xmlns:a="http://schemas.openxmlformats.org/drawingml/2006/main">
              <a:ext uri="{FF2B5EF4-FFF2-40B4-BE49-F238E27FC236}">
                <a16:creationId xmlns:a16="http://schemas.microsoft.com/office/drawing/2014/main" id="{AD5E3BA7-6348-4D87-9B7F-B7C9A7140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495550"/>
            <a:ext cx="29337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7F83"/>
            </a:solidFill>
          </a:ln>
        </p:spPr>
        <p:txBody>
          <a:bodyPr xmlns:a="http://schemas.openxmlformats.org/drawingml/2006/main" lIns="133350" tIns="95250" rIns="133350" bIns="952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210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MANUAL</a:t>
            </a:r>
          </a:p>
          <a:p xmlns:a="http://schemas.openxmlformats.org/drawingml/2006/main">
            <a:pPr algn="ctr">
              <a:buNone/>
              <a:defRPr sz="210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210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切り替え直後は停止</a:t>
            </a:r>
          </a:p>
        </p:txBody>
      </p:sp>
      <p:cxnSp>
        <p:nvCxnSpPr>
          <p:cNvPr id="106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352800" y="3095625"/>
            <a:ext cx="12001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8A5600"/>
            </a:solidFill>
            <a:prstDash val="solid"/>
            <a:tailEnd type="triangle" w="sm" len="sm"/>
          </a:ln>
        </p:spPr>
      </p:cxnSp>
      <p:cxnSp>
        <p:nvCxnSpPr>
          <p:cNvPr id="107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7410450" y="3095625"/>
            <a:ext cx="12382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3"/>
            </a:solidFill>
            <a:prstDash val="solid"/>
            <a:tailEnd type="triangle" w="sm" len="sm"/>
          </a:ln>
        </p:spPr>
      </p:cxnSp>
      <p:sp>
        <p:nvSpPr>
          <p:cNvPr id="9" name="走行路を失う&#10;認識結果が古い">
            <a:extLst xmlns:a="http://schemas.openxmlformats.org/drawingml/2006/main">
              <a:ext uri="{FF2B5EF4-FFF2-40B4-BE49-F238E27FC236}">
                <a16:creationId xmlns:a16="http://schemas.microsoft.com/office/drawing/2014/main" id="{C5D34F47-CB00-44AD-802F-CAB14DF36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828800"/>
            <a:ext cx="1962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0">
                <a:solidFill>
                  <a:srgbClr val="526273"/>
                </a:solidFill>
                <a:latin typeface="Noto Sans JP"/>
                <a:ea typeface="Noto Sans JP"/>
                <a:cs typeface="Noto Sans JP"/>
              </a:defRPr>
            </a:pPr>
            <a:r>
              <a:rPr sz="1725" b="0">
                <a:solidFill>
                  <a:srgbClr val="526273"/>
                </a:solidFill>
                <a:latin typeface="Noto Sans JP"/>
                <a:ea typeface="Noto Sans JP"/>
                <a:cs typeface="Noto Sans JP"/>
              </a:rPr>
              <a:t>走行路を失う</a:t>
            </a:r>
          </a:p>
          <a:p xmlns:a="http://schemas.openxmlformats.org/drawingml/2006/main">
            <a:pPr algn="ctr">
              <a:buNone/>
              <a:defRPr sz="1725" b="0">
                <a:solidFill>
                  <a:srgbClr val="526273"/>
                </a:solidFill>
                <a:latin typeface="Noto Sans JP"/>
                <a:ea typeface="Noto Sans JP"/>
                <a:cs typeface="Noto Sans JP"/>
              </a:defRPr>
            </a:pPr>
            <a:r>
              <a:rPr sz="1725" b="0">
                <a:solidFill>
                  <a:srgbClr val="526273"/>
                </a:solidFill>
                <a:latin typeface="Noto Sans JP"/>
                <a:ea typeface="Noto Sans JP"/>
                <a:cs typeface="Noto Sans JP"/>
              </a:rPr>
              <a:t>認識結果が古い</a:t>
            </a:r>
          </a:p>
        </p:txBody>
      </p:sp>
      <p:sp>
        <p:nvSpPr>
          <p:cNvPr id="10" name="3秒以内に&#10;手動引き継ぎ">
            <a:extLst xmlns:a="http://schemas.openxmlformats.org/drawingml/2006/main">
              <a:ext uri="{FF2B5EF4-FFF2-40B4-BE49-F238E27FC236}">
                <a16:creationId xmlns:a16="http://schemas.microsoft.com/office/drawing/2014/main" id="{0C9113A1-E560-487A-A674-19B7FF296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1828800"/>
            <a:ext cx="18859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0">
                <a:solidFill>
                  <a:srgbClr val="526273"/>
                </a:solidFill>
                <a:latin typeface="Noto Sans JP"/>
                <a:ea typeface="Noto Sans JP"/>
                <a:cs typeface="Noto Sans JP"/>
              </a:defRPr>
            </a:pPr>
            <a:r>
              <a:rPr sz="1725" b="0">
                <a:solidFill>
                  <a:srgbClr val="526273"/>
                </a:solidFill>
                <a:latin typeface="Noto Sans JP"/>
                <a:ea typeface="Noto Sans JP"/>
                <a:cs typeface="Noto Sans JP"/>
              </a:rPr>
              <a:t>3秒以内に</a:t>
            </a:r>
          </a:p>
          <a:p xmlns:a="http://schemas.openxmlformats.org/drawingml/2006/main">
            <a:pPr algn="ctr">
              <a:buNone/>
              <a:defRPr sz="1725" b="0">
                <a:solidFill>
                  <a:srgbClr val="526273"/>
                </a:solidFill>
                <a:latin typeface="Noto Sans JP"/>
                <a:ea typeface="Noto Sans JP"/>
                <a:cs typeface="Noto Sans JP"/>
              </a:defRPr>
            </a:pPr>
            <a:r>
              <a:rPr sz="1725" b="0">
                <a:solidFill>
                  <a:srgbClr val="526273"/>
                </a:solidFill>
                <a:latin typeface="Noto Sans JP"/>
                <a:ea typeface="Noto Sans JP"/>
                <a:cs typeface="Noto Sans JP"/>
              </a:rPr>
              <a:t>手動引き継ぎ</a:t>
            </a:r>
          </a:p>
        </p:txBody>
      </p:sp>
      <p:sp>
        <p:nvSpPr>
          <p:cNvPr id="11" name="時間切れ&#10;停止・MANUAL&#10;RESET後に再操作">
            <a:extLst xmlns:a="http://schemas.openxmlformats.org/drawingml/2006/main">
              <a:ext uri="{FF2B5EF4-FFF2-40B4-BE49-F238E27FC236}">
                <a16:creationId xmlns:a16="http://schemas.microsoft.com/office/drawing/2014/main" id="{103E713D-50B4-413F-A625-D3BC31CC8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552950"/>
            <a:ext cx="2857500" cy="1133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8A5600"/>
            </a:solidFill>
          </a:ln>
        </p:spPr>
        <p:txBody>
          <a:bodyPr xmlns:a="http://schemas.openxmlformats.org/drawingml/2006/main" lIns="133350" tIns="95250" rIns="133350" bIns="952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80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時間切れ</a:t>
            </a:r>
          </a:p>
          <a:p xmlns:a="http://schemas.openxmlformats.org/drawingml/2006/main">
            <a:pPr algn="ctr">
              <a:buNone/>
              <a:defRPr sz="180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80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停止・MANUAL</a:t>
            </a:r>
          </a:p>
          <a:p xmlns:a="http://schemas.openxmlformats.org/drawingml/2006/main">
            <a:pPr algn="ctr">
              <a:buNone/>
              <a:defRPr sz="180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80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RESET後に再操作</a:t>
            </a:r>
          </a:p>
        </p:txBody>
      </p:sp>
      <p:cxnSp>
        <p:nvCxnSpPr>
          <p:cNvPr id="111" name=""/>
          <p:cNvCxnSpPr>
            <a:stCxn xmlns:a="http://schemas.openxmlformats.org/drawingml/2006/main" id="5" idx="2"/>
            <a:endCxn xmlns:a="http://schemas.openxmlformats.org/drawingml/2006/main" id="11" idx="0"/>
          </p:cNvCxnSpPr>
          <p:nvPr/>
        </p:nvCxnSpPr>
        <p:spPr>
          <a:xfrm xmlns:a="http://schemas.openxmlformats.org/drawingml/2006/main">
            <a:off x="5981700" y="3695700"/>
            <a:ext cx="0" cy="85725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8A5600"/>
            </a:solidFill>
            <a:prstDash val="solid"/>
            <a:tailEnd type="triangle" w="sm" len="sm"/>
          </a:ln>
        </p:spPr>
      </p:cxnSp>
      <p:sp>
        <p:nvSpPr>
          <p:cNvPr id="13" name="応答なし・3秒経過">
            <a:extLst xmlns:a="http://schemas.openxmlformats.org/drawingml/2006/main">
              <a:ext uri="{FF2B5EF4-FFF2-40B4-BE49-F238E27FC236}">
                <a16:creationId xmlns:a16="http://schemas.microsoft.com/office/drawing/2014/main" id="{D5A4C1B1-74BE-45C4-8292-F43971140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3933825"/>
            <a:ext cx="28003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8A5600"/>
                </a:solidFill>
                <a:latin typeface="Noto Sans JP"/>
                <a:ea typeface="Noto Sans JP"/>
                <a:cs typeface="Noto Sans JP"/>
              </a:defRPr>
            </a:pPr>
            <a:r>
              <a:rPr sz="1725" b="0">
                <a:solidFill>
                  <a:srgbClr val="8A5600"/>
                </a:solidFill>
                <a:latin typeface="Noto Sans JP"/>
                <a:ea typeface="Noto Sans JP"/>
                <a:cs typeface="Noto Sans JP"/>
              </a:rPr>
              <a:t>応答なし・3秒経過</a:t>
            </a:r>
          </a:p>
        </p:txBody>
      </p:sp>
      <p:sp>
        <p:nvSpPr>
          <p:cNvPr id="14" name="方向パッドを&#10;押している間だけ走る">
            <a:extLst xmlns:a="http://schemas.openxmlformats.org/drawingml/2006/main">
              <a:ext uri="{FF2B5EF4-FFF2-40B4-BE49-F238E27FC236}">
                <a16:creationId xmlns:a16="http://schemas.microsoft.com/office/drawing/2014/main" id="{9698AEA2-26E7-4B88-835A-1A200DEFC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067175"/>
            <a:ext cx="2933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007F83"/>
                </a:solidFill>
                <a:latin typeface="Noto Sans JP"/>
                <a:ea typeface="Noto Sans JP"/>
                <a:cs typeface="Noto Sans JP"/>
              </a:defRPr>
            </a:pPr>
            <a:r>
              <a:rPr sz="2100" b="0">
                <a:solidFill>
                  <a:srgbClr val="007F83"/>
                </a:solidFill>
                <a:latin typeface="Noto Sans JP"/>
                <a:ea typeface="Noto Sans JP"/>
                <a:cs typeface="Noto Sans JP"/>
              </a:rPr>
              <a:t>方向パッドを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007F83"/>
                </a:solidFill>
                <a:latin typeface="Noto Sans JP"/>
                <a:ea typeface="Noto Sans JP"/>
                <a:cs typeface="Noto Sans JP"/>
              </a:defRPr>
            </a:pPr>
            <a:r>
              <a:rPr sz="2100" b="0">
                <a:solidFill>
                  <a:srgbClr val="007F83"/>
                </a:solidFill>
                <a:latin typeface="Noto Sans JP"/>
                <a:ea typeface="Noto Sans JP"/>
                <a:cs typeface="Noto Sans JP"/>
              </a:rPr>
              <a:t>押している間だけ走る</a:t>
            </a:r>
          </a:p>
        </p:txBody>
      </p:sp>
      <p:sp>
        <p:nvSpPr>
          <p:cNvPr id="15" name="任意の手動切り替えも、まず停止する。走行路が戻ってもAUTOへ自動復帰">
            <a:extLst xmlns:a="http://schemas.openxmlformats.org/drawingml/2006/main">
              <a:ext uri="{FF2B5EF4-FFF2-40B4-BE49-F238E27FC236}">
                <a16:creationId xmlns:a16="http://schemas.microsoft.com/office/drawing/2014/main" id="{157C51C1-DBB3-488D-A342-056D3962E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76925"/>
            <a:ext cx="1081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526273"/>
                </a:solidFill>
                <a:latin typeface="Noto Sans JP"/>
                <a:ea typeface="Noto Sans JP"/>
                <a:cs typeface="Noto Sans JP"/>
              </a:defRPr>
            </a:pPr>
            <a:r>
              <a:rPr sz="1725" b="0">
                <a:solidFill>
                  <a:srgbClr val="526273"/>
                </a:solidFill>
                <a:latin typeface="Noto Sans JP"/>
                <a:ea typeface="Noto Sans JP"/>
                <a:cs typeface="Noto Sans JP"/>
              </a:rPr>
              <a:t>起動時はMANUAL・停止。AUTO開始には有効な距離値・コア間通信・走行路認識が必要。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526273"/>
                </a:solidFill>
                <a:latin typeface="Noto Sans JP"/>
                <a:ea typeface="Noto Sans JP"/>
                <a:cs typeface="Noto Sans JP"/>
              </a:defRPr>
            </a:pPr>
            <a:r>
              <a:rPr sz="1725" b="0">
                <a:solidFill>
                  <a:srgbClr val="526273"/>
                </a:solidFill>
                <a:latin typeface="Noto Sans JP"/>
                <a:ea typeface="Noto Sans JP"/>
                <a:cs typeface="Noto Sans JP"/>
              </a:rPr>
              <a:t>任意の手動切り替えもまず停止。道が再び見えてもAUTOへ自動復帰しない。</a:t>
            </a:r>
          </a:p>
        </p:txBody>
      </p:sp>
    </p:spTree>
    <p:extLst>
      <p:ext uri="{BB962C8B-B14F-4D97-AF65-F5344CB8AC3E}">
        <p14:creationId xmlns:p14="http://schemas.microsoft.com/office/powerpoint/2010/main" val="46573720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全体システム構成">
            <a:extLst xmlns:a="http://schemas.openxmlformats.org/drawingml/2006/main">
              <a:ext uri="{FF2B5EF4-FFF2-40B4-BE49-F238E27FC236}">
                <a16:creationId xmlns:a16="http://schemas.microsoft.com/office/drawing/2014/main" id="{38B03AF7-13EA-4064-8256-DCC7FE712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3300" b="1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全体システム構成</a:t>
            </a:r>
          </a:p>
        </p:txBody>
      </p:sp>
      <p:sp>
        <p:nvSpPr>
          <p:cNvPr id="2" name="M85が認識・Webを担当し、M33が車両状態とモーター出力を決める。">
            <a:extLst xmlns:a="http://schemas.openxmlformats.org/drawingml/2006/main">
              <a:ext uri="{FF2B5EF4-FFF2-40B4-BE49-F238E27FC236}">
                <a16:creationId xmlns:a16="http://schemas.microsoft.com/office/drawing/2014/main" id="{19D1D48D-D412-41FD-8166-CA320AEFF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00150"/>
            <a:ext cx="10934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245BA7"/>
                </a:solidFill>
                <a:latin typeface="Noto Sans JP"/>
                <a:ea typeface="Noto Sans JP"/>
                <a:cs typeface="Noto Sans JP"/>
              </a:defRPr>
            </a:pPr>
            <a:r>
              <a:rPr sz="2100" b="0">
                <a:solidFill>
                  <a:srgbClr val="245BA7"/>
                </a:solidFill>
                <a:latin typeface="Noto Sans JP"/>
                <a:ea typeface="Noto Sans JP"/>
                <a:cs typeface="Noto Sans JP"/>
              </a:rPr>
              <a:t>M85が認識・Webを担当し、M33が車両状態とモーター出力を決める。</a:t>
            </a:r>
          </a:p>
        </p:txBody>
      </p:sp>
      <p:sp>
        <p:nvSpPr>
          <p:cNvPr id="3" name="04">
            <a:extLst xmlns:a="http://schemas.openxmlformats.org/drawingml/2006/main">
              <a:ext uri="{FF2B5EF4-FFF2-40B4-BE49-F238E27FC236}">
                <a16:creationId xmlns:a16="http://schemas.microsoft.com/office/drawing/2014/main" id="{580DE399-B31C-45C3-839F-B60C42188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2937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defRPr>
            </a:pPr>
            <a:r>
              <a:rPr sz="135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rPr>
              <a:t>05</a:t>
            </a:r>
          </a:p>
        </p:txBody>
      </p:sp>
      <p:sp>
        <p:nvSpPr>
          <p:cNvPr id="4" name="操作端末&#10;スマートフォン / タブレット / PC">
            <a:extLst xmlns:a="http://schemas.openxmlformats.org/drawingml/2006/main">
              <a:ext uri="{FF2B5EF4-FFF2-40B4-BE49-F238E27FC236}">
                <a16:creationId xmlns:a16="http://schemas.microsoft.com/office/drawing/2014/main" id="{5732637C-390E-4D71-ABCB-E0719D3E7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28003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45BA7"/>
            </a:solidFill>
          </a:ln>
        </p:spPr>
        <p:txBody>
          <a:bodyPr xmlns:a="http://schemas.openxmlformats.org/drawingml/2006/main" lIns="133350" tIns="95250" rIns="133350" bIns="952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725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操作端末</a:t>
            </a:r>
          </a:p>
          <a:p xmlns:a="http://schemas.openxmlformats.org/drawingml/2006/main">
            <a:pPr algn="ctr">
              <a:buNone/>
              <a:defRPr sz="1725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725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スマートフォン / タブレット / PC</a:t>
            </a:r>
          </a:p>
        </p:txBody>
      </p:sp>
      <p:sp>
        <p:nvSpPr>
          <p:cNvPr id="5" name="ルーター">
            <a:extLst xmlns:a="http://schemas.openxmlformats.org/drawingml/2006/main">
              <a:ext uri="{FF2B5EF4-FFF2-40B4-BE49-F238E27FC236}">
                <a16:creationId xmlns:a16="http://schemas.microsoft.com/office/drawing/2014/main" id="{F2B4B7A9-BF38-4920-9586-23C29F31B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076450"/>
            <a:ext cx="24955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45BA7"/>
            </a:solidFill>
          </a:ln>
        </p:spPr>
        <p:txBody>
          <a:bodyPr xmlns:a="http://schemas.openxmlformats.org/drawingml/2006/main" lIns="133350" tIns="95250" rIns="133350" bIns="952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210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ルーター</a:t>
            </a:r>
          </a:p>
        </p:txBody>
      </p:sp>
      <p:cxnSp>
        <p:nvCxnSpPr>
          <p:cNvPr id="177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409950" y="2552700"/>
            <a:ext cx="11430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45BA7"/>
            </a:solidFill>
            <a:prstDash val="dash"/>
            <a:headEnd type="triangle" w="sm" len="sm"/>
            <a:tailEnd type="triangle" w="sm" len="sm"/>
          </a:ln>
        </p:spPr>
      </p:cxnSp>
      <p:sp>
        <p:nvSpPr>
          <p:cNvPr id="7" name="Wi-Fi（無線）">
            <a:extLst xmlns:a="http://schemas.openxmlformats.org/drawingml/2006/main">
              <a:ext uri="{FF2B5EF4-FFF2-40B4-BE49-F238E27FC236}">
                <a16:creationId xmlns:a16="http://schemas.microsoft.com/office/drawing/2014/main" id="{D069E9CB-FE63-4FEC-9CAF-9337F6D2C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1733550"/>
            <a:ext cx="16859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245BA7"/>
                </a:solidFill>
                <a:latin typeface="Noto Sans JP"/>
                <a:ea typeface="Noto Sans JP"/>
                <a:cs typeface="Noto Sans JP"/>
              </a:defRPr>
            </a:pPr>
            <a:r>
              <a:rPr sz="1650" b="0">
                <a:solidFill>
                  <a:srgbClr val="245BA7"/>
                </a:solidFill>
                <a:latin typeface="Noto Sans JP"/>
                <a:ea typeface="Noto Sans JP"/>
                <a:cs typeface="Noto Sans JP"/>
              </a:rPr>
              <a:t>Wi-Fi（無線）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9E4300-D5BB-421E-A1ED-D3962147A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457575"/>
            <a:ext cx="7772400" cy="2524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A"/>
          </a:solidFill>
          <a:ln xmlns:a="http://schemas.openxmlformats.org/drawingml/2006/main" w="9525">
            <a:solidFill>
              <a:srgbClr val="CCD7E2"/>
            </a:solidFill>
          </a:ln>
        </p:spPr>
      </p:sp>
      <p:sp>
        <p:nvSpPr>
          <p:cNvPr id="9" name="EK-RA8P1">
            <a:extLst xmlns:a="http://schemas.openxmlformats.org/drawingml/2006/main">
              <a:ext uri="{FF2B5EF4-FFF2-40B4-BE49-F238E27FC236}">
                <a16:creationId xmlns:a16="http://schemas.microsoft.com/office/drawing/2014/main" id="{AEC89302-A93F-4177-B7F5-DFE3BF83F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3562350"/>
            <a:ext cx="2781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2100" b="1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EK-RA8P1</a:t>
            </a:r>
          </a:p>
        </p:txBody>
      </p:sp>
      <p:sp>
        <p:nvSpPr>
          <p:cNvPr id="10" name="M85 + NPU&#10;カメラ・AI・Web">
            <a:extLst xmlns:a="http://schemas.openxmlformats.org/drawingml/2006/main">
              <a:ext uri="{FF2B5EF4-FFF2-40B4-BE49-F238E27FC236}">
                <a16:creationId xmlns:a16="http://schemas.microsoft.com/office/drawing/2014/main" id="{3A13D89E-1222-41A6-A731-76B588149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4152900"/>
            <a:ext cx="26289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45BA7"/>
            </a:solidFill>
          </a:ln>
        </p:spPr>
        <p:txBody>
          <a:bodyPr xmlns:a="http://schemas.openxmlformats.org/drawingml/2006/main" lIns="133350" tIns="95250" rIns="133350" bIns="952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875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M85 + NPU</a:t>
            </a:r>
          </a:p>
          <a:p xmlns:a="http://schemas.openxmlformats.org/drawingml/2006/main">
            <a:pPr algn="ctr">
              <a:buNone/>
              <a:defRPr sz="1875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875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カメラ・AI・Web</a:t>
            </a:r>
          </a:p>
        </p:txBody>
      </p:sp>
      <p:cxnSp>
        <p:nvCxnSpPr>
          <p:cNvPr id="182" name=""/>
          <p:cNvCxnSpPr>
            <a:stCxn xmlns:a="http://schemas.openxmlformats.org/drawingml/2006/main" id="5" idx="2"/>
            <a:endCxn xmlns:a="http://schemas.openxmlformats.org/drawingml/2006/main" id="10" idx="0"/>
          </p:cNvCxnSpPr>
          <p:nvPr/>
        </p:nvCxnSpPr>
        <p:spPr>
          <a:xfrm xmlns:a="http://schemas.openxmlformats.org/drawingml/2006/main" flipH="1">
            <a:off x="5391150" y="3028950"/>
            <a:ext cx="409575" cy="11239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3813">
            <a:solidFill>
              <a:srgbClr val="245BA7"/>
            </a:solidFill>
            <a:prstDash val="solid"/>
            <a:headEnd type="triangle" w="sm" len="sm"/>
            <a:tailEnd type="triangle" w="sm" len="sm"/>
          </a:ln>
        </p:spPr>
      </p:cxnSp>
      <p:sp>
        <p:nvSpPr>
          <p:cNvPr id="12" name="Ethernet（有線）">
            <a:extLst xmlns:a="http://schemas.openxmlformats.org/drawingml/2006/main">
              <a:ext uri="{FF2B5EF4-FFF2-40B4-BE49-F238E27FC236}">
                <a16:creationId xmlns:a16="http://schemas.microsoft.com/office/drawing/2014/main" id="{48E43787-5B86-4A8F-9765-084D2AB9F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133725"/>
            <a:ext cx="22764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245BA7"/>
                </a:solidFill>
                <a:latin typeface="Noto Sans JP"/>
                <a:ea typeface="Noto Sans JP"/>
                <a:cs typeface="Noto Sans JP"/>
              </a:defRPr>
            </a:pPr>
            <a:r>
              <a:rPr sz="1650" b="0">
                <a:solidFill>
                  <a:srgbClr val="245BA7"/>
                </a:solidFill>
                <a:latin typeface="Noto Sans JP"/>
                <a:ea typeface="Noto Sans JP"/>
                <a:cs typeface="Noto Sans JP"/>
              </a:rPr>
              <a:t>Ethernet（有線）</a:t>
            </a:r>
          </a:p>
        </p:txBody>
      </p:sp>
      <p:sp>
        <p:nvSpPr>
          <p:cNvPr id="13" name="HTTP：操作要求・状態・映像">
            <a:extLst xmlns:a="http://schemas.openxmlformats.org/drawingml/2006/main">
              <a:ext uri="{FF2B5EF4-FFF2-40B4-BE49-F238E27FC236}">
                <a16:creationId xmlns:a16="http://schemas.microsoft.com/office/drawing/2014/main" id="{A3EB5AE8-4C68-4703-BC44-4B361293C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2219325"/>
            <a:ext cx="3733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rPr>
              <a:t>HTTP：操作要求・状態・映像</a:t>
            </a:r>
          </a:p>
        </p:txBody>
      </p:sp>
      <p:sp>
        <p:nvSpPr>
          <p:cNvPr id="14" name="共有RAM&#10;HSEM">
            <a:extLst xmlns:a="http://schemas.openxmlformats.org/drawingml/2006/main">
              <a:ext uri="{FF2B5EF4-FFF2-40B4-BE49-F238E27FC236}">
                <a16:creationId xmlns:a16="http://schemas.microsoft.com/office/drawing/2014/main" id="{41050C53-E283-4A18-B897-9AF60B696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4229100"/>
            <a:ext cx="15049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45BA7"/>
            </a:solidFill>
          </a:ln>
        </p:spPr>
        <p:txBody>
          <a:bodyPr xmlns:a="http://schemas.openxmlformats.org/drawingml/2006/main" lIns="133350" tIns="95250" rIns="133350" bIns="952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725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共有RAM</a:t>
            </a:r>
          </a:p>
          <a:p xmlns:a="http://schemas.openxmlformats.org/drawingml/2006/main">
            <a:pPr algn="ctr">
              <a:buNone/>
              <a:defRPr sz="1725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725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HSEM</a:t>
            </a:r>
          </a:p>
        </p:txBody>
      </p:sp>
      <p:sp>
        <p:nvSpPr>
          <p:cNvPr id="15" name="M33&#10;車両状態&#10;安全判定・出力">
            <a:extLst xmlns:a="http://schemas.openxmlformats.org/drawingml/2006/main">
              <a:ext uri="{FF2B5EF4-FFF2-40B4-BE49-F238E27FC236}">
                <a16:creationId xmlns:a16="http://schemas.microsoft.com/office/drawing/2014/main" id="{8DD0A3BE-5A8A-46D1-A9FC-05FA5743E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067175"/>
            <a:ext cx="219075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7F83"/>
            </a:solidFill>
          </a:ln>
        </p:spPr>
        <p:txBody>
          <a:bodyPr xmlns:a="http://schemas.openxmlformats.org/drawingml/2006/main" lIns="133350" tIns="95250" rIns="133350" bIns="952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80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M33</a:t>
            </a:r>
          </a:p>
          <a:p xmlns:a="http://schemas.openxmlformats.org/drawingml/2006/main">
            <a:pPr algn="ctr">
              <a:buNone/>
              <a:defRPr sz="180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80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車両状態</a:t>
            </a:r>
          </a:p>
          <a:p xmlns:a="http://schemas.openxmlformats.org/drawingml/2006/main">
            <a:pPr algn="ctr">
              <a:buNone/>
              <a:defRPr sz="180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80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安全判定・出力</a:t>
            </a:r>
          </a:p>
        </p:txBody>
      </p:sp>
      <p:cxnSp>
        <p:nvCxnSpPr>
          <p:cNvPr id="187" name=""/>
          <p:cNvCxnSpPr>
            <a:stCxn xmlns:a="http://schemas.openxmlformats.org/drawingml/2006/main" id="10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6705600" y="4610100"/>
            <a:ext cx="44767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45BA7"/>
            </a:solidFill>
            <a:prstDash val="solid"/>
            <a:headEnd type="triangle" w="sm" len="sm"/>
            <a:tailEnd type="triangle" w="sm" len="sm"/>
          </a:ln>
        </p:spPr>
      </p:cxnSp>
      <p:cxnSp>
        <p:nvCxnSpPr>
          <p:cNvPr id="188" name=""/>
          <p:cNvCxnSpPr>
            <a:stCxn xmlns:a="http://schemas.openxmlformats.org/drawingml/2006/main" id="14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658225" y="4610100"/>
            <a:ext cx="44767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3"/>
            </a:solidFill>
            <a:prstDash val="solid"/>
            <a:headEnd type="triangle" w="sm" len="sm"/>
            <a:tailEnd type="triangle" w="sm" len="sm"/>
          </a:ln>
        </p:spPr>
      </p:cxnSp>
      <p:sp>
        <p:nvSpPr>
          <p:cNvPr id="18" name="OV5640&#10;前方カメラ">
            <a:extLst xmlns:a="http://schemas.openxmlformats.org/drawingml/2006/main">
              <a:ext uri="{FF2B5EF4-FFF2-40B4-BE49-F238E27FC236}">
                <a16:creationId xmlns:a16="http://schemas.microsoft.com/office/drawing/2014/main" id="{F779C25D-D8B8-47F8-8D05-CBEBA3AD7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525"/>
            <a:ext cx="2286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45BA7"/>
            </a:solidFill>
          </a:ln>
        </p:spPr>
        <p:txBody>
          <a:bodyPr xmlns:a="http://schemas.openxmlformats.org/drawingml/2006/main" lIns="133350" tIns="95250" rIns="133350" bIns="952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875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OV5640</a:t>
            </a:r>
          </a:p>
          <a:p xmlns:a="http://schemas.openxmlformats.org/drawingml/2006/main">
            <a:pPr algn="ctr">
              <a:buNone/>
              <a:defRPr sz="1875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875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前方カメラ</a:t>
            </a:r>
          </a:p>
        </p:txBody>
      </p:sp>
      <p:sp>
        <p:nvSpPr>
          <p:cNvPr id="19" name="ToF4M&#10;前方距離センサ">
            <a:extLst xmlns:a="http://schemas.openxmlformats.org/drawingml/2006/main">
              <a:ext uri="{FF2B5EF4-FFF2-40B4-BE49-F238E27FC236}">
                <a16:creationId xmlns:a16="http://schemas.microsoft.com/office/drawing/2014/main" id="{17AECF7D-BFCF-4684-806D-808B880D2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28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7F83"/>
            </a:solidFill>
          </a:ln>
        </p:spPr>
        <p:txBody>
          <a:bodyPr xmlns:a="http://schemas.openxmlformats.org/drawingml/2006/main" lIns="133350" tIns="95250" rIns="133350" bIns="952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875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ToF4M</a:t>
            </a:r>
          </a:p>
          <a:p xmlns:a="http://schemas.openxmlformats.org/drawingml/2006/main">
            <a:pPr algn="ctr">
              <a:buNone/>
              <a:defRPr sz="1875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875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前方距離センサ</a:t>
            </a:r>
          </a:p>
        </p:txBody>
      </p:sp>
      <p:cxnSp>
        <p:nvCxnSpPr>
          <p:cNvPr id="191" name=""/>
          <p:cNvCxnSpPr>
            <a:stCxn xmlns:a="http://schemas.openxmlformats.org/drawingml/2006/main" id="1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2895600" y="4610100"/>
            <a:ext cx="11811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45BA7"/>
            </a:solidFill>
            <a:prstDash val="solid"/>
            <a:tailEnd type="triangle" w="sm" len="sm"/>
          </a:ln>
        </p:spPr>
      </p:cxnSp>
      <p:cxnSp>
        <p:nvCxnSpPr>
          <p:cNvPr id="192" name=""/>
          <p:cNvCxnSpPr>
            <a:stCxn xmlns:a="http://schemas.openxmlformats.org/drawingml/2006/main" id="19" idx="3"/>
            <a:endCxn xmlns:a="http://schemas.openxmlformats.org/drawingml/2006/main" id="15" idx="2"/>
          </p:cNvCxnSpPr>
          <p:nvPr/>
        </p:nvCxnSpPr>
        <p:spPr>
          <a:xfrm xmlns:a="http://schemas.openxmlformats.org/drawingml/2006/main" flipV="1">
            <a:off x="2895600" y="5153025"/>
            <a:ext cx="7305675" cy="714375"/>
          </a:xfrm>
          <a:prstGeom xmlns:a="http://schemas.openxmlformats.org/drawingml/2006/main" prst="bentConnector2">
            <a:avLst/>
          </a:prstGeom>
          <a:ln xmlns:a="http://schemas.openxmlformats.org/drawingml/2006/main" w="23813">
            <a:solidFill>
              <a:srgbClr val="007F83"/>
            </a:solidFill>
            <a:prstDash val="solid"/>
            <a:tailEnd type="triangle" w="sm" len="sm"/>
          </a:ln>
        </p:spPr>
      </p:cxnSp>
      <p:sp>
        <p:nvSpPr>
          <p:cNvPr id="22" name="I²C">
            <a:extLst xmlns:a="http://schemas.openxmlformats.org/drawingml/2006/main">
              <a:ext uri="{FF2B5EF4-FFF2-40B4-BE49-F238E27FC236}">
                <a16:creationId xmlns:a16="http://schemas.microsoft.com/office/drawing/2014/main" id="{B3A885BF-E1AD-490B-9D91-5C9ADE31A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457825"/>
            <a:ext cx="8286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007F83"/>
                </a:solidFill>
                <a:latin typeface="Noto Sans JP"/>
                <a:ea typeface="Noto Sans JP"/>
                <a:cs typeface="Noto Sans JP"/>
              </a:defRPr>
            </a:pPr>
            <a:r>
              <a:rPr sz="1650" b="0">
                <a:solidFill>
                  <a:srgbClr val="007F83"/>
                </a:solidFill>
                <a:latin typeface="Noto Sans JP"/>
                <a:ea typeface="Noto Sans JP"/>
                <a:cs typeface="Noto Sans JP"/>
              </a:rPr>
              <a:t>I²C</a:t>
            </a:r>
          </a:p>
        </p:txBody>
      </p:sp>
      <p:sp>
        <p:nvSpPr>
          <p:cNvPr id="23" name="DRV8833を介して左右モーターを駆動">
            <a:extLst xmlns:a="http://schemas.openxmlformats.org/drawingml/2006/main">
              <a:ext uri="{FF2B5EF4-FFF2-40B4-BE49-F238E27FC236}">
                <a16:creationId xmlns:a16="http://schemas.microsoft.com/office/drawing/2014/main" id="{1CB55952-59E7-4BFC-AC11-02D1A724B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6134100"/>
            <a:ext cx="72294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007F83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007F83"/>
                </a:solidFill>
                <a:latin typeface="Noto Sans JP"/>
                <a:ea typeface="Noto Sans JP"/>
                <a:cs typeface="Noto Sans JP"/>
              </a:rPr>
              <a:t>DRV8833を介して左右モーターを駆動</a:t>
            </a:r>
          </a:p>
        </p:txBody>
      </p:sp>
      <p:sp>
        <p:nvSpPr>
          <p:cNvPr id="66" name="両コアでμT-Kernel 3.0">
            <a:extLst xmlns:a="http://schemas.openxmlformats.org/drawingml/2006/main">
              <a:ext uri="{FF2B5EF4-FFF2-40B4-BE49-F238E27FC236}">
                <a16:creationId xmlns:a16="http://schemas.microsoft.com/office/drawing/2014/main" id="{D28CA58B-473A-476D-AAB8-BD4E8850D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3590925"/>
            <a:ext cx="42195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725" b="1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両コアでμT-Kernel 3.0</a:t>
            </a:r>
          </a:p>
        </p:txBody>
      </p:sp>
    </p:spTree>
    <p:extLst>
      <p:ext uri="{BB962C8B-B14F-4D97-AF65-F5344CB8AC3E}">
        <p14:creationId xmlns:p14="http://schemas.microsoft.com/office/powerpoint/2010/main" val="79004202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ハードウェア構成">
            <a:extLst xmlns:a="http://schemas.openxmlformats.org/drawingml/2006/main">
              <a:ext uri="{FF2B5EF4-FFF2-40B4-BE49-F238E27FC236}">
                <a16:creationId xmlns:a16="http://schemas.microsoft.com/office/drawing/2014/main" id="{54E070AC-7CD5-47B8-892D-5F34C0865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3300" b="1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ハードウェア構成</a:t>
            </a:r>
          </a:p>
        </p:txBody>
      </p:sp>
      <p:sp>
        <p:nvSpPr>
          <p:cNvPr id="2" name="左右の駆動輪を独立して制御する、組み立て式の車体。">
            <a:extLst xmlns:a="http://schemas.openxmlformats.org/drawingml/2006/main">
              <a:ext uri="{FF2B5EF4-FFF2-40B4-BE49-F238E27FC236}">
                <a16:creationId xmlns:a16="http://schemas.microsoft.com/office/drawing/2014/main" id="{D2D76C35-9089-4E16-94EB-ADEC939D6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00150"/>
            <a:ext cx="10934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245BA7"/>
                </a:solidFill>
                <a:latin typeface="Noto Sans JP"/>
                <a:ea typeface="Noto Sans JP"/>
                <a:cs typeface="Noto Sans JP"/>
              </a:defRPr>
            </a:pPr>
            <a:r>
              <a:rPr sz="2100" b="0">
                <a:solidFill>
                  <a:srgbClr val="245BA7"/>
                </a:solidFill>
                <a:latin typeface="Noto Sans JP"/>
                <a:ea typeface="Noto Sans JP"/>
                <a:cs typeface="Noto Sans JP"/>
              </a:rPr>
              <a:t>左右の駆動輪を独立して制御する、組み立て式の車体。</a:t>
            </a:r>
          </a:p>
        </p:txBody>
      </p:sp>
      <p:sp>
        <p:nvSpPr>
          <p:cNvPr id="3" name="05">
            <a:extLst xmlns:a="http://schemas.openxmlformats.org/drawingml/2006/main">
              <a:ext uri="{FF2B5EF4-FFF2-40B4-BE49-F238E27FC236}">
                <a16:creationId xmlns:a16="http://schemas.microsoft.com/office/drawing/2014/main" id="{D2C5BB10-F538-4A31-BD2C-F773DCEED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2937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defRPr>
            </a:pPr>
            <a:r>
              <a:rPr sz="135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rPr>
              <a:t>06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7459a668834954"/>
          <a:stretch xmlns:a="http://schemas.openxmlformats.org/drawingml/2006/main"/>
        </p:blipFill>
        <p:spPr>
          <a:xfrm xmlns:a="http://schemas.openxmlformats.org/drawingml/2006/main">
            <a:off x="777875" y="1971675"/>
            <a:ext cx="5435600" cy="4076700"/>
          </a:xfrm>
          <a:prstGeom xmlns:a="http://schemas.openxmlformats.org/drawingml/2006/main" prst="rect">
            <a:avLst/>
          </a:prstGeom>
        </p:spPr>
      </p:pic>
      <p:sp>
        <p:nvSpPr>
          <p:cNvPr id="5" name="制御・認識">
            <a:extLst xmlns:a="http://schemas.openxmlformats.org/drawingml/2006/main">
              <a:ext uri="{FF2B5EF4-FFF2-40B4-BE49-F238E27FC236}">
                <a16:creationId xmlns:a16="http://schemas.microsoft.com/office/drawing/2014/main" id="{1F264E35-8687-453A-A405-478CBC309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019300"/>
            <a:ext cx="421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45BA7"/>
                </a:solidFill>
                <a:latin typeface="Noto Sans JP"/>
                <a:ea typeface="Noto Sans JP"/>
                <a:cs typeface="Noto Sans JP"/>
              </a:defRPr>
            </a:pPr>
            <a:r>
              <a:rPr sz="2025" b="1">
                <a:solidFill>
                  <a:srgbClr val="245BA7"/>
                </a:solidFill>
                <a:latin typeface="Noto Sans JP"/>
                <a:ea typeface="Noto Sans JP"/>
                <a:cs typeface="Noto Sans JP"/>
              </a:rPr>
              <a:t>制御・認識</a:t>
            </a:r>
          </a:p>
        </p:txBody>
      </p:sp>
      <p:sp>
        <p:nvSpPr>
          <p:cNvPr id="6" name="EK-RA8P1 / OV5640カメラ&#10;M5Stack Unit T">
            <a:extLst xmlns:a="http://schemas.openxmlformats.org/drawingml/2006/main">
              <a:ext uri="{FF2B5EF4-FFF2-40B4-BE49-F238E27FC236}">
                <a16:creationId xmlns:a16="http://schemas.microsoft.com/office/drawing/2014/main" id="{BFB28022-9D93-4AB4-AB94-F935EA925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514600"/>
            <a:ext cx="4572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950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EK-RA8P1 / OV5640カメラ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950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M5Stack Unit ToF4M（U172）</a:t>
            </a:r>
          </a:p>
        </p:txBody>
      </p:sp>
      <p:sp>
        <p:nvSpPr>
          <p:cNvPr id="7" name="駆動・車体">
            <a:extLst xmlns:a="http://schemas.openxmlformats.org/drawingml/2006/main">
              <a:ext uri="{FF2B5EF4-FFF2-40B4-BE49-F238E27FC236}">
                <a16:creationId xmlns:a16="http://schemas.microsoft.com/office/drawing/2014/main" id="{76742ED2-FD36-4FA4-90A3-574681988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571875"/>
            <a:ext cx="421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45BA7"/>
                </a:solidFill>
                <a:latin typeface="Noto Sans JP"/>
                <a:ea typeface="Noto Sans JP"/>
                <a:cs typeface="Noto Sans JP"/>
              </a:defRPr>
            </a:pPr>
            <a:r>
              <a:rPr sz="2025" b="1">
                <a:solidFill>
                  <a:srgbClr val="245BA7"/>
                </a:solidFill>
                <a:latin typeface="Noto Sans JP"/>
                <a:ea typeface="Noto Sans JP"/>
                <a:cs typeface="Noto Sans JP"/>
              </a:rPr>
              <a:t>駆動・車体</a:t>
            </a:r>
          </a:p>
        </p:txBody>
      </p:sp>
      <p:sp>
        <p:nvSpPr>
          <p:cNvPr id="8" name="DRV8833 / タミヤ ツインモーター&#10;ギヤーボックス・タイヤ・キ">
            <a:extLst xmlns:a="http://schemas.openxmlformats.org/drawingml/2006/main">
              <a:ext uri="{FF2B5EF4-FFF2-40B4-BE49-F238E27FC236}">
                <a16:creationId xmlns:a16="http://schemas.microsoft.com/office/drawing/2014/main" id="{5975B560-2576-449E-9A78-032E601C6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067175"/>
            <a:ext cx="4572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950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DRV8833 / タミヤ ツインモーター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950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ギヤーボックス・タイヤ・キャスター</a:t>
            </a:r>
          </a:p>
        </p:txBody>
      </p:sp>
      <p:sp>
        <p:nvSpPr>
          <p:cNvPr id="9" name="電源">
            <a:extLst xmlns:a="http://schemas.openxmlformats.org/drawingml/2006/main">
              <a:ext uri="{FF2B5EF4-FFF2-40B4-BE49-F238E27FC236}">
                <a16:creationId xmlns:a16="http://schemas.microsoft.com/office/drawing/2014/main" id="{D664E70C-9E31-4472-BBC4-0178FA2F3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5105400"/>
            <a:ext cx="421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45BA7"/>
                </a:solidFill>
                <a:latin typeface="Noto Sans JP"/>
                <a:ea typeface="Noto Sans JP"/>
                <a:cs typeface="Noto Sans JP"/>
              </a:defRPr>
            </a:pPr>
            <a:r>
              <a:rPr sz="2025" b="1">
                <a:solidFill>
                  <a:srgbClr val="245BA7"/>
                </a:solidFill>
                <a:latin typeface="Noto Sans JP"/>
                <a:ea typeface="Noto Sans JP"/>
                <a:cs typeface="Noto Sans JP"/>
              </a:rPr>
              <a:t>電源</a:t>
            </a:r>
          </a:p>
        </p:txBody>
      </p:sp>
      <p:sp>
        <p:nvSpPr>
          <p:cNvPr id="10" name="基板：USB給電&#10;モーター：単3電池3本・物理スイッチ">
            <a:extLst xmlns:a="http://schemas.openxmlformats.org/drawingml/2006/main">
              <a:ext uri="{FF2B5EF4-FFF2-40B4-BE49-F238E27FC236}">
                <a16:creationId xmlns:a16="http://schemas.microsoft.com/office/drawing/2014/main" id="{4D704F5E-2DF7-424D-B742-63E7BE051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5591175"/>
            <a:ext cx="457200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87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基板：USB給電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87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モーター：単3電池3本・物理スイッチ</a:t>
            </a:r>
          </a:p>
        </p:txBody>
      </p:sp>
    </p:spTree>
    <p:extLst>
      <p:ext uri="{BB962C8B-B14F-4D97-AF65-F5344CB8AC3E}">
        <p14:creationId xmlns:p14="http://schemas.microsoft.com/office/powerpoint/2010/main" val="57067217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ソフトウェア構成">
            <a:extLst xmlns:a="http://schemas.openxmlformats.org/drawingml/2006/main">
              <a:ext uri="{FF2B5EF4-FFF2-40B4-BE49-F238E27FC236}">
                <a16:creationId xmlns:a16="http://schemas.microsoft.com/office/drawing/2014/main" id="{2611CD16-0E80-4A2C-82FB-E85E28309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3300" b="1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ソフトウェア構成</a:t>
            </a:r>
          </a:p>
        </p:txBody>
      </p:sp>
      <p:sp>
        <p:nvSpPr>
          <p:cNvPr id="2" name="白い走行路の画像処理と、AIによる人物・車の検知を分ける。">
            <a:extLst xmlns:a="http://schemas.openxmlformats.org/drawingml/2006/main">
              <a:ext uri="{FF2B5EF4-FFF2-40B4-BE49-F238E27FC236}">
                <a16:creationId xmlns:a16="http://schemas.microsoft.com/office/drawing/2014/main" id="{4630CA30-4420-4AD0-A773-E27CF79E5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00150"/>
            <a:ext cx="10934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245BA7"/>
                </a:solidFill>
                <a:latin typeface="Noto Sans JP"/>
                <a:ea typeface="Noto Sans JP"/>
                <a:cs typeface="Noto Sans JP"/>
              </a:defRPr>
            </a:pPr>
            <a:r>
              <a:rPr sz="2100" b="0">
                <a:solidFill>
                  <a:srgbClr val="245BA7"/>
                </a:solidFill>
                <a:latin typeface="Noto Sans JP"/>
                <a:ea typeface="Noto Sans JP"/>
                <a:cs typeface="Noto Sans JP"/>
              </a:rPr>
              <a:t>白い走行路の画像処理と、AIによる人物・車の検知を分ける。</a:t>
            </a:r>
          </a:p>
        </p:txBody>
      </p:sp>
      <p:sp>
        <p:nvSpPr>
          <p:cNvPr id="3" name="06">
            <a:extLst xmlns:a="http://schemas.openxmlformats.org/drawingml/2006/main">
              <a:ext uri="{FF2B5EF4-FFF2-40B4-BE49-F238E27FC236}">
                <a16:creationId xmlns:a16="http://schemas.microsoft.com/office/drawing/2014/main" id="{501D3928-8B8E-4A37-B8BB-C36C08479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2937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defRPr>
            </a:pPr>
            <a:r>
              <a:rPr sz="135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rPr>
              <a:t>07</a:t>
            </a:r>
          </a:p>
        </p:txBody>
      </p:sp>
      <p:sp>
        <p:nvSpPr>
          <p:cNvPr id="4" name="カメラ画像">
            <a:extLst xmlns:a="http://schemas.openxmlformats.org/drawingml/2006/main">
              <a:ext uri="{FF2B5EF4-FFF2-40B4-BE49-F238E27FC236}">
                <a16:creationId xmlns:a16="http://schemas.microsoft.com/office/drawing/2014/main" id="{43C2170F-2FD1-4D28-A96E-EC87D83AF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900"/>
            <a:ext cx="2038350" cy="923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45BA7"/>
            </a:solidFill>
          </a:ln>
        </p:spPr>
        <p:txBody>
          <a:bodyPr xmlns:a="http://schemas.openxmlformats.org/drawingml/2006/main" lIns="133350" tIns="95250" rIns="133350" bIns="952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95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カメラ画像</a:t>
            </a:r>
          </a:p>
        </p:txBody>
      </p:sp>
      <p:sp>
        <p:nvSpPr>
          <p:cNvPr id="5" name="白い走行路を認識&#10;境界・進路を抽出">
            <a:extLst xmlns:a="http://schemas.openxmlformats.org/drawingml/2006/main">
              <a:ext uri="{FF2B5EF4-FFF2-40B4-BE49-F238E27FC236}">
                <a16:creationId xmlns:a16="http://schemas.microsoft.com/office/drawing/2014/main" id="{AA1892C5-7F98-49ED-9859-5C6CFD353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2019300"/>
            <a:ext cx="28194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45BA7"/>
            </a:solidFill>
          </a:ln>
        </p:spPr>
        <p:txBody>
          <a:bodyPr xmlns:a="http://schemas.openxmlformats.org/drawingml/2006/main" lIns="133350" tIns="95250" rIns="133350" bIns="952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95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白い走行路を認識</a:t>
            </a:r>
          </a:p>
          <a:p xmlns:a="http://schemas.openxmlformats.org/drawingml/2006/main">
            <a:pPr algn="ctr">
              <a:buNone/>
              <a:defRPr sz="195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95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境界・進路を抽出</a:t>
            </a:r>
          </a:p>
        </p:txBody>
      </p:sp>
      <p:sp>
        <p:nvSpPr>
          <p:cNvPr id="6" name="NPUで物体検知&#10;YOLO-Fastest">
            <a:extLst xmlns:a="http://schemas.openxmlformats.org/drawingml/2006/main">
              <a:ext uri="{FF2B5EF4-FFF2-40B4-BE49-F238E27FC236}">
                <a16:creationId xmlns:a16="http://schemas.microsoft.com/office/drawing/2014/main" id="{19E0735D-C799-4B25-8D9E-1924A11E0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4057650"/>
            <a:ext cx="28194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45BA7"/>
            </a:solidFill>
          </a:ln>
        </p:spPr>
        <p:txBody>
          <a:bodyPr xmlns:a="http://schemas.openxmlformats.org/drawingml/2006/main" lIns="133350" tIns="95250" rIns="133350" bIns="952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80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NPUで物体検知</a:t>
            </a:r>
          </a:p>
          <a:p xmlns:a="http://schemas.openxmlformats.org/drawingml/2006/main">
            <a:pPr algn="ctr">
              <a:buNone/>
              <a:defRPr sz="180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80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YOLO-Fastest v1.1</a:t>
            </a:r>
          </a:p>
        </p:txBody>
      </p:sp>
      <p:sp>
        <p:nvSpPr>
          <p:cNvPr id="7" name="M33&#10;モード管理・左右出力">
            <a:extLst xmlns:a="http://schemas.openxmlformats.org/drawingml/2006/main">
              <a:ext uri="{FF2B5EF4-FFF2-40B4-BE49-F238E27FC236}">
                <a16:creationId xmlns:a16="http://schemas.microsoft.com/office/drawing/2014/main" id="{64F8178D-C627-4949-B5BF-02438BF19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019300"/>
            <a:ext cx="33718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7F83"/>
            </a:solidFill>
          </a:ln>
        </p:spPr>
        <p:txBody>
          <a:bodyPr xmlns:a="http://schemas.openxmlformats.org/drawingml/2006/main" lIns="133350" tIns="95250" rIns="133350" bIns="952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95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M33</a:t>
            </a:r>
          </a:p>
          <a:p xmlns:a="http://schemas.openxmlformats.org/drawingml/2006/main">
            <a:pPr algn="ctr">
              <a:buNone/>
              <a:defRPr sz="195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95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モード管理・左右出力</a:t>
            </a:r>
          </a:p>
        </p:txBody>
      </p:sp>
      <p:sp>
        <p:nvSpPr>
          <p:cNvPr id="8" name="Web UI&#10;警告・ログ・映像">
            <a:extLst xmlns:a="http://schemas.openxmlformats.org/drawingml/2006/main">
              <a:ext uri="{FF2B5EF4-FFF2-40B4-BE49-F238E27FC236}">
                <a16:creationId xmlns:a16="http://schemas.microsoft.com/office/drawing/2014/main" id="{51B58AEF-0EE7-4BBC-A2F5-415321A0B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057650"/>
            <a:ext cx="33718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45BA7"/>
            </a:solidFill>
          </a:ln>
        </p:spPr>
        <p:txBody>
          <a:bodyPr xmlns:a="http://schemas.openxmlformats.org/drawingml/2006/main" lIns="133350" tIns="95250" rIns="133350" bIns="952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95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Web UI</a:t>
            </a:r>
          </a:p>
          <a:p xmlns:a="http://schemas.openxmlformats.org/drawingml/2006/main">
            <a:pPr algn="ctr">
              <a:buNone/>
              <a:defRPr sz="195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95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警告・ログ・映像</a:t>
            </a:r>
          </a:p>
        </p:txBody>
      </p:sp>
      <p:cxnSp>
        <p:nvCxnSpPr>
          <p:cNvPr id="109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 flipV="1">
            <a:off x="2647950" y="2505075"/>
            <a:ext cx="1133475" cy="585788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3813">
            <a:solidFill>
              <a:srgbClr val="245BA7"/>
            </a:solidFill>
            <a:prstDash val="solid"/>
            <a:tailEnd type="triangle" w="sm" len="sm"/>
          </a:ln>
        </p:spPr>
      </p:cxnSp>
      <p:cxnSp>
        <p:nvCxnSpPr>
          <p:cNvPr id="110" name=""/>
          <p:cNvCxnSpPr>
            <a:stCxn xmlns:a="http://schemas.openxmlformats.org/drawingml/2006/main" id="4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2647950" y="3090863"/>
            <a:ext cx="1133475" cy="1452563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3813">
            <a:solidFill>
              <a:srgbClr val="245BA7"/>
            </a:solidFill>
            <a:prstDash val="solid"/>
            <a:tailEnd type="triangle" w="sm" len="sm"/>
          </a:ln>
        </p:spPr>
      </p:cxnSp>
      <p:cxnSp>
        <p:nvCxnSpPr>
          <p:cNvPr id="111" name=""/>
          <p:cNvCxnSpPr>
            <a:stCxn xmlns:a="http://schemas.openxmlformats.org/drawingml/2006/main" id="5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6600825" y="2505075"/>
            <a:ext cx="160972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45BA7"/>
            </a:solidFill>
            <a:prstDash val="solid"/>
            <a:tailEnd type="triangle" w="sm" len="sm"/>
          </a:ln>
        </p:spPr>
      </p:cxnSp>
      <p:cxnSp>
        <p:nvCxnSpPr>
          <p:cNvPr id="112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6600825" y="4543425"/>
            <a:ext cx="160972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45BA7"/>
            </a:solidFill>
            <a:prstDash val="solid"/>
            <a:tailEnd type="triangle" w="sm" len="sm"/>
          </a:ln>
        </p:spPr>
      </p:cxnSp>
      <p:sp>
        <p:nvSpPr>
          <p:cNvPr id="13" name="進路・鮮度">
            <a:extLst xmlns:a="http://schemas.openxmlformats.org/drawingml/2006/main">
              <a:ext uri="{FF2B5EF4-FFF2-40B4-BE49-F238E27FC236}">
                <a16:creationId xmlns:a16="http://schemas.microsoft.com/office/drawing/2014/main" id="{51B354E7-6273-439D-B330-6FDC93670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190750"/>
            <a:ext cx="14001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245BA7"/>
                </a:solidFill>
                <a:latin typeface="Noto Sans JP"/>
                <a:ea typeface="Noto Sans JP"/>
                <a:cs typeface="Noto Sans JP"/>
              </a:defRPr>
            </a:pPr>
            <a:r>
              <a:rPr sz="1650" b="0">
                <a:solidFill>
                  <a:srgbClr val="245BA7"/>
                </a:solidFill>
                <a:latin typeface="Noto Sans JP"/>
                <a:ea typeface="Noto Sans JP"/>
                <a:cs typeface="Noto Sans JP"/>
              </a:rPr>
              <a:t>進路・鮮度</a:t>
            </a:r>
          </a:p>
        </p:txBody>
      </p:sp>
      <p:sp>
        <p:nvSpPr>
          <p:cNvPr id="14" name="検知結果">
            <a:extLst xmlns:a="http://schemas.openxmlformats.org/drawingml/2006/main">
              <a:ext uri="{FF2B5EF4-FFF2-40B4-BE49-F238E27FC236}">
                <a16:creationId xmlns:a16="http://schemas.microsoft.com/office/drawing/2014/main" id="{5C914C63-9E27-4810-9EDF-FBC14410E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229100"/>
            <a:ext cx="14001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245BA7"/>
                </a:solidFill>
                <a:latin typeface="Noto Sans JP"/>
                <a:ea typeface="Noto Sans JP"/>
                <a:cs typeface="Noto Sans JP"/>
              </a:defRPr>
            </a:pPr>
            <a:r>
              <a:rPr sz="1650" b="0">
                <a:solidFill>
                  <a:srgbClr val="245BA7"/>
                </a:solidFill>
                <a:latin typeface="Noto Sans JP"/>
                <a:ea typeface="Noto Sans JP"/>
                <a:cs typeface="Noto Sans JP"/>
              </a:rPr>
              <a:t>検知結果</a:t>
            </a:r>
          </a:p>
        </p:txBody>
      </p:sp>
      <p:sp>
        <p:nvSpPr>
          <p:cNvPr id="15" name="人物・車を検知：手動切り替えを推奨。検知だけでモードは変えない。">
            <a:extLst xmlns:a="http://schemas.openxmlformats.org/drawingml/2006/main">
              <a:ext uri="{FF2B5EF4-FFF2-40B4-BE49-F238E27FC236}">
                <a16:creationId xmlns:a16="http://schemas.microsoft.com/office/drawing/2014/main" id="{80857C70-05F5-4B8C-B686-6CAD65857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816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007F83"/>
                </a:solidFill>
                <a:latin typeface="Noto Sans JP"/>
                <a:ea typeface="Noto Sans JP"/>
                <a:cs typeface="Noto Sans JP"/>
              </a:defRPr>
            </a:pPr>
            <a:r>
              <a:rPr sz="1950" b="0">
                <a:solidFill>
                  <a:srgbClr val="007F83"/>
                </a:solidFill>
                <a:latin typeface="Noto Sans JP"/>
                <a:ea typeface="Noto Sans JP"/>
                <a:cs typeface="Noto Sans JP"/>
              </a:rPr>
              <a:t>人物・車を検知：手動切り替えを推奨。検知だけでモードは変えない。</a:t>
            </a:r>
          </a:p>
        </p:txBody>
      </p:sp>
      <p:sp>
        <p:nvSpPr>
          <p:cNvPr id="16" name="前方距離が300 mm以内なら距離も表示。映像配信は制御より低優先のベ">
            <a:extLst xmlns:a="http://schemas.openxmlformats.org/drawingml/2006/main">
              <a:ext uri="{FF2B5EF4-FFF2-40B4-BE49-F238E27FC236}">
                <a16:creationId xmlns:a16="http://schemas.microsoft.com/office/drawing/2014/main" id="{305D7071-9328-43EF-9718-06F021912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43600"/>
            <a:ext cx="108108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526273"/>
                </a:solidFill>
                <a:latin typeface="Noto Sans JP"/>
                <a:ea typeface="Noto Sans JP"/>
                <a:cs typeface="Noto Sans JP"/>
              </a:defRPr>
            </a:pPr>
            <a:r>
              <a:rPr sz="1725" b="0">
                <a:solidFill>
                  <a:srgbClr val="526273"/>
                </a:solidFill>
                <a:latin typeface="Noto Sans JP"/>
                <a:ea typeface="Noto Sans JP"/>
                <a:cs typeface="Noto Sans JP"/>
              </a:rPr>
              <a:t>前方300 mm以内ならToFの測定値も表示。画像内の人・車までの距離とは限らない。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526273"/>
                </a:solidFill>
                <a:latin typeface="Noto Sans JP"/>
                <a:ea typeface="Noto Sans JP"/>
                <a:cs typeface="Noto Sans JP"/>
              </a:defRPr>
            </a:pPr>
            <a:r>
              <a:rPr sz="1725" b="0">
                <a:solidFill>
                  <a:srgbClr val="526273"/>
                </a:solidFill>
                <a:latin typeface="Noto Sans JP"/>
                <a:ea typeface="Noto Sans JP"/>
                <a:cs typeface="Noto Sans JP"/>
              </a:rPr>
              <a:t>映像配信は制御より低優先のベストエフォート。</a:t>
            </a:r>
          </a:p>
        </p:txBody>
      </p:sp>
    </p:spTree>
    <p:extLst>
      <p:ext uri="{BB962C8B-B14F-4D97-AF65-F5344CB8AC3E}">
        <p14:creationId xmlns:p14="http://schemas.microsoft.com/office/powerpoint/2010/main" val="157796035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μT-Kernelの役割">
            <a:extLst xmlns:a="http://schemas.openxmlformats.org/drawingml/2006/main">
              <a:ext uri="{FF2B5EF4-FFF2-40B4-BE49-F238E27FC236}">
                <a16:creationId xmlns:a16="http://schemas.microsoft.com/office/drawing/2014/main" id="{5C7404F1-19CF-4375-A08E-7DD74A119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3300" b="1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μT-Kernelの役割</a:t>
            </a:r>
          </a:p>
        </p:txBody>
      </p:sp>
      <p:sp>
        <p:nvSpPr>
          <p:cNvPr id="2" name="処理をタスクに分け、停止要求を走行指令より優先する。">
            <a:extLst xmlns:a="http://schemas.openxmlformats.org/drawingml/2006/main">
              <a:ext uri="{FF2B5EF4-FFF2-40B4-BE49-F238E27FC236}">
                <a16:creationId xmlns:a16="http://schemas.microsoft.com/office/drawing/2014/main" id="{9DB98C94-BF97-42FA-A1E0-22797A14B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00150"/>
            <a:ext cx="10934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245BA7"/>
                </a:solidFill>
                <a:latin typeface="Noto Sans JP"/>
                <a:ea typeface="Noto Sans JP"/>
                <a:cs typeface="Noto Sans JP"/>
              </a:defRPr>
            </a:pPr>
            <a:r>
              <a:rPr sz="2100" b="0">
                <a:solidFill>
                  <a:srgbClr val="245BA7"/>
                </a:solidFill>
                <a:latin typeface="Noto Sans JP"/>
                <a:ea typeface="Noto Sans JP"/>
                <a:cs typeface="Noto Sans JP"/>
              </a:rPr>
              <a:t>処理をタスクに分け、停止要求を走行指令より優先する。</a:t>
            </a:r>
          </a:p>
        </p:txBody>
      </p:sp>
      <p:sp>
        <p:nvSpPr>
          <p:cNvPr id="3" name="07">
            <a:extLst xmlns:a="http://schemas.openxmlformats.org/drawingml/2006/main">
              <a:ext uri="{FF2B5EF4-FFF2-40B4-BE49-F238E27FC236}">
                <a16:creationId xmlns:a16="http://schemas.microsoft.com/office/drawing/2014/main" id="{47178A8E-90E7-4BF5-A469-5B7CB3DDD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2937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defRPr>
            </a:pPr>
            <a:r>
              <a:rPr sz="135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rPr>
              <a:t>08</a:t>
            </a:r>
          </a:p>
        </p:txBody>
      </p:sp>
      <p:sp>
        <p:nvSpPr>
          <p:cNvPr id="4" name="M33：停止を優先するタスク構成">
            <a:extLst xmlns:a="http://schemas.openxmlformats.org/drawingml/2006/main">
              <a:ext uri="{FF2B5EF4-FFF2-40B4-BE49-F238E27FC236}">
                <a16:creationId xmlns:a16="http://schemas.microsoft.com/office/drawing/2014/main" id="{81C0F0BD-1A95-486B-A0B9-32930200D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6400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245BA7"/>
                </a:solidFill>
                <a:latin typeface="Noto Sans JP"/>
                <a:ea typeface="Noto Sans JP"/>
                <a:cs typeface="Noto Sans JP"/>
              </a:defRPr>
            </a:pPr>
            <a:r>
              <a:rPr sz="2100" b="1">
                <a:solidFill>
                  <a:srgbClr val="245BA7"/>
                </a:solidFill>
                <a:latin typeface="Noto Sans JP"/>
                <a:ea typeface="Noto Sans JP"/>
                <a:cs typeface="Noto Sans JP"/>
              </a:rPr>
              <a:t>M33：停止を優先するタスク構成</a:t>
            </a:r>
          </a:p>
        </p:txBody>
      </p:sp>
      <p:sp>
        <p:nvSpPr>
          <p:cNvPr id="5" name="優先度1">
            <a:extLst xmlns:a="http://schemas.openxmlformats.org/drawingml/2006/main">
              <a:ext uri="{FF2B5EF4-FFF2-40B4-BE49-F238E27FC236}">
                <a16:creationId xmlns:a16="http://schemas.microsoft.com/office/drawing/2014/main" id="{0E438241-A9B1-498C-9E9B-F47A4DD9E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47950"/>
            <a:ext cx="1562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526273"/>
                </a:solidFill>
                <a:latin typeface="Noto Sans JP"/>
                <a:ea typeface="Noto Sans JP"/>
                <a:cs typeface="Noto Sans JP"/>
              </a:defRPr>
            </a:pPr>
            <a:r>
              <a:rPr sz="1875" b="0">
                <a:solidFill>
                  <a:srgbClr val="526273"/>
                </a:solidFill>
                <a:latin typeface="Noto Sans JP"/>
                <a:ea typeface="Noto Sans JP"/>
                <a:cs typeface="Noto Sans JP"/>
              </a:rPr>
              <a:t>優先度1</a:t>
            </a:r>
          </a:p>
        </p:txBody>
      </p:sp>
      <p:sp>
        <p:nvSpPr>
          <p:cNvPr id="6" name="緊急停止・監視">
            <a:extLst xmlns:a="http://schemas.openxmlformats.org/drawingml/2006/main">
              <a:ext uri="{FF2B5EF4-FFF2-40B4-BE49-F238E27FC236}">
                <a16:creationId xmlns:a16="http://schemas.microsoft.com/office/drawing/2014/main" id="{A9D2186C-E212-43F1-A65A-229DE4AE7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2647950"/>
            <a:ext cx="4238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202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緊急停止・監視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E836B734-DECD-4A3E-B80B-C9BFA044B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28975"/>
            <a:ext cx="1562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526273"/>
                </a:solidFill>
                <a:latin typeface="Noto Sans JP"/>
                <a:ea typeface="Noto Sans JP"/>
                <a:cs typeface="Noto Sans JP"/>
              </a:defRPr>
            </a:pPr>
            <a:r>
              <a:rPr sz="1875" b="0">
                <a:solidFill>
                  <a:srgbClr val="526273"/>
                </a:solidFill>
                <a:latin typeface="Noto Sans JP"/>
                <a:ea typeface="Noto Sans JP"/>
                <a:cs typeface="Noto Sans JP"/>
              </a:rPr>
              <a:t>2</a:t>
            </a:r>
          </a:p>
        </p:txBody>
      </p:sp>
      <p:sp>
        <p:nvSpPr>
          <p:cNvPr id="8" name="モーター出力">
            <a:extLst xmlns:a="http://schemas.openxmlformats.org/drawingml/2006/main">
              <a:ext uri="{FF2B5EF4-FFF2-40B4-BE49-F238E27FC236}">
                <a16:creationId xmlns:a16="http://schemas.microsoft.com/office/drawing/2014/main" id="{719702A7-D243-4530-AABF-94BBF02AA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3228975"/>
            <a:ext cx="4238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202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モーター出力</a:t>
            </a:r>
          </a:p>
        </p:txBody>
      </p:sp>
      <p:sp>
        <p:nvSpPr>
          <p:cNvPr id="9" name="3">
            <a:extLst xmlns:a="http://schemas.openxmlformats.org/drawingml/2006/main">
              <a:ext uri="{FF2B5EF4-FFF2-40B4-BE49-F238E27FC236}">
                <a16:creationId xmlns:a16="http://schemas.microsoft.com/office/drawing/2014/main" id="{4A91C5A8-9E87-498D-81B9-32D5AF441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10000"/>
            <a:ext cx="1562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526273"/>
                </a:solidFill>
                <a:latin typeface="Noto Sans JP"/>
                <a:ea typeface="Noto Sans JP"/>
                <a:cs typeface="Noto Sans JP"/>
              </a:defRPr>
            </a:pPr>
            <a:r>
              <a:rPr sz="1875" b="0">
                <a:solidFill>
                  <a:srgbClr val="526273"/>
                </a:solidFill>
                <a:latin typeface="Noto Sans JP"/>
                <a:ea typeface="Noto Sans JP"/>
                <a:cs typeface="Noto Sans JP"/>
              </a:rPr>
              <a:t>3</a:t>
            </a:r>
          </a:p>
        </p:txBody>
      </p:sp>
      <p:sp>
        <p:nvSpPr>
          <p:cNvPr id="10" name="距離センサ">
            <a:extLst xmlns:a="http://schemas.openxmlformats.org/drawingml/2006/main">
              <a:ext uri="{FF2B5EF4-FFF2-40B4-BE49-F238E27FC236}">
                <a16:creationId xmlns:a16="http://schemas.microsoft.com/office/drawing/2014/main" id="{381BCB97-AB41-4135-B152-08F58ED16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3810000"/>
            <a:ext cx="4238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202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距離センサ</a:t>
            </a:r>
          </a:p>
        </p:txBody>
      </p:sp>
      <p:sp>
        <p:nvSpPr>
          <p:cNvPr id="11" name="4">
            <a:extLst xmlns:a="http://schemas.openxmlformats.org/drawingml/2006/main">
              <a:ext uri="{FF2B5EF4-FFF2-40B4-BE49-F238E27FC236}">
                <a16:creationId xmlns:a16="http://schemas.microsoft.com/office/drawing/2014/main" id="{692619A5-20E1-4D4B-AA59-2C69B67D9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91025"/>
            <a:ext cx="1562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526273"/>
                </a:solidFill>
                <a:latin typeface="Noto Sans JP"/>
                <a:ea typeface="Noto Sans JP"/>
                <a:cs typeface="Noto Sans JP"/>
              </a:defRPr>
            </a:pPr>
            <a:r>
              <a:rPr sz="1875" b="0">
                <a:solidFill>
                  <a:srgbClr val="526273"/>
                </a:solidFill>
                <a:latin typeface="Noto Sans JP"/>
                <a:ea typeface="Noto Sans JP"/>
                <a:cs typeface="Noto Sans JP"/>
              </a:rPr>
              <a:t>4</a:t>
            </a:r>
          </a:p>
        </p:txBody>
      </p:sp>
      <p:sp>
        <p:nvSpPr>
          <p:cNvPr id="12" name="走行判断">
            <a:extLst xmlns:a="http://schemas.openxmlformats.org/drawingml/2006/main">
              <a:ext uri="{FF2B5EF4-FFF2-40B4-BE49-F238E27FC236}">
                <a16:creationId xmlns:a16="http://schemas.microsoft.com/office/drawing/2014/main" id="{BCAEE340-418C-4485-B2C0-6E646B6FE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4391025"/>
            <a:ext cx="4238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202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走行判断</a:t>
            </a:r>
          </a:p>
        </p:txBody>
      </p:sp>
      <p:sp>
        <p:nvSpPr>
          <p:cNvPr id="13" name="5 / 6 / 7">
            <a:extLst xmlns:a="http://schemas.openxmlformats.org/drawingml/2006/main">
              <a:ext uri="{FF2B5EF4-FFF2-40B4-BE49-F238E27FC236}">
                <a16:creationId xmlns:a16="http://schemas.microsoft.com/office/drawing/2014/main" id="{CC5303BC-F65A-467F-9E20-5FFCC9619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72050"/>
            <a:ext cx="1562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526273"/>
                </a:solidFill>
                <a:latin typeface="Noto Sans JP"/>
                <a:ea typeface="Noto Sans JP"/>
                <a:cs typeface="Noto Sans JP"/>
              </a:defRPr>
            </a:pPr>
            <a:r>
              <a:rPr sz="1875" b="0">
                <a:solidFill>
                  <a:srgbClr val="526273"/>
                </a:solidFill>
                <a:latin typeface="Noto Sans JP"/>
                <a:ea typeface="Noto Sans JP"/>
                <a:cs typeface="Noto Sans JP"/>
              </a:rPr>
              <a:t>5 / 6 / 7</a:t>
            </a:r>
          </a:p>
        </p:txBody>
      </p:sp>
      <p:sp>
        <p:nvSpPr>
          <p:cNvPr id="14" name="Web・認識・状態送信">
            <a:extLst xmlns:a="http://schemas.openxmlformats.org/drawingml/2006/main">
              <a:ext uri="{FF2B5EF4-FFF2-40B4-BE49-F238E27FC236}">
                <a16:creationId xmlns:a16="http://schemas.microsoft.com/office/drawing/2014/main" id="{26C9DFAB-5082-4085-9301-A649546B6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4972050"/>
            <a:ext cx="4238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202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Web・認識・状態送信</a:t>
            </a:r>
          </a:p>
        </p:txBody>
      </p:sp>
      <p:sp>
        <p:nvSpPr>
          <p:cNvPr id="15" name="走行判断・出力：10 ms待機 / 状態送信：50 ms">
            <a:extLst xmlns:a="http://schemas.openxmlformats.org/drawingml/2006/main">
              <a:ext uri="{FF2B5EF4-FFF2-40B4-BE49-F238E27FC236}">
                <a16:creationId xmlns:a16="http://schemas.microsoft.com/office/drawing/2014/main" id="{7355F16B-6E75-4E98-9855-C44CC8D41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743575"/>
            <a:ext cx="681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526273"/>
                </a:solidFill>
                <a:latin typeface="Noto Sans JP"/>
                <a:ea typeface="Noto Sans JP"/>
                <a:cs typeface="Noto Sans JP"/>
              </a:defRPr>
            </a:pPr>
            <a:r>
              <a:rPr sz="1725" b="0">
                <a:solidFill>
                  <a:srgbClr val="526273"/>
                </a:solidFill>
                <a:latin typeface="Noto Sans JP"/>
                <a:ea typeface="Noto Sans JP"/>
                <a:cs typeface="Noto Sans JP"/>
              </a:rPr>
              <a:t>走行判断・出力：10 ms待機 / 状態送信：50 ms</a:t>
            </a:r>
          </a:p>
        </p:txBody>
      </p:sp>
      <p:sp>
        <p:nvSpPr>
          <p:cNvPr id="16" name="停止条件">
            <a:extLst xmlns:a="http://schemas.openxmlformats.org/drawingml/2006/main">
              <a:ext uri="{FF2B5EF4-FFF2-40B4-BE49-F238E27FC236}">
                <a16:creationId xmlns:a16="http://schemas.microsoft.com/office/drawing/2014/main" id="{1E147F5C-3D86-4217-B32A-556D0AB4A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971675"/>
            <a:ext cx="3771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7F83"/>
                </a:solidFill>
                <a:latin typeface="Noto Sans JP"/>
                <a:ea typeface="Noto Sans JP"/>
                <a:cs typeface="Noto Sans JP"/>
              </a:defRPr>
            </a:pPr>
            <a:r>
              <a:rPr sz="2100" b="1">
                <a:solidFill>
                  <a:srgbClr val="007F83"/>
                </a:solidFill>
                <a:latin typeface="Noto Sans JP"/>
                <a:ea typeface="Noto Sans JP"/>
                <a:cs typeface="Noto Sans JP"/>
              </a:rPr>
              <a:t>停止条件</a:t>
            </a:r>
          </a:p>
        </p:txBody>
      </p:sp>
      <p:sp>
        <p:nvSpPr>
          <p:cNvPr id="17" name="前方100 mm以内：通常停止&#10;前方50 mm以内：緊急停止">
            <a:extLst xmlns:a="http://schemas.openxmlformats.org/drawingml/2006/main">
              <a:ext uri="{FF2B5EF4-FFF2-40B4-BE49-F238E27FC236}">
                <a16:creationId xmlns:a16="http://schemas.microsoft.com/office/drawing/2014/main" id="{BCB4FD25-1D75-49D4-A244-917D632AC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657475"/>
            <a:ext cx="381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202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前方100 mm以内：通常停止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202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前方50 mm以内：緊急停止</a:t>
            </a:r>
          </a:p>
        </p:txBody>
      </p:sp>
      <p:sp>
        <p:nvSpPr>
          <p:cNvPr id="18" name="手動指令の途絶：300 ms&#10;M85のHeartbeat途絶：300 ">
            <a:extLst xmlns:a="http://schemas.openxmlformats.org/drawingml/2006/main">
              <a:ext uri="{FF2B5EF4-FFF2-40B4-BE49-F238E27FC236}">
                <a16:creationId xmlns:a16="http://schemas.microsoft.com/office/drawing/2014/main" id="{C2904E46-3142-410A-A954-4B565FA06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867150"/>
            <a:ext cx="381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202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手動指令の途絶：300 ms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202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M85のHeartbeat途絶：300 ms</a:t>
            </a:r>
          </a:p>
        </p:txBody>
      </p:sp>
      <p:sp>
        <p:nvSpPr>
          <p:cNvPr id="19" name="センサ値が無効なら走行を禁止。&#10;停止しても自動で再発進しない。">
            <a:extLst xmlns:a="http://schemas.openxmlformats.org/drawingml/2006/main">
              <a:ext uri="{FF2B5EF4-FFF2-40B4-BE49-F238E27FC236}">
                <a16:creationId xmlns:a16="http://schemas.microsoft.com/office/drawing/2014/main" id="{E7EA6E3F-54D8-4D20-B5A5-71D5A7085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200650"/>
            <a:ext cx="381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007F83"/>
                </a:solidFill>
                <a:latin typeface="Noto Sans JP"/>
                <a:ea typeface="Noto Sans JP"/>
                <a:cs typeface="Noto Sans JP"/>
              </a:defRPr>
            </a:pPr>
            <a:r>
              <a:rPr sz="1950" b="0">
                <a:solidFill>
                  <a:srgbClr val="007F83"/>
                </a:solidFill>
                <a:latin typeface="Noto Sans JP"/>
                <a:ea typeface="Noto Sans JP"/>
                <a:cs typeface="Noto Sans JP"/>
              </a:rPr>
              <a:t>センサ値が無効なら走行を禁止。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007F83"/>
                </a:solidFill>
                <a:latin typeface="Noto Sans JP"/>
                <a:ea typeface="Noto Sans JP"/>
                <a:cs typeface="Noto Sans JP"/>
              </a:defRPr>
            </a:pPr>
            <a:r>
              <a:rPr sz="1950" b="0">
                <a:solidFill>
                  <a:srgbClr val="007F83"/>
                </a:solidFill>
                <a:latin typeface="Noto Sans JP"/>
                <a:ea typeface="Noto Sans JP"/>
                <a:cs typeface="Noto Sans JP"/>
              </a:rPr>
              <a:t>停止後は新たな操作が必要。</a:t>
            </a:r>
          </a:p>
        </p:txBody>
      </p:sp>
      <p:sp>
        <p:nvSpPr>
          <p:cNvPr id="20" name="距離・時間はコードの設定値。停止距離や安全性能の保証値ではない。">
            <a:extLst xmlns:a="http://schemas.openxmlformats.org/drawingml/2006/main">
              <a:ext uri="{FF2B5EF4-FFF2-40B4-BE49-F238E27FC236}">
                <a16:creationId xmlns:a16="http://schemas.microsoft.com/office/drawing/2014/main" id="{F320BBA8-A215-4D86-8C73-8F39889AC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191250"/>
            <a:ext cx="103060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26273"/>
                </a:solidFill>
                <a:latin typeface="Noto Sans JP"/>
                <a:ea typeface="Noto Sans JP"/>
                <a:cs typeface="Noto Sans JP"/>
              </a:defRPr>
            </a:pPr>
            <a:r>
              <a:rPr sz="1575" b="0">
                <a:solidFill>
                  <a:srgbClr val="526273"/>
                </a:solidFill>
                <a:latin typeface="Noto Sans JP"/>
                <a:ea typeface="Noto Sans JP"/>
                <a:cs typeface="Noto Sans JP"/>
              </a:rPr>
              <a:t>10 msは待機設定で、実測周期ではない。距離の設定値も停止距離・安全性能の保証ではない。</a:t>
            </a:r>
          </a:p>
        </p:txBody>
      </p:sp>
    </p:spTree>
    <p:extLst>
      <p:ext uri="{BB962C8B-B14F-4D97-AF65-F5344CB8AC3E}">
        <p14:creationId xmlns:p14="http://schemas.microsoft.com/office/powerpoint/2010/main" val="82792796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RON × AIとしての特徴">
            <a:extLst xmlns:a="http://schemas.openxmlformats.org/drawingml/2006/main">
              <a:ext uri="{FF2B5EF4-FFF2-40B4-BE49-F238E27FC236}">
                <a16:creationId xmlns:a16="http://schemas.microsoft.com/office/drawing/2014/main" id="{B2DB4B3B-287F-4315-9D71-46CF155F5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3300" b="1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TRON × AIとしての特徴</a:t>
            </a:r>
          </a:p>
        </p:txBody>
      </p:sp>
      <p:sp>
        <p:nvSpPr>
          <p:cNvPr id="2" name="車載AIの認識結果を、RTOSの制御と人の判断につなぐ。">
            <a:extLst xmlns:a="http://schemas.openxmlformats.org/drawingml/2006/main">
              <a:ext uri="{FF2B5EF4-FFF2-40B4-BE49-F238E27FC236}">
                <a16:creationId xmlns:a16="http://schemas.microsoft.com/office/drawing/2014/main" id="{4F9D83CF-0CA3-4629-B752-3431FE41F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00150"/>
            <a:ext cx="10934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007F83"/>
                </a:solidFill>
                <a:latin typeface="Noto Sans JP"/>
                <a:ea typeface="Noto Sans JP"/>
                <a:cs typeface="Noto Sans JP"/>
              </a:defRPr>
            </a:pPr>
            <a:r>
              <a:rPr sz="2100" b="0">
                <a:solidFill>
                  <a:srgbClr val="007F83"/>
                </a:solidFill>
                <a:latin typeface="Noto Sans JP"/>
                <a:ea typeface="Noto Sans JP"/>
                <a:cs typeface="Noto Sans JP"/>
              </a:rPr>
              <a:t>車載AIの認識結果を、RTOSの制御と人の判断につなぐ。</a:t>
            </a:r>
          </a:p>
        </p:txBody>
      </p:sp>
      <p:sp>
        <p:nvSpPr>
          <p:cNvPr id="3" name="車載NPUでAI認識">
            <a:extLst xmlns:a="http://schemas.openxmlformats.org/drawingml/2006/main">
              <a:ext uri="{FF2B5EF4-FFF2-40B4-BE49-F238E27FC236}">
                <a16:creationId xmlns:a16="http://schemas.microsoft.com/office/drawing/2014/main" id="{30C4D28F-0703-4B39-9D81-09D59E67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3143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245BA7"/>
                </a:solidFill>
                <a:latin typeface="Noto Sans JP"/>
                <a:ea typeface="Noto Sans JP"/>
                <a:cs typeface="Noto Sans JP"/>
              </a:defRPr>
            </a:pPr>
            <a:r>
              <a:rPr sz="2400" b="1">
                <a:solidFill>
                  <a:srgbClr val="245BA7"/>
                </a:solidFill>
                <a:latin typeface="Noto Sans JP"/>
                <a:ea typeface="Noto Sans JP"/>
                <a:cs typeface="Noto Sans JP"/>
              </a:rPr>
              <a:t>車載NPUでAI認識</a:t>
            </a:r>
          </a:p>
        </p:txBody>
      </p:sp>
      <p:sp>
        <p:nvSpPr>
          <p:cNvPr id="4" name="M85のNPUで人物・車を検知し、M33が距離監視と出力判断を担当。&#10;両コアでμ">
            <a:extLst xmlns:a="http://schemas.openxmlformats.org/drawingml/2006/main">
              <a:ext uri="{FF2B5EF4-FFF2-40B4-BE49-F238E27FC236}">
                <a16:creationId xmlns:a16="http://schemas.microsoft.com/office/drawing/2014/main" id="{54454833-2CFB-49D2-9D2D-FA962C2B5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095500"/>
            <a:ext cx="7524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87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M85のNPUで人物・車を検知し、M33が距離監視と出力判断を担当。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87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両コアでμT-Kernel 3.0を動かす。コア間は共有RAMと、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87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アクセスを調整するハードウェアセマフォ（HSEM）でつなぐ。</a:t>
            </a:r>
          </a:p>
        </p:txBody>
      </p:sp>
      <p:sp>
        <p:nvSpPr>
          <p:cNvPr id="5" name="停止処理を優先">
            <a:extLst xmlns:a="http://schemas.openxmlformats.org/drawingml/2006/main">
              <a:ext uri="{FF2B5EF4-FFF2-40B4-BE49-F238E27FC236}">
                <a16:creationId xmlns:a16="http://schemas.microsoft.com/office/drawing/2014/main" id="{F2847C61-76CB-4A8F-B788-FCC6A5541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3143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245BA7"/>
                </a:solidFill>
                <a:latin typeface="Noto Sans JP"/>
                <a:ea typeface="Noto Sans JP"/>
                <a:cs typeface="Noto Sans JP"/>
              </a:defRPr>
            </a:pPr>
            <a:r>
              <a:rPr sz="2400" b="1">
                <a:solidFill>
                  <a:srgbClr val="245BA7"/>
                </a:solidFill>
                <a:latin typeface="Noto Sans JP"/>
                <a:ea typeface="Noto Sans JP"/>
                <a:cs typeface="Noto Sans JP"/>
              </a:rPr>
              <a:t>停止処理を優先</a:t>
            </a:r>
          </a:p>
        </p:txBody>
      </p:sp>
      <p:sp>
        <p:nvSpPr>
          <p:cNvPr id="6" name="イベントフラグで停止を通知し、走行指令キューを待たずに処理。&#10;指令の受け渡しには">
            <a:extLst xmlns:a="http://schemas.openxmlformats.org/drawingml/2006/main">
              <a:ext uri="{FF2B5EF4-FFF2-40B4-BE49-F238E27FC236}">
                <a16:creationId xmlns:a16="http://schemas.microsoft.com/office/drawing/2014/main" id="{27AC6C58-940B-48C3-B22D-80B65EB79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476625"/>
            <a:ext cx="75247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87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イベントフラグで停止を通知し、走行指令キューを待たずに処理。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87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指令の受け渡しにはメッセージバッファを使用。状態を保護する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87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ミューテックスには優先度継承を使い、優先度逆転を抑える。</a:t>
            </a:r>
          </a:p>
        </p:txBody>
      </p:sp>
      <p:sp>
        <p:nvSpPr>
          <p:cNvPr id="7" name="人への引き継ぎを体験">
            <a:extLst xmlns:a="http://schemas.openxmlformats.org/drawingml/2006/main">
              <a:ext uri="{FF2B5EF4-FFF2-40B4-BE49-F238E27FC236}">
                <a16:creationId xmlns:a16="http://schemas.microsoft.com/office/drawing/2014/main" id="{EC725B38-A6AA-4C47-97F7-7D2C48005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57775"/>
            <a:ext cx="32766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007F83"/>
                </a:solidFill>
                <a:latin typeface="Noto Sans JP"/>
                <a:ea typeface="Noto Sans JP"/>
                <a:cs typeface="Noto Sans JP"/>
              </a:defRPr>
            </a:pPr>
            <a:r>
              <a:rPr sz="2325" b="1">
                <a:solidFill>
                  <a:srgbClr val="007F83"/>
                </a:solidFill>
                <a:latin typeface="Noto Sans JP"/>
                <a:ea typeface="Noto Sans JP"/>
                <a:cs typeface="Noto Sans JP"/>
              </a:rPr>
              <a:t>人への引き継ぎを体験</a:t>
            </a:r>
          </a:p>
        </p:txBody>
      </p:sp>
      <p:sp>
        <p:nvSpPr>
          <p:cNvPr id="8" name="走行路を見失うと停止し、TORで手動への引き継ぎを求める。&#10;利用者はWebの停止">
            <a:extLst xmlns:a="http://schemas.openxmlformats.org/drawingml/2006/main">
              <a:ext uri="{FF2B5EF4-FFF2-40B4-BE49-F238E27FC236}">
                <a16:creationId xmlns:a16="http://schemas.microsoft.com/office/drawing/2014/main" id="{7A479AC2-93A0-4544-999D-E47E0DC5B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5010150"/>
            <a:ext cx="7524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950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走行路を見失うと停止し、TORで手動への引き継ぎを求める。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950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利用者はWebの停止理由を見て操作を選び、ソースから判断条件も確かめられる。</a:t>
            </a:r>
          </a:p>
        </p:txBody>
      </p:sp>
      <p:sp>
        <p:nvSpPr>
          <p:cNvPr id="9" name="08">
            <a:extLst xmlns:a="http://schemas.openxmlformats.org/drawingml/2006/main">
              <a:ext uri="{FF2B5EF4-FFF2-40B4-BE49-F238E27FC236}">
                <a16:creationId xmlns:a16="http://schemas.microsoft.com/office/drawing/2014/main" id="{BADB84AC-00A0-4658-A45A-F50F81220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2937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defRPr>
            </a:pPr>
            <a:r>
              <a:rPr sz="135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062405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デモの手順">
            <a:extLst xmlns:a="http://schemas.openxmlformats.org/drawingml/2006/main">
              <a:ext uri="{FF2B5EF4-FFF2-40B4-BE49-F238E27FC236}">
                <a16:creationId xmlns:a16="http://schemas.microsoft.com/office/drawing/2014/main" id="{84CBA90F-EF07-41FF-BA37-65447C91D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3300" b="1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審査員向けの再現手順</a:t>
            </a:r>
          </a:p>
        </p:txBody>
      </p:sp>
      <p:sp>
        <p:nvSpPr>
          <p:cNvPr id="2" name="まずモーター系をOFFにして、表示と停止動作を確かめる。">
            <a:extLst xmlns:a="http://schemas.openxmlformats.org/drawingml/2006/main">
              <a:ext uri="{FF2B5EF4-FFF2-40B4-BE49-F238E27FC236}">
                <a16:creationId xmlns:a16="http://schemas.microsoft.com/office/drawing/2014/main" id="{0265679D-DE73-43CF-99EB-7C9392656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00150"/>
            <a:ext cx="10934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007F83"/>
                </a:solidFill>
                <a:latin typeface="Noto Sans JP"/>
                <a:ea typeface="Noto Sans JP"/>
                <a:cs typeface="Noto Sans JP"/>
              </a:defRPr>
            </a:pPr>
            <a:r>
              <a:rPr sz="2100" b="0">
                <a:solidFill>
                  <a:srgbClr val="007F83"/>
                </a:solidFill>
                <a:latin typeface="Noto Sans JP"/>
                <a:ea typeface="Noto Sans JP"/>
                <a:cs typeface="Noto Sans JP"/>
              </a:rPr>
              <a:t>ボードは書き込み済み。取り付け・接続後にWebから操作する。</a:t>
            </a:r>
          </a:p>
        </p:txBody>
      </p:sp>
      <p:sp>
        <p:nvSpPr>
          <p:cNvPr id="3" name="08">
            <a:extLst xmlns:a="http://schemas.openxmlformats.org/drawingml/2006/main">
              <a:ext uri="{FF2B5EF4-FFF2-40B4-BE49-F238E27FC236}">
                <a16:creationId xmlns:a16="http://schemas.microsoft.com/office/drawing/2014/main" id="{81074A8D-5725-4F28-8A57-5A6344292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2937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defRPr>
            </a:pPr>
            <a:r>
              <a:rPr sz="135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rPr>
              <a:t>10</a:t>
            </a:r>
          </a:p>
        </p:txBody>
      </p:sp>
      <p:sp>
        <p:nvSpPr>
          <p:cNvPr id="4" name="1">
            <a:extLst xmlns:a="http://schemas.openxmlformats.org/drawingml/2006/main">
              <a:ext uri="{FF2B5EF4-FFF2-40B4-BE49-F238E27FC236}">
                <a16:creationId xmlns:a16="http://schemas.microsoft.com/office/drawing/2014/main" id="{A5D24BD5-AC33-4651-9A28-0BCD337D3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76450"/>
            <a:ext cx="571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0">
                <a:solidFill>
                  <a:srgbClr val="007F83"/>
                </a:solidFill>
                <a:latin typeface="Noto Sans JP"/>
                <a:ea typeface="Noto Sans JP"/>
                <a:cs typeface="Noto Sans JP"/>
              </a:defRPr>
            </a:pPr>
            <a:r>
              <a:rPr sz="3000" b="0">
                <a:solidFill>
                  <a:srgbClr val="007F83"/>
                </a:solidFill>
                <a:latin typeface="Noto Sans JP"/>
                <a:ea typeface="Noto Sans JP"/>
                <a:cs typeface="Noto Sans JP"/>
              </a:rPr>
              <a:t>1</a:t>
            </a:r>
          </a:p>
        </p:txBody>
      </p:sp>
      <p:sp>
        <p:nvSpPr>
          <p:cNvPr id="5" name="起動・接続">
            <a:extLst xmlns:a="http://schemas.openxmlformats.org/drawingml/2006/main">
              <a:ext uri="{FF2B5EF4-FFF2-40B4-BE49-F238E27FC236}">
                <a16:creationId xmlns:a16="http://schemas.microsoft.com/office/drawing/2014/main" id="{E89FB1FF-3AF7-4029-93C3-C220DFA08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076450"/>
            <a:ext cx="504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2100" b="1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カメラ・ボードの取り付け</a:t>
            </a:r>
          </a:p>
        </p:txBody>
      </p:sp>
      <p:sp>
        <p:nvSpPr>
          <p:cNvPr id="6" name="LANをつなぎ、同じWi-FiからWebを開く。">
            <a:extLst xmlns:a="http://schemas.openxmlformats.org/drawingml/2006/main">
              <a:ext uri="{FF2B5EF4-FFF2-40B4-BE49-F238E27FC236}">
                <a16:creationId xmlns:a16="http://schemas.microsoft.com/office/drawing/2014/main" id="{495FF831-D679-4FCB-B42B-B77B60612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05025"/>
            <a:ext cx="52387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87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前側のフレームにボードを固定する。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96C2E1C7-C40A-4A8F-9780-BBA813747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828925"/>
            <a:ext cx="571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0">
                <a:solidFill>
                  <a:srgbClr val="007F83"/>
                </a:solidFill>
                <a:latin typeface="Noto Sans JP"/>
                <a:ea typeface="Noto Sans JP"/>
                <a:cs typeface="Noto Sans JP"/>
              </a:defRPr>
            </a:pPr>
            <a:r>
              <a:rPr sz="3000" b="0">
                <a:solidFill>
                  <a:srgbClr val="007F83"/>
                </a:solidFill>
                <a:latin typeface="Noto Sans JP"/>
                <a:ea typeface="Noto Sans JP"/>
                <a:cs typeface="Noto Sans JP"/>
              </a:rPr>
              <a:t>2</a:t>
            </a:r>
          </a:p>
        </p:txBody>
      </p:sp>
      <p:sp>
        <p:nvSpPr>
          <p:cNvPr id="8" name="モーター系OFFで確認">
            <a:extLst xmlns:a="http://schemas.openxmlformats.org/drawingml/2006/main">
              <a:ext uri="{FF2B5EF4-FFF2-40B4-BE49-F238E27FC236}">
                <a16:creationId xmlns:a16="http://schemas.microsoft.com/office/drawing/2014/main" id="{AE6A85B8-2757-47D8-A5C7-9CA27BBE8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828925"/>
            <a:ext cx="504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2100" b="1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センサ・ドライバの配線</a:t>
            </a:r>
          </a:p>
        </p:txBody>
      </p:sp>
      <p:sp>
        <p:nvSpPr>
          <p:cNvPr id="9" name="距離・映像・モード・停止理由を見る。">
            <a:extLst xmlns:a="http://schemas.openxmlformats.org/drawingml/2006/main">
              <a:ext uri="{FF2B5EF4-FFF2-40B4-BE49-F238E27FC236}">
                <a16:creationId xmlns:a16="http://schemas.microsoft.com/office/drawing/2014/main" id="{748703F1-07D2-441D-B082-76F532F38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57500"/>
            <a:ext cx="52387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87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線の色とピン番号を接続表で確認する。</a:t>
            </a:r>
          </a:p>
        </p:txBody>
      </p:sp>
      <p:sp>
        <p:nvSpPr>
          <p:cNvPr id="10" name="3">
            <a:extLst xmlns:a="http://schemas.openxmlformats.org/drawingml/2006/main">
              <a:ext uri="{FF2B5EF4-FFF2-40B4-BE49-F238E27FC236}">
                <a16:creationId xmlns:a16="http://schemas.microsoft.com/office/drawing/2014/main" id="{00038B4C-CE6B-4656-BFBE-5EDB404C9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81400"/>
            <a:ext cx="571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0">
                <a:solidFill>
                  <a:srgbClr val="007F83"/>
                </a:solidFill>
                <a:latin typeface="Noto Sans JP"/>
                <a:ea typeface="Noto Sans JP"/>
                <a:cs typeface="Noto Sans JP"/>
              </a:defRPr>
            </a:pPr>
            <a:r>
              <a:rPr sz="3000" b="0">
                <a:solidFill>
                  <a:srgbClr val="007F83"/>
                </a:solidFill>
                <a:latin typeface="Noto Sans JP"/>
                <a:ea typeface="Noto Sans JP"/>
                <a:cs typeface="Noto Sans JP"/>
              </a:rPr>
              <a:t>3</a:t>
            </a:r>
          </a:p>
        </p:txBody>
      </p:sp>
      <p:sp>
        <p:nvSpPr>
          <p:cNvPr id="11" name="車輪を浮かせて駆動確認">
            <a:extLst xmlns:a="http://schemas.openxmlformats.org/drawingml/2006/main">
              <a:ext uri="{FF2B5EF4-FFF2-40B4-BE49-F238E27FC236}">
                <a16:creationId xmlns:a16="http://schemas.microsoft.com/office/drawing/2014/main" id="{2AB25224-FF84-4438-AE8F-A4B61F510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581400"/>
            <a:ext cx="504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2100" b="1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ケーブル接続・機器の固定</a:t>
            </a:r>
          </a:p>
        </p:txBody>
      </p:sp>
      <p:sp>
        <p:nvSpPr>
          <p:cNvPr id="12" name="電源をONにし、MANUALの押す・離すを試す。">
            <a:extLst xmlns:a="http://schemas.openxmlformats.org/drawingml/2006/main">
              <a:ext uri="{FF2B5EF4-FFF2-40B4-BE49-F238E27FC236}">
                <a16:creationId xmlns:a16="http://schemas.microsoft.com/office/drawing/2014/main" id="{581C25F3-6819-4E5D-90F1-F09B0DE4D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609975"/>
            <a:ext cx="52387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87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LAN・USBをつなぎ、テープで固定する。</a:t>
            </a:r>
          </a:p>
        </p:txBody>
      </p:sp>
      <p:sp>
        <p:nvSpPr>
          <p:cNvPr id="13" name="4">
            <a:extLst xmlns:a="http://schemas.openxmlformats.org/drawingml/2006/main">
              <a:ext uri="{FF2B5EF4-FFF2-40B4-BE49-F238E27FC236}">
                <a16:creationId xmlns:a16="http://schemas.microsoft.com/office/drawing/2014/main" id="{01B569A3-21B4-435C-B863-2C64FD025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33875"/>
            <a:ext cx="571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0">
                <a:solidFill>
                  <a:srgbClr val="007F83"/>
                </a:solidFill>
                <a:latin typeface="Noto Sans JP"/>
                <a:ea typeface="Noto Sans JP"/>
                <a:cs typeface="Noto Sans JP"/>
              </a:defRPr>
            </a:pPr>
            <a:r>
              <a:rPr sz="3000" b="0">
                <a:solidFill>
                  <a:srgbClr val="007F83"/>
                </a:solidFill>
                <a:latin typeface="Noto Sans JP"/>
                <a:ea typeface="Noto Sans JP"/>
                <a:cs typeface="Noto Sans JP"/>
              </a:rPr>
              <a:t>4</a:t>
            </a:r>
          </a:p>
        </p:txBody>
      </p:sp>
      <p:sp>
        <p:nvSpPr>
          <p:cNvPr id="14" name="白いコースでAUTO">
            <a:extLst xmlns:a="http://schemas.openxmlformats.org/drawingml/2006/main">
              <a:ext uri="{FF2B5EF4-FFF2-40B4-BE49-F238E27FC236}">
                <a16:creationId xmlns:a16="http://schemas.microsoft.com/office/drawing/2014/main" id="{36A4B9B3-1AB0-42F2-846E-7B8686DBB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333875"/>
            <a:ext cx="504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2100" b="1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起動・Web表示の確認</a:t>
            </a:r>
          </a:p>
        </p:txBody>
      </p:sp>
      <p:sp>
        <p:nvSpPr>
          <p:cNvPr id="15" name="走行路喪失のTOR、手動引き継ぎを体験する。">
            <a:extLst xmlns:a="http://schemas.openxmlformats.org/drawingml/2006/main">
              <a:ext uri="{FF2B5EF4-FFF2-40B4-BE49-F238E27FC236}">
                <a16:creationId xmlns:a16="http://schemas.microsoft.com/office/drawing/2014/main" id="{59A83810-8C26-4693-93DF-69DB56946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362450"/>
            <a:ext cx="52387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87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ボードをリセットし、Wi-FiからWebを開く。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F3A75B4D-27A3-4987-9DD3-826A545D2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86350"/>
            <a:ext cx="571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0">
                <a:solidFill>
                  <a:srgbClr val="007F83"/>
                </a:solidFill>
                <a:latin typeface="Noto Sans JP"/>
                <a:ea typeface="Noto Sans JP"/>
                <a:cs typeface="Noto Sans JP"/>
              </a:defRPr>
            </a:pPr>
            <a:r>
              <a:rPr sz="3000" b="0">
                <a:solidFill>
                  <a:srgbClr val="007F83"/>
                </a:solidFill>
                <a:latin typeface="Noto Sans JP"/>
                <a:ea typeface="Noto Sans JP"/>
                <a:cs typeface="Noto Sans JP"/>
              </a:rPr>
              <a:t>5</a:t>
            </a:r>
          </a:p>
        </p:txBody>
      </p:sp>
      <p:sp>
        <p:nvSpPr>
          <p:cNvPr id="17" name="警告と距離停止">
            <a:extLst xmlns:a="http://schemas.openxmlformats.org/drawingml/2006/main">
              <a:ext uri="{FF2B5EF4-FFF2-40B4-BE49-F238E27FC236}">
                <a16:creationId xmlns:a16="http://schemas.microsoft.com/office/drawing/2014/main" id="{E480311B-A124-4CF9-9E8B-0252BEA0B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5086350"/>
            <a:ext cx="504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2100" b="1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MANUAL・AUTO・停止の確認</a:t>
            </a:r>
          </a:p>
        </p:txBody>
      </p:sp>
      <p:sp>
        <p:nvSpPr>
          <p:cNvPr id="18" name="人物・車の写真で警告。箱で距離停止を確認。">
            <a:extLst xmlns:a="http://schemas.openxmlformats.org/drawingml/2006/main">
              <a:ext uri="{FF2B5EF4-FFF2-40B4-BE49-F238E27FC236}">
                <a16:creationId xmlns:a16="http://schemas.microsoft.com/office/drawing/2014/main" id="{3CC87909-9054-4533-BA8C-8A409F5C3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114925"/>
            <a:ext cx="52387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87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車輪を浮かせた確認後に、床上で試す。</a:t>
            </a:r>
          </a:p>
        </p:txBody>
      </p:sp>
      <p:sp>
        <p:nvSpPr>
          <p:cNvPr id="19" name="Web：http://192.168.2.200/　　終了時はモーター">
            <a:extLst xmlns:a="http://schemas.openxmlformats.org/drawingml/2006/main">
              <a:ext uri="{FF2B5EF4-FFF2-40B4-BE49-F238E27FC236}">
                <a16:creationId xmlns:a16="http://schemas.microsoft.com/office/drawing/2014/main" id="{B9EFE461-1AA0-45D8-B45E-A9A104EBB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115050"/>
            <a:ext cx="10953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526273"/>
                </a:solidFill>
                <a:latin typeface="Noto Sans JP"/>
                <a:ea typeface="Noto Sans JP"/>
                <a:cs typeface="Noto Sans JP"/>
              </a:defRPr>
            </a:pPr>
            <a:r>
              <a:rPr sz="1725" b="0">
                <a:solidFill>
                  <a:srgbClr val="526273"/>
                </a:solidFill>
                <a:latin typeface="Noto Sans JP"/>
                <a:ea typeface="Noto Sans JP"/>
                <a:cs typeface="Noto Sans JP"/>
              </a:rPr>
              <a:t>組み立て・配線中は給電を止め、モーター用電池ボックスのスイッチをOFF。</a:t>
            </a:r>
          </a:p>
        </p:txBody>
      </p:sp>
    </p:spTree>
    <p:extLst>
      <p:ext uri="{BB962C8B-B14F-4D97-AF65-F5344CB8AC3E}">
        <p14:creationId xmlns:p14="http://schemas.microsoft.com/office/powerpoint/2010/main" val="212701033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1. カメラとボードの取り付け">
            <a:extLst xmlns:a="http://schemas.openxmlformats.org/drawingml/2006/main">
              <a:ext uri="{FF2B5EF4-FFF2-40B4-BE49-F238E27FC236}">
                <a16:creationId xmlns:a16="http://schemas.microsoft.com/office/drawing/2014/main" id="{DFEE6730-D029-4DE2-A451-340DD3999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3300" b="1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1. カメラとボードの取り付け</a:t>
            </a:r>
          </a:p>
        </p:txBody>
      </p:sp>
      <p:sp>
        <p:nvSpPr>
          <p:cNvPr id="2" name="カメラを付けたボードを、車体前側の斜めフレームに固定する。">
            <a:extLst xmlns:a="http://schemas.openxmlformats.org/drawingml/2006/main">
              <a:ext uri="{FF2B5EF4-FFF2-40B4-BE49-F238E27FC236}">
                <a16:creationId xmlns:a16="http://schemas.microsoft.com/office/drawing/2014/main" id="{73B67775-841C-45B4-B6E0-3A331F56C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00150"/>
            <a:ext cx="10934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007F83"/>
                </a:solidFill>
                <a:latin typeface="Noto Sans JP"/>
                <a:ea typeface="Noto Sans JP"/>
                <a:cs typeface="Noto Sans JP"/>
              </a:defRPr>
            </a:pPr>
            <a:r>
              <a:rPr sz="2100" b="0">
                <a:solidFill>
                  <a:srgbClr val="007F83"/>
                </a:solidFill>
                <a:latin typeface="Noto Sans JP"/>
                <a:ea typeface="Noto Sans JP"/>
                <a:cs typeface="Noto Sans JP"/>
              </a:rPr>
              <a:t>カメラを付けたボードを、車体前側の斜めフレームに固定する。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e748543d4f4ca5"/>
          <a:stretch xmlns:a="http://schemas.openxmlformats.org/drawingml/2006/main"/>
        </p:blipFill>
        <p:spPr>
          <a:xfrm xmlns:a="http://schemas.openxmlformats.org/drawingml/2006/main">
            <a:off x="1025525" y="1933575"/>
            <a:ext cx="4292600" cy="3219450"/>
          </a:xfrm>
          <a:prstGeom xmlns:a="http://schemas.openxmlformats.org/drawingml/2006/main" prst="rect">
            <a:avLst/>
          </a:prstGeom>
        </p:spPr>
      </p:pic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6bdee499b544ff"/>
          <a:stretch xmlns:a="http://schemas.openxmlformats.org/drawingml/2006/main"/>
        </p:blipFill>
        <p:spPr>
          <a:xfrm xmlns:a="http://schemas.openxmlformats.org/drawingml/2006/main">
            <a:off x="6721475" y="1933575"/>
            <a:ext cx="4292600" cy="3219450"/>
          </a:xfrm>
          <a:prstGeom xmlns:a="http://schemas.openxmlformats.org/drawingml/2006/main" prst="rect">
            <a:avLst/>
          </a:prstGeom>
        </p:spPr>
      </p:pic>
      <p:sp>
        <p:nvSpPr>
          <p:cNvPr id="5" name="OV5640をMIPI CSIコネクタに接続。&#10;写真と同じ上下の向きで取り付ける">
            <a:extLst xmlns:a="http://schemas.openxmlformats.org/drawingml/2006/main">
              <a:ext uri="{FF2B5EF4-FFF2-40B4-BE49-F238E27FC236}">
                <a16:creationId xmlns:a16="http://schemas.microsoft.com/office/drawing/2014/main" id="{92D9FA19-9571-4BEA-B016-36D90E7CC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48275"/>
            <a:ext cx="5238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87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OV5640をMIPI CSIコネクタに接続し、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87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ロックを閉じる。上下は写真に合わせる。</a:t>
            </a:r>
          </a:p>
        </p:txBody>
      </p:sp>
      <p:sp>
        <p:nvSpPr>
          <p:cNvPr id="6" name="前側のフレームを斜めにしてねじ止め。&#10;ボードはスペーサーを介して固定する。">
            <a:extLst xmlns:a="http://schemas.openxmlformats.org/drawingml/2006/main">
              <a:ext uri="{FF2B5EF4-FFF2-40B4-BE49-F238E27FC236}">
                <a16:creationId xmlns:a16="http://schemas.microsoft.com/office/drawing/2014/main" id="{93076EFF-81EC-492A-8BDD-8B918AB9C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5267325"/>
            <a:ext cx="542925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950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前側のフレームを斜めにしてねじ止め。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950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ボードはスペーサーを介して固定する。</a:t>
            </a:r>
          </a:p>
        </p:txBody>
      </p:sp>
      <p:sp>
        <p:nvSpPr>
          <p:cNvPr id="7" name="USB給電は止めたまま。ケーブルは車輪から離し、基板に無理な力をかけない。">
            <a:extLst xmlns:a="http://schemas.openxmlformats.org/drawingml/2006/main">
              <a:ext uri="{FF2B5EF4-FFF2-40B4-BE49-F238E27FC236}">
                <a16:creationId xmlns:a16="http://schemas.microsoft.com/office/drawing/2014/main" id="{5A0D42E9-90AA-4FE2-B70F-E8106F2F2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382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26273"/>
                </a:solidFill>
                <a:latin typeface="Noto Sans JP"/>
                <a:ea typeface="Noto Sans JP"/>
                <a:cs typeface="Noto Sans JP"/>
              </a:defRPr>
            </a:pPr>
            <a:r>
              <a:rPr sz="1575" b="0">
                <a:solidFill>
                  <a:srgbClr val="526273"/>
                </a:solidFill>
                <a:latin typeface="Noto Sans JP"/>
                <a:ea typeface="Noto Sans JP"/>
                <a:cs typeface="Noto Sans JP"/>
              </a:rPr>
              <a:t>取り付け中は給電OFF。写真の上下に合わせると、プログラムが画像を180度回転して表示する。</a:t>
            </a:r>
          </a:p>
        </p:txBody>
      </p:sp>
      <p:sp>
        <p:nvSpPr>
          <p:cNvPr id="8" name="09">
            <a:extLst xmlns:a="http://schemas.openxmlformats.org/drawingml/2006/main">
              <a:ext uri="{FF2B5EF4-FFF2-40B4-BE49-F238E27FC236}">
                <a16:creationId xmlns:a16="http://schemas.microsoft.com/office/drawing/2014/main" id="{47684DB8-78F9-4D76-B613-A522B5168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2937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defRPr>
            </a:pPr>
            <a:r>
              <a:rPr sz="135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7223473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2. モータードライバの接続">
            <a:extLst xmlns:a="http://schemas.openxmlformats.org/drawingml/2006/main">
              <a:ext uri="{FF2B5EF4-FFF2-40B4-BE49-F238E27FC236}">
                <a16:creationId xmlns:a16="http://schemas.microsoft.com/office/drawing/2014/main" id="{975AB959-85E6-4A24-86DD-FBD8F640A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3300" b="1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2. モータードライバの接続</a:t>
            </a:r>
          </a:p>
        </p:txBody>
      </p:sp>
      <p:sp>
        <p:nvSpPr>
          <p:cNvPr id="2" name="5本の線を、PMOD1（J26）の下段側へつなぐ。">
            <a:extLst xmlns:a="http://schemas.openxmlformats.org/drawingml/2006/main">
              <a:ext uri="{FF2B5EF4-FFF2-40B4-BE49-F238E27FC236}">
                <a16:creationId xmlns:a16="http://schemas.microsoft.com/office/drawing/2014/main" id="{218AE2AC-D26C-4B9E-902E-93099DA8D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00150"/>
            <a:ext cx="10934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007F83"/>
                </a:solidFill>
                <a:latin typeface="Noto Sans JP"/>
                <a:ea typeface="Noto Sans JP"/>
                <a:cs typeface="Noto Sans JP"/>
              </a:defRPr>
            </a:pPr>
            <a:r>
              <a:rPr sz="2100" b="0">
                <a:solidFill>
                  <a:srgbClr val="007F83"/>
                </a:solidFill>
                <a:latin typeface="Noto Sans JP"/>
                <a:ea typeface="Noto Sans JP"/>
                <a:cs typeface="Noto Sans JP"/>
              </a:rPr>
              <a:t>5本の線を、PMOD1（J26）の下段側へつなぐ。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76b82e950246ef"/>
          <a:stretch xmlns:a="http://schemas.openxmlformats.org/drawingml/2006/main"/>
        </p:blipFill>
        <p:spPr>
          <a:xfrm xmlns:a="http://schemas.openxmlformats.org/drawingml/2006/main">
            <a:off x="759619" y="1943100"/>
            <a:ext cx="2986088" cy="3981450"/>
          </a:xfrm>
          <a:prstGeom xmlns:a="http://schemas.openxmlformats.org/drawingml/2006/main" prst="rect">
            <a:avLst/>
          </a:prstGeom>
        </p:spPr>
      </p:pic>
      <p:graphicFrame>
        <p:nvGraphicFramePr>
          <p:cNvPr id="14" name=""/>
          <p:cNvGraphicFramePr/>
          <p:nvPr/>
        </p:nvGraphicFramePr>
        <p:xfrm>
          <a:off xmlns:a="http://schemas.openxmlformats.org/drawingml/2006/main" x="4314825" y="2124075"/>
          <a:ext xmlns:a="http://schemas.openxmlformats.org/drawingml/2006/main" cx="7267575" cy="32575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257300"/>
                <a:gridCol w="2143125"/>
                <a:gridCol w="3867150"/>
              </a:tblGrid>
              <a:tr h="54292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線の色</a:t>
                      </a:r>
                    </a:p>
                  </a:txBody>
                  <a:tcPr marL="91440" marR="91440" marT="45720" marB="45720" anchor="ctr">
                    <a:solidFill>
                      <a:srgbClr val="245BA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DRV8833</a:t>
                      </a:r>
                    </a:p>
                  </a:txBody>
                  <a:tcPr marL="91440" marR="91440" marT="45720" marB="45720" anchor="ctr">
                    <a:solidFill>
                      <a:srgbClr val="245BA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EK-RA8P1</a:t>
                      </a:r>
                    </a:p>
                  </a:txBody>
                  <a:tcPr marL="91440" marR="91440" marT="45720" marB="45720" anchor="ctr">
                    <a:solidFill>
                      <a:srgbClr val="245BA7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75" b="0">
                          <a:solidFill>
                            <a:srgbClr val="15283D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赤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75" b="0">
                          <a:solidFill>
                            <a:srgbClr val="15283D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AIN1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75" b="0">
                          <a:solidFill>
                            <a:srgbClr val="15283D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J26-7（P006）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75" b="0">
                          <a:solidFill>
                            <a:srgbClr val="15283D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橙</a:t>
                      </a:r>
                    </a:p>
                  </a:txBody>
                  <a:tcPr marL="91440" marR="91440" marT="45720" marB="45720"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75" b="0">
                          <a:solidFill>
                            <a:srgbClr val="15283D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AIN2</a:t>
                      </a:r>
                    </a:p>
                  </a:txBody>
                  <a:tcPr marL="91440" marR="91440" marT="45720" marB="45720"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75" b="0">
                          <a:solidFill>
                            <a:srgbClr val="15283D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J26-8（P402）</a:t>
                      </a:r>
                    </a:p>
                  </a:txBody>
                  <a:tcPr marL="91440" marR="91440" marT="45720" marB="45720" anchor="ctr">
                    <a:solidFill>
                      <a:srgbClr val="F2F6FA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75" b="0">
                          <a:solidFill>
                            <a:srgbClr val="15283D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緑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75" b="0">
                          <a:solidFill>
                            <a:srgbClr val="15283D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BIN1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75" b="0">
                          <a:solidFill>
                            <a:srgbClr val="15283D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J26-9（P412）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75" b="0">
                          <a:solidFill>
                            <a:srgbClr val="15283D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黄</a:t>
                      </a:r>
                    </a:p>
                  </a:txBody>
                  <a:tcPr marL="91440" marR="91440" marT="45720" marB="45720"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75" b="0">
                          <a:solidFill>
                            <a:srgbClr val="15283D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BIN2</a:t>
                      </a:r>
                    </a:p>
                  </a:txBody>
                  <a:tcPr marL="91440" marR="91440" marT="45720" marB="45720"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75" b="0">
                          <a:solidFill>
                            <a:srgbClr val="15283D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J26-10（P413）</a:t>
                      </a:r>
                    </a:p>
                  </a:txBody>
                  <a:tcPr marL="91440" marR="91440" marT="45720" marB="45720" anchor="ctr">
                    <a:solidFill>
                      <a:srgbClr val="F2F6FA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75" b="0">
                          <a:solidFill>
                            <a:srgbClr val="15283D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青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75" b="0">
                          <a:solidFill>
                            <a:srgbClr val="15283D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GND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75" b="0">
                          <a:solidFill>
                            <a:srgbClr val="15283D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J26-11（GND）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PMOD2と取り違えず、J26のピン番号を確認する。">
            <a:extLst xmlns:a="http://schemas.openxmlformats.org/drawingml/2006/main">
              <a:ext uri="{FF2B5EF4-FFF2-40B4-BE49-F238E27FC236}">
                <a16:creationId xmlns:a16="http://schemas.microsoft.com/office/drawing/2014/main" id="{2817CBFE-EC68-4EA9-BD65-FA245B33D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5619750"/>
            <a:ext cx="72675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007F83"/>
                </a:solidFill>
                <a:latin typeface="Noto Sans JP"/>
                <a:ea typeface="Noto Sans JP"/>
                <a:cs typeface="Noto Sans JP"/>
              </a:defRPr>
            </a:pPr>
            <a:r>
              <a:rPr sz="1950" b="0">
                <a:solidFill>
                  <a:srgbClr val="007F83"/>
                </a:solidFill>
                <a:latin typeface="Noto Sans JP"/>
                <a:ea typeface="Noto Sans JP"/>
                <a:cs typeface="Noto Sans JP"/>
              </a:rPr>
              <a:t>PMOD2と取り違えず、J26のピン番号を確認する。</a:t>
            </a:r>
          </a:p>
        </p:txBody>
      </p:sp>
      <p:sp>
        <p:nvSpPr>
          <p:cNvPr id="6" name="モーター・電池側のはんだ付け済み配線はそのまま使用する。">
            <a:extLst xmlns:a="http://schemas.openxmlformats.org/drawingml/2006/main">
              <a:ext uri="{FF2B5EF4-FFF2-40B4-BE49-F238E27FC236}">
                <a16:creationId xmlns:a16="http://schemas.microsoft.com/office/drawing/2014/main" id="{07A77622-EC50-4B21-AF6C-9F72B6A06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38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defRPr>
            </a:pPr>
            <a:r>
              <a:rPr sz="165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rPr>
              <a:t>J26-12にはつながない。モーター・電池側のはんだ付け済み配線はそのまま使用する。</a:t>
            </a:r>
          </a:p>
        </p:txBody>
      </p:sp>
      <p:sp>
        <p:nvSpPr>
          <p:cNvPr id="7" name="10">
            <a:extLst xmlns:a="http://schemas.openxmlformats.org/drawingml/2006/main">
              <a:ext uri="{FF2B5EF4-FFF2-40B4-BE49-F238E27FC236}">
                <a16:creationId xmlns:a16="http://schemas.microsoft.com/office/drawing/2014/main" id="{A3E38FDD-5570-4632-BDEE-7BB39C905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2937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defRPr>
            </a:pPr>
            <a:r>
              <a:rPr sz="135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6679695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3. 距離センサの接続">
            <a:extLst xmlns:a="http://schemas.openxmlformats.org/drawingml/2006/main">
              <a:ext uri="{FF2B5EF4-FFF2-40B4-BE49-F238E27FC236}">
                <a16:creationId xmlns:a16="http://schemas.microsoft.com/office/drawing/2014/main" id="{88455A59-5ADE-46C8-B3A9-56267EBC5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3300" b="1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3. 距離センサの接続</a:t>
            </a:r>
          </a:p>
        </p:txBody>
      </p:sp>
      <p:sp>
        <p:nvSpPr>
          <p:cNvPr id="2" name="ToF4Mの4本を、5V・GND・SDA・SCLへつなぐ。">
            <a:extLst xmlns:a="http://schemas.openxmlformats.org/drawingml/2006/main">
              <a:ext uri="{FF2B5EF4-FFF2-40B4-BE49-F238E27FC236}">
                <a16:creationId xmlns:a16="http://schemas.microsoft.com/office/drawing/2014/main" id="{95CAEFCE-B780-423E-9A3B-52AF90905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00150"/>
            <a:ext cx="10934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007F83"/>
                </a:solidFill>
                <a:latin typeface="Noto Sans JP"/>
                <a:ea typeface="Noto Sans JP"/>
                <a:cs typeface="Noto Sans JP"/>
              </a:defRPr>
            </a:pPr>
            <a:r>
              <a:rPr sz="2100" b="0">
                <a:solidFill>
                  <a:srgbClr val="007F83"/>
                </a:solidFill>
                <a:latin typeface="Noto Sans JP"/>
                <a:ea typeface="Noto Sans JP"/>
                <a:cs typeface="Noto Sans JP"/>
              </a:rPr>
              <a:t>ToF4Mの4本を、5V・GND・SDA・SCLへつなぐ。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44c02a94784eaa"/>
          <a:stretch xmlns:a="http://schemas.openxmlformats.org/drawingml/2006/main"/>
        </p:blipFill>
        <p:spPr>
          <a:xfrm xmlns:a="http://schemas.openxmlformats.org/drawingml/2006/main">
            <a:off x="611188" y="2038350"/>
            <a:ext cx="5092700" cy="3819525"/>
          </a:xfrm>
          <a:prstGeom xmlns:a="http://schemas.openxmlformats.org/drawingml/2006/main" prst="rect">
            <a:avLst/>
          </a:prstGeom>
        </p:spPr>
      </p:pic>
      <p:graphicFrame>
        <p:nvGraphicFramePr>
          <p:cNvPr id="14" name=""/>
          <p:cNvGraphicFramePr/>
          <p:nvPr/>
        </p:nvGraphicFramePr>
        <p:xfrm>
          <a:off xmlns:a="http://schemas.openxmlformats.org/drawingml/2006/main" x="6067425" y="2190750"/>
          <a:ext xmlns:a="http://schemas.openxmlformats.org/drawingml/2006/main" cx="5514975" cy="29051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038225"/>
                <a:gridCol w="1238250"/>
                <a:gridCol w="3238500"/>
              </a:tblGrid>
              <a:tr h="58102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線の色</a:t>
                      </a:r>
                    </a:p>
                  </a:txBody>
                  <a:tcPr marL="91440" marR="91440" marT="45720" marB="45720" anchor="ctr">
                    <a:solidFill>
                      <a:srgbClr val="245BA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センサ側</a:t>
                      </a:r>
                    </a:p>
                  </a:txBody>
                  <a:tcPr marL="91440" marR="91440" marT="45720" marB="45720" anchor="ctr">
                    <a:solidFill>
                      <a:srgbClr val="245BA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EK-RA8P1</a:t>
                      </a:r>
                    </a:p>
                  </a:txBody>
                  <a:tcPr marL="91440" marR="91440" marT="45720" marB="45720" anchor="ctr">
                    <a:solidFill>
                      <a:srgbClr val="245BA7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75" b="0">
                          <a:solidFill>
                            <a:srgbClr val="15283D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赤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75" b="0">
                          <a:solidFill>
                            <a:srgbClr val="15283D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5V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75" b="0">
                          <a:solidFill>
                            <a:srgbClr val="15283D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J18-5（5V）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75" b="0">
                          <a:solidFill>
                            <a:srgbClr val="15283D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黒</a:t>
                      </a:r>
                    </a:p>
                  </a:txBody>
                  <a:tcPr marL="91440" marR="91440" marT="45720" marB="45720"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75" b="0">
                          <a:solidFill>
                            <a:srgbClr val="15283D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GND</a:t>
                      </a:r>
                    </a:p>
                  </a:txBody>
                  <a:tcPr marL="91440" marR="91440" marT="45720" marB="45720"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75" b="0">
                          <a:solidFill>
                            <a:srgbClr val="15283D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J24-7（GND）</a:t>
                      </a:r>
                    </a:p>
                  </a:txBody>
                  <a:tcPr marL="91440" marR="91440" marT="45720" marB="45720" anchor="ctr">
                    <a:solidFill>
                      <a:srgbClr val="F2F6FA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75" b="0">
                          <a:solidFill>
                            <a:srgbClr val="15283D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黄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75" b="0">
                          <a:solidFill>
                            <a:srgbClr val="15283D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SDA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75" b="0">
                          <a:solidFill>
                            <a:srgbClr val="15283D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J24-9（P511）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75" b="0">
                          <a:solidFill>
                            <a:srgbClr val="15283D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白</a:t>
                      </a:r>
                    </a:p>
                  </a:txBody>
                  <a:tcPr marL="91440" marR="91440" marT="45720" marB="45720"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75" b="0">
                          <a:solidFill>
                            <a:srgbClr val="15283D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SCL</a:t>
                      </a:r>
                    </a:p>
                  </a:txBody>
                  <a:tcPr marL="91440" marR="91440" marT="45720" marB="45720"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75" b="0">
                          <a:solidFill>
                            <a:srgbClr val="15283D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J24-10（P512）</a:t>
                      </a:r>
                    </a:p>
                  </a:txBody>
                  <a:tcPr marL="91440" marR="91440" marT="45720" marB="45720" anchor="ctr"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5" name="距離センサを前方へ向け、&#10;窓を配線や車体でふさがない。">
            <a:extLst xmlns:a="http://schemas.openxmlformats.org/drawingml/2006/main">
              <a:ext uri="{FF2B5EF4-FFF2-40B4-BE49-F238E27FC236}">
                <a16:creationId xmlns:a16="http://schemas.microsoft.com/office/drawing/2014/main" id="{681C85B0-17D6-4ED0-B0D7-5663E44D1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5391150"/>
            <a:ext cx="55149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950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距離センサを前方へ向け、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950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窓を配線や車体でふさがない。</a:t>
            </a:r>
          </a:p>
        </p:txBody>
      </p:sp>
      <p:sp>
        <p:nvSpPr>
          <p:cNvPr id="6" name="使用センサ：M5Stack Unit ToF4M（U172）。写真はボード側の接">
            <a:extLst xmlns:a="http://schemas.openxmlformats.org/drawingml/2006/main">
              <a:ext uri="{FF2B5EF4-FFF2-40B4-BE49-F238E27FC236}">
                <a16:creationId xmlns:a16="http://schemas.microsoft.com/office/drawing/2014/main" id="{E181683C-D2F3-4468-BB20-646FB8B8B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526273"/>
                </a:solidFill>
                <a:latin typeface="Noto Sans JP"/>
                <a:ea typeface="Noto Sans JP"/>
                <a:cs typeface="Noto Sans JP"/>
              </a:defRPr>
            </a:pPr>
            <a:r>
              <a:rPr sz="1725" b="0">
                <a:solidFill>
                  <a:srgbClr val="526273"/>
                </a:solidFill>
                <a:latin typeface="Noto Sans JP"/>
                <a:ea typeface="Noto Sans JP"/>
                <a:cs typeface="Noto Sans JP"/>
              </a:rPr>
              <a:t>使用センサ：M5Stack Unit ToF4M（U172）。写真はボード側の接続位置の参考。</a:t>
            </a:r>
          </a:p>
        </p:txBody>
      </p:sp>
      <p:sp>
        <p:nvSpPr>
          <p:cNvPr id="7" name="11">
            <a:extLst xmlns:a="http://schemas.openxmlformats.org/drawingml/2006/main">
              <a:ext uri="{FF2B5EF4-FFF2-40B4-BE49-F238E27FC236}">
                <a16:creationId xmlns:a16="http://schemas.microsoft.com/office/drawing/2014/main" id="{BC2BD248-89AC-41E3-A4A1-8584B2B9E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2937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defRPr>
            </a:pPr>
            <a:r>
              <a:rPr sz="135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17385204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4. ケーブル接続と機器の固定">
            <a:extLst xmlns:a="http://schemas.openxmlformats.org/drawingml/2006/main">
              <a:ext uri="{FF2B5EF4-FFF2-40B4-BE49-F238E27FC236}">
                <a16:creationId xmlns:a16="http://schemas.microsoft.com/office/drawing/2014/main" id="{90BD8D38-0D06-431B-ACC0-B9435B4CA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3300" b="1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4. ケーブル接続と機器の固定</a:t>
            </a:r>
          </a:p>
        </p:txBody>
      </p:sp>
      <p:sp>
        <p:nvSpPr>
          <p:cNvPr id="2" name="ボードとルーターをLANでつなぎ、USBで給電する。">
            <a:extLst xmlns:a="http://schemas.openxmlformats.org/drawingml/2006/main">
              <a:ext uri="{FF2B5EF4-FFF2-40B4-BE49-F238E27FC236}">
                <a16:creationId xmlns:a16="http://schemas.microsoft.com/office/drawing/2014/main" id="{1D5CE1E2-1791-43FA-873D-572C53918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00150"/>
            <a:ext cx="10934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007F83"/>
                </a:solidFill>
                <a:latin typeface="Noto Sans JP"/>
                <a:ea typeface="Noto Sans JP"/>
                <a:cs typeface="Noto Sans JP"/>
              </a:defRPr>
            </a:pPr>
            <a:r>
              <a:rPr sz="2100" b="0">
                <a:solidFill>
                  <a:srgbClr val="007F83"/>
                </a:solidFill>
                <a:latin typeface="Noto Sans JP"/>
                <a:ea typeface="Noto Sans JP"/>
                <a:cs typeface="Noto Sans JP"/>
              </a:rPr>
              <a:t>ボードとルーターをLANでつなぎ、USBで給電する。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cf28090fb94bdd"/>
          <a:stretch xmlns:a="http://schemas.openxmlformats.org/drawingml/2006/main"/>
        </p:blipFill>
        <p:spPr>
          <a:xfrm xmlns:a="http://schemas.openxmlformats.org/drawingml/2006/main">
            <a:off x="631825" y="1933575"/>
            <a:ext cx="5384800" cy="4038600"/>
          </a:xfrm>
          <a:prstGeom xmlns:a="http://schemas.openxmlformats.org/drawingml/2006/main" prst="rect">
            <a:avLst/>
          </a:prstGeom>
        </p:spPr>
      </p:pic>
      <p:sp>
        <p:nvSpPr>
          <p:cNvPr id="4" name="LANケーブル">
            <a:extLst xmlns:a="http://schemas.openxmlformats.org/drawingml/2006/main">
              <a:ext uri="{FF2B5EF4-FFF2-40B4-BE49-F238E27FC236}">
                <a16:creationId xmlns:a16="http://schemas.microsoft.com/office/drawing/2014/main" id="{7E7D425B-7CA6-4B11-9B02-2F54A723E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047875"/>
            <a:ext cx="50482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245BA7"/>
                </a:solidFill>
                <a:latin typeface="Noto Sans JP"/>
                <a:ea typeface="Noto Sans JP"/>
                <a:cs typeface="Noto Sans JP"/>
              </a:defRPr>
            </a:pPr>
            <a:r>
              <a:rPr sz="2175" b="1">
                <a:solidFill>
                  <a:srgbClr val="245BA7"/>
                </a:solidFill>
                <a:latin typeface="Noto Sans JP"/>
                <a:ea typeface="Noto Sans JP"/>
                <a:cs typeface="Noto Sans JP"/>
              </a:rPr>
              <a:t>LANケーブル</a:t>
            </a:r>
          </a:p>
        </p:txBody>
      </p:sp>
      <p:sp>
        <p:nvSpPr>
          <p:cNvPr id="5" name="ボードのEthernetポートと&#10;ルーターのLANポートを接続。">
            <a:extLst xmlns:a="http://schemas.openxmlformats.org/drawingml/2006/main">
              <a:ext uri="{FF2B5EF4-FFF2-40B4-BE49-F238E27FC236}">
                <a16:creationId xmlns:a16="http://schemas.microsoft.com/office/drawing/2014/main" id="{9046463B-4CD5-4C83-B444-A080BE229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543175"/>
            <a:ext cx="5048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202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ボードのEthernetポートと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202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ルーターのLANポートを接続。</a:t>
            </a:r>
          </a:p>
        </p:txBody>
      </p:sp>
      <p:sp>
        <p:nvSpPr>
          <p:cNvPr id="6" name="USB給電ケーブル">
            <a:extLst xmlns:a="http://schemas.openxmlformats.org/drawingml/2006/main">
              <a:ext uri="{FF2B5EF4-FFF2-40B4-BE49-F238E27FC236}">
                <a16:creationId xmlns:a16="http://schemas.microsoft.com/office/drawing/2014/main" id="{F1426D10-7056-4DDD-9B2D-4E8035779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90925"/>
            <a:ext cx="50482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245BA7"/>
                </a:solidFill>
                <a:latin typeface="Noto Sans JP"/>
                <a:ea typeface="Noto Sans JP"/>
                <a:cs typeface="Noto Sans JP"/>
              </a:defRPr>
            </a:pPr>
            <a:r>
              <a:rPr sz="2175" b="1">
                <a:solidFill>
                  <a:srgbClr val="245BA7"/>
                </a:solidFill>
                <a:latin typeface="Noto Sans JP"/>
                <a:ea typeface="Noto Sans JP"/>
                <a:cs typeface="Noto Sans JP"/>
              </a:rPr>
              <a:t>USB給電ケーブル</a:t>
            </a:r>
          </a:p>
        </p:txBody>
      </p:sp>
      <p:sp>
        <p:nvSpPr>
          <p:cNvPr id="7" name="モバイルバッテリーからボードの&#10;J-Link OB側USBとルーターへ給電。">
            <a:extLst xmlns:a="http://schemas.openxmlformats.org/drawingml/2006/main">
              <a:ext uri="{FF2B5EF4-FFF2-40B4-BE49-F238E27FC236}">
                <a16:creationId xmlns:a16="http://schemas.microsoft.com/office/drawing/2014/main" id="{B7987B00-77A7-4327-8470-B4B869827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086225"/>
            <a:ext cx="504825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202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モバイルバッテリーからボードの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202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J-Link OB側USBとルーターへ給電。</a:t>
            </a:r>
          </a:p>
        </p:txBody>
      </p:sp>
      <p:sp>
        <p:nvSpPr>
          <p:cNvPr id="8" name="固定">
            <a:extLst xmlns:a="http://schemas.openxmlformats.org/drawingml/2006/main">
              <a:ext uri="{FF2B5EF4-FFF2-40B4-BE49-F238E27FC236}">
                <a16:creationId xmlns:a16="http://schemas.microsoft.com/office/drawing/2014/main" id="{5BC4D2D2-A849-4AA1-8F63-9F0F7484F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162550"/>
            <a:ext cx="50482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245BA7"/>
                </a:solidFill>
                <a:latin typeface="Noto Sans JP"/>
                <a:ea typeface="Noto Sans JP"/>
                <a:cs typeface="Noto Sans JP"/>
              </a:defRPr>
            </a:pPr>
            <a:r>
              <a:rPr sz="2175" b="1">
                <a:solidFill>
                  <a:srgbClr val="245BA7"/>
                </a:solidFill>
                <a:latin typeface="Noto Sans JP"/>
                <a:ea typeface="Noto Sans JP"/>
                <a:cs typeface="Noto Sans JP"/>
              </a:rPr>
              <a:t>固定</a:t>
            </a:r>
          </a:p>
        </p:txBody>
      </p:sp>
      <p:sp>
        <p:nvSpPr>
          <p:cNvPr id="9" name="ルーターとバッテリーを&#10;フレームへテープで固定。">
            <a:extLst xmlns:a="http://schemas.openxmlformats.org/drawingml/2006/main">
              <a:ext uri="{FF2B5EF4-FFF2-40B4-BE49-F238E27FC236}">
                <a16:creationId xmlns:a16="http://schemas.microsoft.com/office/drawing/2014/main" id="{1B5527B5-B1CA-4FCD-9C61-9E575DCC3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629275"/>
            <a:ext cx="5048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950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ルーターとバッテリーを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950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フレームへテープで固定。</a:t>
            </a:r>
          </a:p>
        </p:txBody>
      </p:sp>
      <p:sp>
        <p:nvSpPr>
          <p:cNvPr id="10" name="12">
            <a:extLst xmlns:a="http://schemas.openxmlformats.org/drawingml/2006/main">
              <a:ext uri="{FF2B5EF4-FFF2-40B4-BE49-F238E27FC236}">
                <a16:creationId xmlns:a16="http://schemas.microsoft.com/office/drawing/2014/main" id="{D8A37B49-D778-446B-B64C-051CD91E8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2937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defRPr>
            </a:pPr>
            <a:r>
              <a:rPr sz="135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91506251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5. 起動とWeb接続">
            <a:extLst xmlns:a="http://schemas.openxmlformats.org/drawingml/2006/main">
              <a:ext uri="{FF2B5EF4-FFF2-40B4-BE49-F238E27FC236}">
                <a16:creationId xmlns:a16="http://schemas.microsoft.com/office/drawing/2014/main" id="{2F4EC9E2-9C9B-4AE3-A110-53346889E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3300" b="1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5. 起動とWeb接続</a:t>
            </a:r>
          </a:p>
        </p:txBody>
      </p:sp>
      <p:sp>
        <p:nvSpPr>
          <p:cNvPr id="2" name="ルーター起動後、ボードの赤いRESETボタンを押す。">
            <a:extLst xmlns:a="http://schemas.openxmlformats.org/drawingml/2006/main">
              <a:ext uri="{FF2B5EF4-FFF2-40B4-BE49-F238E27FC236}">
                <a16:creationId xmlns:a16="http://schemas.microsoft.com/office/drawing/2014/main" id="{EA264419-243C-45B1-BA3A-5BAAA6780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00150"/>
            <a:ext cx="10934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007F83"/>
                </a:solidFill>
                <a:latin typeface="Noto Sans JP"/>
                <a:ea typeface="Noto Sans JP"/>
                <a:cs typeface="Noto Sans JP"/>
              </a:defRPr>
            </a:pPr>
            <a:r>
              <a:rPr sz="2100" b="0">
                <a:solidFill>
                  <a:srgbClr val="007F83"/>
                </a:solidFill>
                <a:latin typeface="Noto Sans JP"/>
                <a:ea typeface="Noto Sans JP"/>
                <a:cs typeface="Noto Sans JP"/>
              </a:rPr>
              <a:t>ルーター起動後、ボードの赤いRESETボタンを押す。</a:t>
            </a:r>
          </a:p>
        </p:txBody>
      </p:sp>
      <p:sp>
        <p:nvSpPr>
          <p:cNvPr id="3" name="起動前">
            <a:extLst xmlns:a="http://schemas.openxmlformats.org/drawingml/2006/main">
              <a:ext uri="{FF2B5EF4-FFF2-40B4-BE49-F238E27FC236}">
                <a16:creationId xmlns:a16="http://schemas.microsoft.com/office/drawing/2014/main" id="{0AF631E0-7780-4DB6-B176-8B710694D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0275"/>
            <a:ext cx="561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245BA7"/>
                </a:solidFill>
                <a:latin typeface="Noto Sans JP"/>
                <a:ea typeface="Noto Sans JP"/>
                <a:cs typeface="Noto Sans JP"/>
              </a:defRPr>
            </a:pPr>
            <a:r>
              <a:rPr sz="2175" b="1">
                <a:solidFill>
                  <a:srgbClr val="245BA7"/>
                </a:solidFill>
                <a:latin typeface="Noto Sans JP"/>
                <a:ea typeface="Noto Sans JP"/>
                <a:cs typeface="Noto Sans JP"/>
              </a:rPr>
              <a:t>起動前</a:t>
            </a:r>
          </a:p>
        </p:txBody>
      </p:sp>
      <p:sp>
        <p:nvSpPr>
          <p:cNvPr id="4" name="モーター用電池ボックスのスイッチはOFF。&#10;車輪を浮かせ、LAN・USBを確認す">
            <a:extLst xmlns:a="http://schemas.openxmlformats.org/drawingml/2006/main">
              <a:ext uri="{FF2B5EF4-FFF2-40B4-BE49-F238E27FC236}">
                <a16:creationId xmlns:a16="http://schemas.microsoft.com/office/drawing/2014/main" id="{D9FBBD1C-D919-4A38-B8BF-61B44E149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71775"/>
            <a:ext cx="5953125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202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モーター用スイッチはOFF。車輪を浮かせる。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202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写真の車体は、後方から前方を見て左に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202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倒すとON。LAN・USBも確認する。</a:t>
            </a:r>
          </a:p>
        </p:txBody>
      </p:sp>
      <p:sp>
        <p:nvSpPr>
          <p:cNvPr id="5" name="起動">
            <a:extLst xmlns:a="http://schemas.openxmlformats.org/drawingml/2006/main">
              <a:ext uri="{FF2B5EF4-FFF2-40B4-BE49-F238E27FC236}">
                <a16:creationId xmlns:a16="http://schemas.microsoft.com/office/drawing/2014/main" id="{9B4C8F06-1352-44A5-9835-DF0D484EC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561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245BA7"/>
                </a:solidFill>
                <a:latin typeface="Noto Sans JP"/>
                <a:ea typeface="Noto Sans JP"/>
                <a:cs typeface="Noto Sans JP"/>
              </a:defRPr>
            </a:pPr>
            <a:r>
              <a:rPr sz="2175" b="1">
                <a:solidFill>
                  <a:srgbClr val="245BA7"/>
                </a:solidFill>
                <a:latin typeface="Noto Sans JP"/>
                <a:ea typeface="Noto Sans JP"/>
                <a:cs typeface="Noto Sans JP"/>
              </a:rPr>
              <a:t>起動</a:t>
            </a:r>
          </a:p>
        </p:txBody>
      </p:sp>
      <p:sp>
        <p:nvSpPr>
          <p:cNvPr id="6" name="ルーターを起動してボードに給電。&#10;赤いRESETを1回押し、起動を待つ。">
            <a:extLst xmlns:a="http://schemas.openxmlformats.org/drawingml/2006/main">
              <a:ext uri="{FF2B5EF4-FFF2-40B4-BE49-F238E27FC236}">
                <a16:creationId xmlns:a16="http://schemas.microsoft.com/office/drawing/2014/main" id="{C5AD361D-30D8-4125-BE59-150EF563D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5953125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202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ルーターを起動してボードに給電。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202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赤いRESETを1回押し、起動を待つ。</a:t>
            </a:r>
          </a:p>
        </p:txBody>
      </p:sp>
      <p:sp>
        <p:nvSpPr>
          <p:cNvPr id="7" name="距離が「----」なら、走行せず配線を確認。">
            <a:extLst xmlns:a="http://schemas.openxmlformats.org/drawingml/2006/main">
              <a:ext uri="{FF2B5EF4-FFF2-40B4-BE49-F238E27FC236}">
                <a16:creationId xmlns:a16="http://schemas.microsoft.com/office/drawing/2014/main" id="{E4D54380-F8F9-473E-BDB6-9C3C64ADF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595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A52934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A52934"/>
                </a:solidFill>
                <a:latin typeface="Noto Sans JP"/>
                <a:ea typeface="Noto Sans JP"/>
                <a:cs typeface="Noto Sans JP"/>
              </a:rPr>
              <a:t>距離が「----」なら走行禁止。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A52934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A52934"/>
                </a:solidFill>
                <a:latin typeface="Noto Sans JP"/>
                <a:ea typeface="Noto Sans JP"/>
                <a:cs typeface="Noto Sans JP"/>
              </a:rPr>
              <a:t>遠方とは限らないため、配線・向きを確認。</a:t>
            </a:r>
          </a:p>
        </p:txBody>
      </p:sp>
      <p:sp>
        <p:nvSpPr>
          <p:cNvPr id="8" name="操作端末のWi-Fi">
            <a:extLst xmlns:a="http://schemas.openxmlformats.org/drawingml/2006/main">
              <a:ext uri="{FF2B5EF4-FFF2-40B4-BE49-F238E27FC236}">
                <a16:creationId xmlns:a16="http://schemas.microsoft.com/office/drawing/2014/main" id="{9DFF1BFB-8905-4F4E-881E-403005E78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2200275"/>
            <a:ext cx="45053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007F83"/>
                </a:solidFill>
                <a:latin typeface="Noto Sans JP"/>
                <a:ea typeface="Noto Sans JP"/>
                <a:cs typeface="Noto Sans JP"/>
              </a:defRPr>
            </a:pPr>
            <a:r>
              <a:rPr sz="2175" b="1">
                <a:solidFill>
                  <a:srgbClr val="007F83"/>
                </a:solidFill>
                <a:latin typeface="Noto Sans JP"/>
                <a:ea typeface="Noto Sans JP"/>
                <a:cs typeface="Noto Sans JP"/>
              </a:rPr>
              <a:t>操作端末のWi-Fi</a:t>
            </a:r>
          </a:p>
        </p:txBody>
      </p:sp>
      <p:sp>
        <p:nvSpPr>
          <p:cNvPr id="9" name="使用ルーターのSSIDへ接続。&#10;端末のIPは192.168.2.x。&#10;ボードのI">
            <a:extLst xmlns:a="http://schemas.openxmlformats.org/drawingml/2006/main">
              <a:ext uri="{FF2B5EF4-FFF2-40B4-BE49-F238E27FC236}">
                <a16:creationId xmlns:a16="http://schemas.microsoft.com/office/drawing/2014/main" id="{8B6954D2-1CBF-4F9F-8AE8-6B7A3E003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2771775"/>
            <a:ext cx="450532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202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使用ルーターのSSIDへ接続。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202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端末のIPは192.168.2.x。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202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ボードのIPとは重複させない。</a:t>
            </a:r>
          </a:p>
        </p:txBody>
      </p:sp>
      <p:sp>
        <p:nvSpPr>
          <p:cNvPr id="10" name="ブラウザで開く">
            <a:extLst xmlns:a="http://schemas.openxmlformats.org/drawingml/2006/main">
              <a:ext uri="{FF2B5EF4-FFF2-40B4-BE49-F238E27FC236}">
                <a16:creationId xmlns:a16="http://schemas.microsoft.com/office/drawing/2014/main" id="{5F9820A2-14BB-4057-83F8-F872075E5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4514850"/>
            <a:ext cx="45053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007F83"/>
                </a:solidFill>
                <a:latin typeface="Noto Sans JP"/>
                <a:ea typeface="Noto Sans JP"/>
                <a:cs typeface="Noto Sans JP"/>
              </a:defRPr>
            </a:pPr>
            <a:r>
              <a:rPr sz="2175" b="1">
                <a:solidFill>
                  <a:srgbClr val="007F83"/>
                </a:solidFill>
                <a:latin typeface="Noto Sans JP"/>
                <a:ea typeface="Noto Sans JP"/>
                <a:cs typeface="Noto Sans JP"/>
              </a:rPr>
              <a:t>ブラウザで開く</a:t>
            </a:r>
          </a:p>
        </p:txBody>
      </p:sp>
      <p:sp>
        <p:nvSpPr>
          <p:cNvPr id="11" name="http://192.168.2.200/">
            <a:extLst xmlns:a="http://schemas.openxmlformats.org/drawingml/2006/main">
              <a:ext uri="{FF2B5EF4-FFF2-40B4-BE49-F238E27FC236}">
                <a16:creationId xmlns:a16="http://schemas.microsoft.com/office/drawing/2014/main" id="{10694408-CDB6-43E1-8C08-565A547B3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5086350"/>
            <a:ext cx="450532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2175" b="1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http://192.168.2.200/</a:t>
            </a:r>
          </a:p>
        </p:txBody>
      </p:sp>
      <p:sp>
        <p:nvSpPr>
          <p:cNvPr id="12" name="接続表示・距離・映像を確認。">
            <a:extLst xmlns:a="http://schemas.openxmlformats.org/drawingml/2006/main">
              <a:ext uri="{FF2B5EF4-FFF2-40B4-BE49-F238E27FC236}">
                <a16:creationId xmlns:a16="http://schemas.microsoft.com/office/drawing/2014/main" id="{1ACB64C7-8312-4C0F-A3C9-3D2BB34BC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5734050"/>
            <a:ext cx="45053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950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接続表示・距離・映像を確認。</a:t>
            </a:r>
          </a:p>
        </p:txBody>
      </p:sp>
      <p:sp>
        <p:nvSpPr>
          <p:cNvPr id="13" name="13">
            <a:extLst xmlns:a="http://schemas.openxmlformats.org/drawingml/2006/main">
              <a:ext uri="{FF2B5EF4-FFF2-40B4-BE49-F238E27FC236}">
                <a16:creationId xmlns:a16="http://schemas.microsoft.com/office/drawing/2014/main" id="{5D5E0786-9E64-4DC0-8544-16AF14CF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2937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defRPr>
            </a:pPr>
            <a:r>
              <a:rPr sz="135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25189387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6. MANUALとAUTOの確認">
            <a:extLst xmlns:a="http://schemas.openxmlformats.org/drawingml/2006/main">
              <a:ext uri="{FF2B5EF4-FFF2-40B4-BE49-F238E27FC236}">
                <a16:creationId xmlns:a16="http://schemas.microsoft.com/office/drawing/2014/main" id="{8759557D-F47F-468A-B705-5E4E27C5D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3300" b="1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6. MANUALとAUTOの確認</a:t>
            </a:r>
          </a:p>
        </p:txBody>
      </p:sp>
      <p:sp>
        <p:nvSpPr>
          <p:cNvPr id="2" name="表示確認後、車輪を浮かせて短時間の回転を試す。">
            <a:extLst xmlns:a="http://schemas.openxmlformats.org/drawingml/2006/main">
              <a:ext uri="{FF2B5EF4-FFF2-40B4-BE49-F238E27FC236}">
                <a16:creationId xmlns:a16="http://schemas.microsoft.com/office/drawing/2014/main" id="{F5B2A3D5-E2F9-429E-A231-54267F23A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00150"/>
            <a:ext cx="10934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007F83"/>
                </a:solidFill>
                <a:latin typeface="Noto Sans JP"/>
                <a:ea typeface="Noto Sans JP"/>
                <a:cs typeface="Noto Sans JP"/>
              </a:defRPr>
            </a:pPr>
            <a:r>
              <a:rPr sz="2100" b="0">
                <a:solidFill>
                  <a:srgbClr val="007F83"/>
                </a:solidFill>
                <a:latin typeface="Noto Sans JP"/>
                <a:ea typeface="Noto Sans JP"/>
                <a:cs typeface="Noto Sans JP"/>
              </a:rPr>
              <a:t>有効な前方距離（100 mm超）を確認し、車輪を浮かせて回転を試す。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36ed10c36442f1"/>
          <a:stretch xmlns:a="http://schemas.openxmlformats.org/drawingml/2006/main"/>
        </p:blipFill>
        <p:spPr>
          <a:xfrm xmlns:a="http://schemas.openxmlformats.org/drawingml/2006/main">
            <a:off x="609600" y="1968724"/>
            <a:ext cx="5257800" cy="2425253"/>
          </a:xfrm>
          <a:prstGeom xmlns:a="http://schemas.openxmlformats.org/drawingml/2006/main" prst="rect">
            <a:avLst/>
          </a:prstGeom>
        </p:spPr>
      </p:pic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57efb37acf46c0"/>
          <a:stretch xmlns:a="http://schemas.openxmlformats.org/drawingml/2006/main"/>
        </p:blipFill>
        <p:spPr>
          <a:xfrm xmlns:a="http://schemas.openxmlformats.org/drawingml/2006/main">
            <a:off x="6324600" y="1968724"/>
            <a:ext cx="5257800" cy="2425253"/>
          </a:xfrm>
          <a:prstGeom xmlns:a="http://schemas.openxmlformats.org/drawingml/2006/main" prst="rect">
            <a:avLst/>
          </a:prstGeom>
        </p:spPr>
      </p:pic>
      <p:sp>
        <p:nvSpPr>
          <p:cNvPr id="5" name="MANUAL">
            <a:extLst xmlns:a="http://schemas.openxmlformats.org/drawingml/2006/main">
              <a:ext uri="{FF2B5EF4-FFF2-40B4-BE49-F238E27FC236}">
                <a16:creationId xmlns:a16="http://schemas.microsoft.com/office/drawing/2014/main" id="{C3CD9C34-73C6-4A7F-9303-2C2AFC2B4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00575"/>
            <a:ext cx="52578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007F83"/>
                </a:solidFill>
                <a:latin typeface="Noto Sans JP"/>
                <a:ea typeface="Noto Sans JP"/>
                <a:cs typeface="Noto Sans JP"/>
              </a:defRPr>
            </a:pPr>
            <a:r>
              <a:rPr sz="2175" b="1">
                <a:solidFill>
                  <a:srgbClr val="007F83"/>
                </a:solidFill>
                <a:latin typeface="Noto Sans JP"/>
                <a:ea typeface="Noto Sans JP"/>
                <a:cs typeface="Noto Sans JP"/>
              </a:rPr>
              <a:t>MANUAL</a:t>
            </a:r>
          </a:p>
        </p:txBody>
      </p:sp>
      <p:sp>
        <p:nvSpPr>
          <p:cNvPr id="6" name="モーター用スイッチをON。&#10;▲を押すと前進し、離すと停止。&#10;◀・▶で旋回を確認す">
            <a:extLst xmlns:a="http://schemas.openxmlformats.org/drawingml/2006/main">
              <a:ext uri="{FF2B5EF4-FFF2-40B4-BE49-F238E27FC236}">
                <a16:creationId xmlns:a16="http://schemas.microsoft.com/office/drawing/2014/main" id="{AE62BE56-7227-43AF-B7C0-32A4AF190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86350"/>
            <a:ext cx="52578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87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起動時はMANUAL・停止。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87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モーター用スイッチをON（向きは前ページ）。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87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▲で前進、離すと停止。◀・▶で旋回。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87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操作が300 ms途絶えた場合も停止する。</a:t>
            </a:r>
          </a:p>
        </p:txBody>
      </p:sp>
      <p:sp>
        <p:nvSpPr>
          <p:cNvPr id="7" name="AUTO">
            <a:extLst xmlns:a="http://schemas.openxmlformats.org/drawingml/2006/main">
              <a:ext uri="{FF2B5EF4-FFF2-40B4-BE49-F238E27FC236}">
                <a16:creationId xmlns:a16="http://schemas.microsoft.com/office/drawing/2014/main" id="{57CB113C-AF86-409F-BA9D-C0F5D7876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600575"/>
            <a:ext cx="52578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007F83"/>
                </a:solidFill>
                <a:latin typeface="Noto Sans JP"/>
                <a:ea typeface="Noto Sans JP"/>
                <a:cs typeface="Noto Sans JP"/>
              </a:defRPr>
            </a:pPr>
            <a:r>
              <a:rPr sz="2175" b="1">
                <a:solidFill>
                  <a:srgbClr val="007F83"/>
                </a:solidFill>
                <a:latin typeface="Noto Sans JP"/>
                <a:ea typeface="Noto Sans JP"/>
                <a:cs typeface="Noto Sans JP"/>
              </a:rPr>
              <a:t>AUTO</a:t>
            </a:r>
          </a:p>
        </p:txBody>
      </p:sp>
      <p:sp>
        <p:nvSpPr>
          <p:cNvPr id="8" name="手動の確認後に白いコースへ置く。&#10;MANUAL MODEボタンでAUTO開始。&#10;">
            <a:extLst xmlns:a="http://schemas.openxmlformats.org/drawingml/2006/main">
              <a:ext uri="{FF2B5EF4-FFF2-40B4-BE49-F238E27FC236}">
                <a16:creationId xmlns:a16="http://schemas.microsoft.com/office/drawing/2014/main" id="{D54F28B1-26C7-4146-92AB-CC220E1D4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086350"/>
            <a:ext cx="52578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87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白い道をカメラ下半分に大きく映す。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87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MANUAL MODEを押すとAUTOへ切り替わる。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87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AUTO中はパッド無効。STOPで止める。</a:t>
            </a:r>
          </a:p>
        </p:txBody>
      </p:sp>
      <p:sp>
        <p:nvSpPr>
          <p:cNvPr id="9" name="14">
            <a:extLst xmlns:a="http://schemas.openxmlformats.org/drawingml/2006/main">
              <a:ext uri="{FF2B5EF4-FFF2-40B4-BE49-F238E27FC236}">
                <a16:creationId xmlns:a16="http://schemas.microsoft.com/office/drawing/2014/main" id="{F76CB417-9EC5-41E5-930F-96A296DE4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2937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defRPr>
            </a:pPr>
            <a:r>
              <a:rPr sz="135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92208335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7. 人物・車の検知">
            <a:extLst xmlns:a="http://schemas.openxmlformats.org/drawingml/2006/main">
              <a:ext uri="{FF2B5EF4-FFF2-40B4-BE49-F238E27FC236}">
                <a16:creationId xmlns:a16="http://schemas.microsoft.com/office/drawing/2014/main" id="{C182291B-BEEE-44A9-A6F2-4484C5112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3300" b="1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7. 人物・車の検知</a:t>
            </a:r>
          </a:p>
        </p:txBody>
      </p:sp>
      <p:sp>
        <p:nvSpPr>
          <p:cNvPr id="2" name="人物や車の写真・模型を見せ、検知枠と警告を確認する。">
            <a:extLst xmlns:a="http://schemas.openxmlformats.org/drawingml/2006/main">
              <a:ext uri="{FF2B5EF4-FFF2-40B4-BE49-F238E27FC236}">
                <a16:creationId xmlns:a16="http://schemas.microsoft.com/office/drawing/2014/main" id="{DD522216-05E9-45A7-8648-471DA2B4F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00150"/>
            <a:ext cx="10934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007F83"/>
                </a:solidFill>
                <a:latin typeface="Noto Sans JP"/>
                <a:ea typeface="Noto Sans JP"/>
                <a:cs typeface="Noto Sans JP"/>
              </a:defRPr>
            </a:pPr>
            <a:r>
              <a:rPr sz="2100" b="0">
                <a:solidFill>
                  <a:srgbClr val="007F83"/>
                </a:solidFill>
                <a:latin typeface="Noto Sans JP"/>
                <a:ea typeface="Noto Sans JP"/>
                <a:cs typeface="Noto Sans JP"/>
              </a:rPr>
              <a:t>人物や車の写真・模型を見せ、検知枠と警告を確認する。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957f4c37094e05"/>
          <a:stretch xmlns:a="http://schemas.openxmlformats.org/drawingml/2006/main"/>
        </p:blipFill>
        <p:spPr>
          <a:xfrm xmlns:a="http://schemas.openxmlformats.org/drawingml/2006/main">
            <a:off x="609600" y="1968724"/>
            <a:ext cx="5257800" cy="2425253"/>
          </a:xfrm>
          <a:prstGeom xmlns:a="http://schemas.openxmlformats.org/drawingml/2006/main" prst="rect">
            <a:avLst/>
          </a:prstGeom>
        </p:spPr>
      </p:pic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5019a2d6f8451d"/>
          <a:stretch xmlns:a="http://schemas.openxmlformats.org/drawingml/2006/main"/>
        </p:blipFill>
        <p:spPr>
          <a:xfrm xmlns:a="http://schemas.openxmlformats.org/drawingml/2006/main">
            <a:off x="6324600" y="1968724"/>
            <a:ext cx="5257800" cy="2425253"/>
          </a:xfrm>
          <a:prstGeom xmlns:a="http://schemas.openxmlformats.org/drawingml/2006/main" prst="rect">
            <a:avLst/>
          </a:prstGeom>
        </p:spPr>
      </p:pic>
      <p:sp>
        <p:nvSpPr>
          <p:cNvPr id="5" name="検知の表示">
            <a:extLst xmlns:a="http://schemas.openxmlformats.org/drawingml/2006/main">
              <a:ext uri="{FF2B5EF4-FFF2-40B4-BE49-F238E27FC236}">
                <a16:creationId xmlns:a16="http://schemas.microsoft.com/office/drawing/2014/main" id="{7F682DB4-A423-4803-9E94-52D3FC4E0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81525"/>
            <a:ext cx="5257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07F83"/>
                </a:solidFill>
                <a:latin typeface="Noto Sans JP"/>
                <a:ea typeface="Noto Sans JP"/>
                <a:cs typeface="Noto Sans JP"/>
              </a:defRPr>
            </a:pPr>
            <a:r>
              <a:rPr sz="2025" b="1">
                <a:solidFill>
                  <a:srgbClr val="007F83"/>
                </a:solidFill>
                <a:latin typeface="Noto Sans JP"/>
                <a:ea typeface="Noto Sans JP"/>
                <a:cs typeface="Noto Sans JP"/>
              </a:rPr>
              <a:t>紫枠・ログ：人物の検知例</a:t>
            </a:r>
          </a:p>
        </p:txBody>
      </p:sp>
      <p:sp>
        <p:nvSpPr>
          <p:cNvPr id="6" name="紫の枠と検知ログを表示。&#10;AUTO中は条件を満たすと&#10;手動操作への切り替えを勧め">
            <a:extLst xmlns:a="http://schemas.openxmlformats.org/drawingml/2006/main">
              <a:ext uri="{FF2B5EF4-FFF2-40B4-BE49-F238E27FC236}">
                <a16:creationId xmlns:a16="http://schemas.microsoft.com/office/drawing/2014/main" id="{3AB1B88A-E210-45E5-81DF-E55B04B77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52578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87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写真はMANUAL時の画面。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87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AUTO中は信頼度・進路との重なり等の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87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条件を満たすと、手動切り替えを勧める。</a:t>
            </a:r>
          </a:p>
        </p:txBody>
      </p:sp>
      <p:sp>
        <p:nvSpPr>
          <p:cNvPr id="7" name="走行路が隠れた場合">
            <a:extLst xmlns:a="http://schemas.openxmlformats.org/drawingml/2006/main">
              <a:ext uri="{FF2B5EF4-FFF2-40B4-BE49-F238E27FC236}">
                <a16:creationId xmlns:a16="http://schemas.microsoft.com/office/drawing/2014/main" id="{5740290A-AF82-4F67-820B-AD61EE9EA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600575"/>
            <a:ext cx="52578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007F83"/>
                </a:solidFill>
                <a:latin typeface="Noto Sans JP"/>
                <a:ea typeface="Noto Sans JP"/>
                <a:cs typeface="Noto Sans JP"/>
              </a:defRPr>
            </a:pPr>
            <a:r>
              <a:rPr sz="2175" b="1">
                <a:solidFill>
                  <a:srgbClr val="007F83"/>
                </a:solidFill>
                <a:latin typeface="Noto Sans JP"/>
                <a:ea typeface="Noto Sans JP"/>
                <a:cs typeface="Noto Sans JP"/>
              </a:rPr>
              <a:t>走行路が隠れた場合</a:t>
            </a:r>
          </a:p>
        </p:txBody>
      </p:sp>
      <p:sp>
        <p:nvSpPr>
          <p:cNvPr id="8" name="大きな障害物で白い道が見えないと、&#10;走行路喪失の判定でTORになる。&#10;検知そのも">
            <a:extLst xmlns:a="http://schemas.openxmlformats.org/drawingml/2006/main">
              <a:ext uri="{FF2B5EF4-FFF2-40B4-BE49-F238E27FC236}">
                <a16:creationId xmlns:a16="http://schemas.microsoft.com/office/drawing/2014/main" id="{DC605043-4548-46BD-B40F-313310A20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095875"/>
            <a:ext cx="52578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87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大きな障害物で白い道が見えないと、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87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走行路喪失の判定でTORになる。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87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検知だけではモード・出力を変えない。</a:t>
            </a:r>
          </a:p>
        </p:txBody>
      </p:sp>
      <p:sp>
        <p:nvSpPr>
          <p:cNvPr id="9" name="15">
            <a:extLst xmlns:a="http://schemas.openxmlformats.org/drawingml/2006/main">
              <a:ext uri="{FF2B5EF4-FFF2-40B4-BE49-F238E27FC236}">
                <a16:creationId xmlns:a16="http://schemas.microsoft.com/office/drawing/2014/main" id="{83F1AD95-DB68-4CFF-8B82-EB0D29156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2937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defRPr>
            </a:pPr>
            <a:r>
              <a:rPr sz="135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rPr>
              <a:t>17</a:t>
            </a:r>
          </a:p>
        </p:txBody>
      </p:sp>
      <p:sp>
        <p:nvSpPr>
          <p:cNvPr id="13" name="AUTO中の案内例：「人物を検知しました。安全のため、手動操作への切り替えをお勧">
            <a:extLst xmlns:a="http://schemas.openxmlformats.org/drawingml/2006/main">
              <a:ext uri="{FF2B5EF4-FFF2-40B4-BE49-F238E27FC236}">
                <a16:creationId xmlns:a16="http://schemas.microsoft.com/office/drawing/2014/main" id="{FA6632F3-02B5-40B7-94FB-A0B1E2DC7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00775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07F83"/>
                </a:solidFill>
                <a:latin typeface="Noto Sans JP"/>
                <a:ea typeface="Noto Sans JP"/>
                <a:cs typeface="Noto Sans JP"/>
              </a:defRPr>
            </a:pPr>
            <a:r>
              <a:rPr sz="1500" b="0">
                <a:solidFill>
                  <a:srgbClr val="007F83"/>
                </a:solidFill>
                <a:latin typeface="Noto Sans JP"/>
                <a:ea typeface="Noto Sans JP"/>
                <a:cs typeface="Noto Sans JP"/>
              </a:rPr>
              <a:t>AUTO中の案内例：「人物を検知しました。安全のため、手動操作への切り替えをお勧めします。」</a:t>
            </a:r>
          </a:p>
        </p:txBody>
      </p:sp>
    </p:spTree>
    <p:extLst>
      <p:ext uri="{BB962C8B-B14F-4D97-AF65-F5344CB8AC3E}">
        <p14:creationId xmlns:p14="http://schemas.microsoft.com/office/powerpoint/2010/main" val="27473467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8. TORと手動引き継ぎ">
            <a:extLst xmlns:a="http://schemas.openxmlformats.org/drawingml/2006/main">
              <a:ext uri="{FF2B5EF4-FFF2-40B4-BE49-F238E27FC236}">
                <a16:creationId xmlns:a16="http://schemas.microsoft.com/office/drawing/2014/main" id="{820687B1-478E-4ED2-9003-B758FA0E5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3300" b="1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8. TORと手動引き継ぎ</a:t>
            </a:r>
          </a:p>
        </p:txBody>
      </p:sp>
      <p:sp>
        <p:nvSpPr>
          <p:cNvPr id="2" name="AUTOで走行路を見失うと停止し、3秒間の引き継ぎを求める。">
            <a:extLst xmlns:a="http://schemas.openxmlformats.org/drawingml/2006/main">
              <a:ext uri="{FF2B5EF4-FFF2-40B4-BE49-F238E27FC236}">
                <a16:creationId xmlns:a16="http://schemas.microsoft.com/office/drawing/2014/main" id="{D454B946-5303-4B49-A9A7-C1AB546EF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00150"/>
            <a:ext cx="10934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007F83"/>
                </a:solidFill>
                <a:latin typeface="Noto Sans JP"/>
                <a:ea typeface="Noto Sans JP"/>
                <a:cs typeface="Noto Sans JP"/>
              </a:defRPr>
            </a:pPr>
            <a:r>
              <a:rPr sz="2100" b="0">
                <a:solidFill>
                  <a:srgbClr val="007F83"/>
                </a:solidFill>
                <a:latin typeface="Noto Sans JP"/>
                <a:ea typeface="Noto Sans JP"/>
                <a:cs typeface="Noto Sans JP"/>
              </a:rPr>
              <a:t>AUTOで走行路を見失うと停止し、3秒間の引き継ぎを求める。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fcc2de2d624275"/>
          <a:stretch xmlns:a="http://schemas.openxmlformats.org/drawingml/2006/main"/>
        </p:blipFill>
        <p:spPr>
          <a:xfrm xmlns:a="http://schemas.openxmlformats.org/drawingml/2006/main">
            <a:off x="609600" y="2391613"/>
            <a:ext cx="6191250" cy="2855823"/>
          </a:xfrm>
          <a:prstGeom xmlns:a="http://schemas.openxmlformats.org/drawingml/2006/main" prst="rect">
            <a:avLst/>
          </a:prstGeom>
        </p:spPr>
      </p:pic>
      <p:sp>
        <p:nvSpPr>
          <p:cNvPr id="4" name="3秒以内の操作">
            <a:extLst xmlns:a="http://schemas.openxmlformats.org/drawingml/2006/main">
              <a:ext uri="{FF2B5EF4-FFF2-40B4-BE49-F238E27FC236}">
                <a16:creationId xmlns:a16="http://schemas.microsoft.com/office/drawing/2014/main" id="{ABE54A23-3DB1-4D76-A804-B65A9EBAF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3775" y="2076450"/>
            <a:ext cx="4238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007F83"/>
                </a:solidFill>
                <a:latin typeface="Noto Sans JP"/>
                <a:ea typeface="Noto Sans JP"/>
                <a:cs typeface="Noto Sans JP"/>
              </a:defRPr>
            </a:pPr>
            <a:r>
              <a:rPr sz="2175" b="1">
                <a:solidFill>
                  <a:srgbClr val="007F83"/>
                </a:solidFill>
                <a:latin typeface="Noto Sans JP"/>
                <a:ea typeface="Noto Sans JP"/>
                <a:cs typeface="Noto Sans JP"/>
              </a:rPr>
              <a:t>3秒以内の操作</a:t>
            </a:r>
          </a:p>
        </p:txBody>
      </p:sp>
      <p:sp>
        <p:nvSpPr>
          <p:cNvPr id="5" name="「手動操作に切り替える」を押す。&#10;切り替え直後は停止したまま。&#10;方向パッドで再操">
            <a:extLst xmlns:a="http://schemas.openxmlformats.org/drawingml/2006/main">
              <a:ext uri="{FF2B5EF4-FFF2-40B4-BE49-F238E27FC236}">
                <a16:creationId xmlns:a16="http://schemas.microsoft.com/office/drawing/2014/main" id="{4EA6C3F2-D8A1-485C-BED6-E5B871818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3775" y="2667000"/>
            <a:ext cx="42386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202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「手動操作に切り替える」を押す。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202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切り替え直後は停止したまま。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202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方向パッドで再操作する。</a:t>
            </a:r>
          </a:p>
        </p:txBody>
      </p:sp>
      <p:sp>
        <p:nvSpPr>
          <p:cNvPr id="6" name="時間切れの場合">
            <a:extLst xmlns:a="http://schemas.openxmlformats.org/drawingml/2006/main">
              <a:ext uri="{FF2B5EF4-FFF2-40B4-BE49-F238E27FC236}">
                <a16:creationId xmlns:a16="http://schemas.microsoft.com/office/drawing/2014/main" id="{6D59E12A-3F1D-4759-93F1-1E8541AE2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3775" y="4438650"/>
            <a:ext cx="4238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007F83"/>
                </a:solidFill>
                <a:latin typeface="Noto Sans JP"/>
                <a:ea typeface="Noto Sans JP"/>
                <a:cs typeface="Noto Sans JP"/>
              </a:defRPr>
            </a:pPr>
            <a:r>
              <a:rPr sz="2175" b="1">
                <a:solidFill>
                  <a:srgbClr val="007F83"/>
                </a:solidFill>
                <a:latin typeface="Noto Sans JP"/>
                <a:ea typeface="Noto Sans JP"/>
                <a:cs typeface="Noto Sans JP"/>
              </a:rPr>
              <a:t>時間切れの場合</a:t>
            </a:r>
          </a:p>
        </p:txBody>
      </p:sp>
      <p:sp>
        <p:nvSpPr>
          <p:cNvPr id="7" name="停止を維持する。&#10;WebのRESETで解除して再操作。&#10;自動で再発進しない。">
            <a:extLst xmlns:a="http://schemas.openxmlformats.org/drawingml/2006/main">
              <a:ext uri="{FF2B5EF4-FFF2-40B4-BE49-F238E27FC236}">
                <a16:creationId xmlns:a16="http://schemas.microsoft.com/office/drawing/2014/main" id="{3E3FCD49-5721-45AF-8351-D6D0E1041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3775" y="5038725"/>
            <a:ext cx="4238625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87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停止を維持する。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87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WebのRESETで時間切れ表示を解除。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87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方向パッドを押すまで走らない。</a:t>
            </a:r>
          </a:p>
        </p:txBody>
      </p:sp>
      <p:sp>
        <p:nvSpPr>
          <p:cNvPr id="8" name="モーター用スイッチをOFFにし、&#10;白い路面を隠して表示を確認する。">
            <a:extLst xmlns:a="http://schemas.openxmlformats.org/drawingml/2006/main">
              <a:ext uri="{FF2B5EF4-FFF2-40B4-BE49-F238E27FC236}">
                <a16:creationId xmlns:a16="http://schemas.microsoft.com/office/drawing/2014/main" id="{A9B99EA4-FE32-4B2B-A886-2EF1D4160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6191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defRPr>
            </a:pPr>
            <a:r>
              <a:rPr sz="165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rPr>
              <a:t>モーター電源OFFで白い路面を隠して確認。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defRPr>
            </a:pPr>
            <a:r>
              <a:rPr sz="165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rPr>
              <a:t>ESTOP・内部異常はWeb RESETでは解除不可。</a:t>
            </a:r>
          </a:p>
        </p:txBody>
      </p:sp>
      <p:sp>
        <p:nvSpPr>
          <p:cNvPr id="9" name="16">
            <a:extLst xmlns:a="http://schemas.openxmlformats.org/drawingml/2006/main">
              <a:ext uri="{FF2B5EF4-FFF2-40B4-BE49-F238E27FC236}">
                <a16:creationId xmlns:a16="http://schemas.microsoft.com/office/drawing/2014/main" id="{43365840-99B6-455D-8695-ACA6DC856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2937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defRPr>
            </a:pPr>
            <a:r>
              <a:rPr sz="135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10812319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9. 距離停止の確認と終了">
            <a:extLst xmlns:a="http://schemas.openxmlformats.org/drawingml/2006/main">
              <a:ext uri="{FF2B5EF4-FFF2-40B4-BE49-F238E27FC236}">
                <a16:creationId xmlns:a16="http://schemas.microsoft.com/office/drawing/2014/main" id="{06D809A2-16B8-481E-A38B-D2DBF63AB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3300" b="1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9. 距離停止の確認と終了</a:t>
            </a:r>
          </a:p>
        </p:txBody>
      </p:sp>
      <p:sp>
        <p:nvSpPr>
          <p:cNvPr id="2" name="箱を前方へ近づけ、距離表示と停止理由を確認する。">
            <a:extLst xmlns:a="http://schemas.openxmlformats.org/drawingml/2006/main">
              <a:ext uri="{FF2B5EF4-FFF2-40B4-BE49-F238E27FC236}">
                <a16:creationId xmlns:a16="http://schemas.microsoft.com/office/drawing/2014/main" id="{56AAD9C0-6B36-4F87-B532-5DAAAA685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00150"/>
            <a:ext cx="10934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007F83"/>
                </a:solidFill>
                <a:latin typeface="Noto Sans JP"/>
                <a:ea typeface="Noto Sans JP"/>
                <a:cs typeface="Noto Sans JP"/>
              </a:defRPr>
            </a:pPr>
            <a:r>
              <a:rPr sz="2100" b="0">
                <a:solidFill>
                  <a:srgbClr val="007F83"/>
                </a:solidFill>
                <a:latin typeface="Noto Sans JP"/>
                <a:ea typeface="Noto Sans JP"/>
                <a:cs typeface="Noto Sans JP"/>
              </a:rPr>
              <a:t>箱を前方へ近づけ、距離表示と停止理由を確認する。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f85fbf88874cbc"/>
          <a:stretch xmlns:a="http://schemas.openxmlformats.org/drawingml/2006/main"/>
        </p:blipFill>
        <p:spPr>
          <a:xfrm xmlns:a="http://schemas.openxmlformats.org/drawingml/2006/main">
            <a:off x="609600" y="2365956"/>
            <a:ext cx="6096000" cy="2811887"/>
          </a:xfrm>
          <a:prstGeom xmlns:a="http://schemas.openxmlformats.org/drawingml/2006/main" prst="rect">
            <a:avLst/>
          </a:prstGeom>
        </p:spPr>
      </p:pic>
      <p:sp>
        <p:nvSpPr>
          <p:cNvPr id="4" name="モーター系OFFで確認">
            <a:extLst xmlns:a="http://schemas.openxmlformats.org/drawingml/2006/main">
              <a:ext uri="{FF2B5EF4-FFF2-40B4-BE49-F238E27FC236}">
                <a16:creationId xmlns:a16="http://schemas.microsoft.com/office/drawing/2014/main" id="{43D6157E-E0BC-4808-B4CE-B3B1BF2CF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2076450"/>
            <a:ext cx="43719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007F83"/>
                </a:solidFill>
                <a:latin typeface="Noto Sans JP"/>
                <a:ea typeface="Noto Sans JP"/>
                <a:cs typeface="Noto Sans JP"/>
              </a:defRPr>
            </a:pPr>
            <a:r>
              <a:rPr sz="2175" b="1">
                <a:solidFill>
                  <a:srgbClr val="007F83"/>
                </a:solidFill>
                <a:latin typeface="Noto Sans JP"/>
                <a:ea typeface="Noto Sans JP"/>
                <a:cs typeface="Noto Sans JP"/>
              </a:rPr>
              <a:t>モーター系OFFで確認</a:t>
            </a:r>
          </a:p>
        </p:txBody>
      </p:sp>
      <p:sp>
        <p:nvSpPr>
          <p:cNvPr id="5" name="前方100 mm以内：通常停止。&#10;前方50 mm以内：緊急停止。&#10;測定値と理由の">
            <a:extLst xmlns:a="http://schemas.openxmlformats.org/drawingml/2006/main">
              <a:ext uri="{FF2B5EF4-FFF2-40B4-BE49-F238E27FC236}">
                <a16:creationId xmlns:a16="http://schemas.microsoft.com/office/drawing/2014/main" id="{912CDB07-4910-40F4-B0A8-0E0D910CD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2667000"/>
            <a:ext cx="4371975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202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前方100 mm以内：通常停止。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202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前方50 mm以内：緊急停止。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202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測定値と理由の表示を見る。</a:t>
            </a:r>
          </a:p>
        </p:txBody>
      </p:sp>
      <p:sp>
        <p:nvSpPr>
          <p:cNvPr id="6" name="試験の終了">
            <a:extLst xmlns:a="http://schemas.openxmlformats.org/drawingml/2006/main">
              <a:ext uri="{FF2B5EF4-FFF2-40B4-BE49-F238E27FC236}">
                <a16:creationId xmlns:a16="http://schemas.microsoft.com/office/drawing/2014/main" id="{F80447CB-D9AA-4BF0-86AC-39ED50655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286250"/>
            <a:ext cx="43719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007F83"/>
                </a:solidFill>
                <a:latin typeface="Noto Sans JP"/>
                <a:ea typeface="Noto Sans JP"/>
                <a:cs typeface="Noto Sans JP"/>
              </a:defRPr>
            </a:pPr>
            <a:r>
              <a:rPr sz="2175" b="1">
                <a:solidFill>
                  <a:srgbClr val="007F83"/>
                </a:solidFill>
                <a:latin typeface="Noto Sans JP"/>
                <a:ea typeface="Noto Sans JP"/>
                <a:cs typeface="Noto Sans JP"/>
              </a:rPr>
              <a:t>試験の終了</a:t>
            </a:r>
          </a:p>
        </p:txBody>
      </p:sp>
      <p:sp>
        <p:nvSpPr>
          <p:cNvPr id="7" name="モーター用スイッチをOFF。&#10;その後、ボードとルーターの&#10;給電を止める。">
            <a:extLst xmlns:a="http://schemas.openxmlformats.org/drawingml/2006/main">
              <a:ext uri="{FF2B5EF4-FFF2-40B4-BE49-F238E27FC236}">
                <a16:creationId xmlns:a16="http://schemas.microsoft.com/office/drawing/2014/main" id="{95B6E06A-D082-4CE9-9F54-92B195D07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876800"/>
            <a:ext cx="4371975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202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モーター用スイッチをOFF。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202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その後、ボードとルーターの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2025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給電を止める。</a:t>
            </a:r>
          </a:p>
        </p:txBody>
      </p:sp>
      <p:sp>
        <p:nvSpPr>
          <p:cNvPr id="8" name="画面例：84 mmで通常停止。&#10;緊急停止は別の試行で確認する。">
            <a:extLst xmlns:a="http://schemas.openxmlformats.org/drawingml/2006/main">
              <a:ext uri="{FF2B5EF4-FFF2-40B4-BE49-F238E27FC236}">
                <a16:creationId xmlns:a16="http://schemas.microsoft.com/office/drawing/2014/main" id="{405E3697-273C-4EAD-82EF-9BBA49D96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609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defRPr>
            </a:pPr>
            <a:r>
              <a:rPr sz="165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rPr>
              <a:t>画面例：84 mmで通常停止。緊急停止は別試行で確認。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defRPr>
            </a:pPr>
            <a:r>
              <a:rPr sz="165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rPr>
              <a:t>距離は設定値で、実車の制動距離を保証しない。</a:t>
            </a:r>
          </a:p>
        </p:txBody>
      </p:sp>
      <p:sp>
        <p:nvSpPr>
          <p:cNvPr id="9" name="17">
            <a:extLst xmlns:a="http://schemas.openxmlformats.org/drawingml/2006/main">
              <a:ext uri="{FF2B5EF4-FFF2-40B4-BE49-F238E27FC236}">
                <a16:creationId xmlns:a16="http://schemas.microsoft.com/office/drawing/2014/main" id="{E428B573-DB77-4562-A9C6-0B5115ABB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2937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defRPr>
            </a:pPr>
            <a:r>
              <a:rPr sz="135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70217832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教材としての再現性">
            <a:extLst xmlns:a="http://schemas.openxmlformats.org/drawingml/2006/main">
              <a:ext uri="{FF2B5EF4-FFF2-40B4-BE49-F238E27FC236}">
                <a16:creationId xmlns:a16="http://schemas.microsoft.com/office/drawing/2014/main" id="{AC116008-BD5B-41E5-AB88-D9E0DEC94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3300" b="1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教材としての再現性</a:t>
            </a:r>
          </a:p>
        </p:txBody>
      </p:sp>
      <p:sp>
        <p:nvSpPr>
          <p:cNvPr id="2" name="GitHubのソースと導入手順から、組み立て・書き込みへ進める。">
            <a:extLst xmlns:a="http://schemas.openxmlformats.org/drawingml/2006/main">
              <a:ext uri="{FF2B5EF4-FFF2-40B4-BE49-F238E27FC236}">
                <a16:creationId xmlns:a16="http://schemas.microsoft.com/office/drawing/2014/main" id="{9037CD04-7065-41E3-9818-D9176E17B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00150"/>
            <a:ext cx="10934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007F83"/>
                </a:solidFill>
                <a:latin typeface="Noto Sans JP"/>
                <a:ea typeface="Noto Sans JP"/>
                <a:cs typeface="Noto Sans JP"/>
              </a:defRPr>
            </a:pPr>
            <a:r>
              <a:rPr sz="2100" b="0">
                <a:solidFill>
                  <a:srgbClr val="007F83"/>
                </a:solidFill>
                <a:latin typeface="Noto Sans JP"/>
                <a:ea typeface="Noto Sans JP"/>
                <a:cs typeface="Noto Sans JP"/>
              </a:rPr>
              <a:t>新たに製作する場合の導入手順も公開。審査用ボードは書き込み済み。</a:t>
            </a:r>
          </a:p>
        </p:txBody>
      </p:sp>
      <p:sp>
        <p:nvSpPr>
          <p:cNvPr id="3" name="09">
            <a:extLst xmlns:a="http://schemas.openxmlformats.org/drawingml/2006/main">
              <a:ext uri="{FF2B5EF4-FFF2-40B4-BE49-F238E27FC236}">
                <a16:creationId xmlns:a16="http://schemas.microsoft.com/office/drawing/2014/main" id="{B79FD32C-94EF-4FA5-A28D-66F6B3EF1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2937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defRPr>
            </a:pPr>
            <a:r>
              <a:rPr sz="135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rPr>
              <a:t>20</a:t>
            </a:r>
          </a:p>
        </p:txBody>
      </p:sp>
      <p:sp>
        <p:nvSpPr>
          <p:cNvPr id="4" name="市販部品で組み立て">
            <a:extLst xmlns:a="http://schemas.openxmlformats.org/drawingml/2006/main">
              <a:ext uri="{FF2B5EF4-FFF2-40B4-BE49-F238E27FC236}">
                <a16:creationId xmlns:a16="http://schemas.microsoft.com/office/drawing/2014/main" id="{095C5E5F-BAE0-4105-851D-29DAB803B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57425"/>
            <a:ext cx="5067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2550" b="1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市販部品で組み立て</a:t>
            </a:r>
          </a:p>
        </p:txBody>
      </p:sp>
      <p:sp>
        <p:nvSpPr>
          <p:cNvPr id="5" name="部品表・接続表をREADMEに掲載。&#10;スマートフォン・タブレット・PC">
            <a:extLst xmlns:a="http://schemas.openxmlformats.org/drawingml/2006/main">
              <a:ext uri="{FF2B5EF4-FFF2-40B4-BE49-F238E27FC236}">
                <a16:creationId xmlns:a16="http://schemas.microsoft.com/office/drawing/2014/main" id="{52BE5951-75B0-4E0B-8D2F-F6A52570F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933700"/>
            <a:ext cx="502920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2100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部品表・接続表をREADMEに掲載。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2100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スマートフォン・タブレット・PCの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2100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ブラウザで操作する。</a:t>
            </a:r>
          </a:p>
        </p:txBody>
      </p:sp>
      <p:sp>
        <p:nvSpPr>
          <p:cNvPr id="6" name="ソースと確認手順を公開">
            <a:extLst xmlns:a="http://schemas.openxmlformats.org/drawingml/2006/main">
              <a:ext uri="{FF2B5EF4-FFF2-40B4-BE49-F238E27FC236}">
                <a16:creationId xmlns:a16="http://schemas.microsoft.com/office/drawing/2014/main" id="{94FB8A5F-7D7E-4FCC-899D-A2FA8154E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95825"/>
            <a:ext cx="5067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2550" b="1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ソースと確認手順を公開</a:t>
            </a:r>
          </a:p>
        </p:txBody>
      </p:sp>
      <p:sp>
        <p:nvSpPr>
          <p:cNvPr id="7" name="オリジナルプログラムはMIT。&#10;第三者コード・AIモデルは別の条件。">
            <a:extLst xmlns:a="http://schemas.openxmlformats.org/drawingml/2006/main">
              <a:ext uri="{FF2B5EF4-FFF2-40B4-BE49-F238E27FC236}">
                <a16:creationId xmlns:a16="http://schemas.microsoft.com/office/drawing/2014/main" id="{07B3D08F-EB98-46B8-A388-A608F104E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314950"/>
            <a:ext cx="58674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526273"/>
                </a:solidFill>
                <a:latin typeface="Noto Sans JP"/>
                <a:ea typeface="Noto Sans JP"/>
                <a:cs typeface="Noto Sans JP"/>
              </a:defRPr>
            </a:pPr>
            <a:r>
              <a:rPr sz="1725" b="0">
                <a:solidFill>
                  <a:srgbClr val="526273"/>
                </a:solidFill>
                <a:latin typeface="Noto Sans JP"/>
                <a:ea typeface="Noto Sans JP"/>
                <a:cs typeface="Noto Sans JP"/>
              </a:rPr>
              <a:t>オリジナルプログラムはMIT。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526273"/>
                </a:solidFill>
                <a:latin typeface="Noto Sans JP"/>
                <a:ea typeface="Noto Sans JP"/>
                <a:cs typeface="Noto Sans JP"/>
              </a:defRPr>
            </a:pPr>
            <a:r>
              <a:rPr sz="1725" b="0">
                <a:solidFill>
                  <a:srgbClr val="526273"/>
                </a:solidFill>
                <a:latin typeface="Noto Sans JP"/>
                <a:ea typeface="Noto Sans JP"/>
                <a:cs typeface="Noto Sans JP"/>
              </a:rPr>
              <a:t>第三者コード・AIモデルには別の条件。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526273"/>
                </a:solidFill>
                <a:latin typeface="Noto Sans JP"/>
                <a:ea typeface="Noto Sans JP"/>
                <a:cs typeface="Noto Sans JP"/>
              </a:defRPr>
            </a:pPr>
            <a:r>
              <a:rPr sz="1725" b="0">
                <a:solidFill>
                  <a:srgbClr val="526273"/>
                </a:solidFill>
                <a:latin typeface="Noto Sans JP"/>
                <a:ea typeface="Noto Sans JP"/>
                <a:cs typeface="Noto Sans JP"/>
              </a:rPr>
              <a:t>最適化AIモデルの再配布条件は要確認。</a:t>
            </a:r>
          </a:p>
        </p:txBody>
      </p:sp>
      <p:sp>
        <p:nvSpPr>
          <p:cNvPr id="8" name="GitHubから取得">
            <a:extLst xmlns:a="http://schemas.openxmlformats.org/drawingml/2006/main">
              <a:ext uri="{FF2B5EF4-FFF2-40B4-BE49-F238E27FC236}">
                <a16:creationId xmlns:a16="http://schemas.microsoft.com/office/drawing/2014/main" id="{606DAFD0-3163-4AF6-B8A5-928809503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0955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7F83"/>
            </a:solidFill>
          </a:ln>
        </p:spPr>
        <p:txBody>
          <a:bodyPr xmlns:a="http://schemas.openxmlformats.org/drawingml/2006/main" lIns="133350" tIns="95250" rIns="133350" bIns="952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95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GitHubから取得</a:t>
            </a:r>
          </a:p>
        </p:txBody>
      </p:sp>
      <p:sp>
        <p:nvSpPr>
          <p:cNvPr id="9" name="e² studio&#10;3プロジェクトを取り込む">
            <a:extLst xmlns:a="http://schemas.openxmlformats.org/drawingml/2006/main">
              <a:ext uri="{FF2B5EF4-FFF2-40B4-BE49-F238E27FC236}">
                <a16:creationId xmlns:a16="http://schemas.microsoft.com/office/drawing/2014/main" id="{B56A5D49-EF87-47EB-B5C5-ED678BEB0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248025"/>
            <a:ext cx="40957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7F83"/>
            </a:solidFill>
          </a:ln>
        </p:spPr>
        <p:txBody>
          <a:bodyPr xmlns:a="http://schemas.openxmlformats.org/drawingml/2006/main" lIns="133350" tIns="95250" rIns="133350" bIns="952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875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e² studio</a:t>
            </a:r>
          </a:p>
          <a:p xmlns:a="http://schemas.openxmlformats.org/drawingml/2006/main">
            <a:pPr algn="ctr">
              <a:buNone/>
              <a:defRPr sz="1875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875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3プロジェクトを取り込む</a:t>
            </a:r>
          </a:p>
        </p:txBody>
      </p:sp>
      <p:sp>
        <p:nvSpPr>
          <p:cNvPr id="10" name="両コアをビルド&#10;Debug Asで書き込み">
            <a:extLst xmlns:a="http://schemas.openxmlformats.org/drawingml/2006/main">
              <a:ext uri="{FF2B5EF4-FFF2-40B4-BE49-F238E27FC236}">
                <a16:creationId xmlns:a16="http://schemas.microsoft.com/office/drawing/2014/main" id="{D2C933E3-CF0D-45D7-915E-3610FAD44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514850"/>
            <a:ext cx="40957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7F83"/>
            </a:solidFill>
          </a:ln>
        </p:spPr>
        <p:txBody>
          <a:bodyPr xmlns:a="http://schemas.openxmlformats.org/drawingml/2006/main" lIns="133350" tIns="95250" rIns="133350" bIns="952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875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両コアをビルド</a:t>
            </a:r>
          </a:p>
          <a:p xmlns:a="http://schemas.openxmlformats.org/drawingml/2006/main">
            <a:pPr algn="ctr">
              <a:buNone/>
              <a:defRPr sz="1875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1875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Debug Asで書き込み</a:t>
            </a:r>
          </a:p>
        </p:txBody>
      </p:sp>
      <p:cxnSp>
        <p:nvCxnSpPr>
          <p:cNvPr id="108" name=""/>
          <p:cNvCxnSpPr>
            <a:stCxn xmlns:a="http://schemas.openxmlformats.org/drawingml/2006/main" id="8" idx="2"/>
            <a:endCxn xmlns:a="http://schemas.openxmlformats.org/drawingml/2006/main" id="9" idx="0"/>
          </p:cNvCxnSpPr>
          <p:nvPr/>
        </p:nvCxnSpPr>
        <p:spPr>
          <a:xfrm xmlns:a="http://schemas.openxmlformats.org/drawingml/2006/main">
            <a:off x="9515475" y="2647950"/>
            <a:ext cx="0" cy="60007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3"/>
            </a:solidFill>
            <a:prstDash val="solid"/>
            <a:tailEnd type="triangle" w="sm" len="sm"/>
          </a:ln>
        </p:spPr>
      </p:cxnSp>
      <p:cxnSp>
        <p:nvCxnSpPr>
          <p:cNvPr id="109" name=""/>
          <p:cNvCxnSpPr>
            <a:stCxn xmlns:a="http://schemas.openxmlformats.org/drawingml/2006/main" id="9" idx="2"/>
            <a:endCxn xmlns:a="http://schemas.openxmlformats.org/drawingml/2006/main" id="10" idx="0"/>
          </p:cNvCxnSpPr>
          <p:nvPr/>
        </p:nvCxnSpPr>
        <p:spPr>
          <a:xfrm xmlns:a="http://schemas.openxmlformats.org/drawingml/2006/main">
            <a:off x="9515475" y="4010025"/>
            <a:ext cx="0" cy="50482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3"/>
            </a:solidFill>
            <a:prstDash val="solid"/>
            <a:tailEnd type="triangle" w="sm" len="sm"/>
          </a:ln>
        </p:spPr>
      </p:cxnSp>
      <p:sp>
        <p:nvSpPr>
          <p:cNvPr id="13" name="英数字の短いパスに配置&#10;導入手順・実機確認手順を同梱">
            <a:extLst xmlns:a="http://schemas.openxmlformats.org/drawingml/2006/main">
              <a:ext uri="{FF2B5EF4-FFF2-40B4-BE49-F238E27FC236}">
                <a16:creationId xmlns:a16="http://schemas.microsoft.com/office/drawing/2014/main" id="{EBE3B6F5-2C5F-490A-9283-2749092E0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5591175"/>
            <a:ext cx="4124325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rPr>
              <a:t>英数字の短いパスに配置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rPr>
              <a:t>導入手順・実機確認手順を同梱</a:t>
            </a:r>
          </a:p>
        </p:txBody>
      </p:sp>
    </p:spTree>
    <p:extLst>
      <p:ext uri="{BB962C8B-B14F-4D97-AF65-F5344CB8AC3E}">
        <p14:creationId xmlns:p14="http://schemas.microsoft.com/office/powerpoint/2010/main" val="724332233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まとめ">
            <a:extLst xmlns:a="http://schemas.openxmlformats.org/drawingml/2006/main">
              <a:ext uri="{FF2B5EF4-FFF2-40B4-BE49-F238E27FC236}">
                <a16:creationId xmlns:a16="http://schemas.microsoft.com/office/drawing/2014/main" id="{B48F6F8D-5675-472A-A4C4-0BCF5CB36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3300" b="1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まとめ</a:t>
            </a:r>
          </a:p>
        </p:txBody>
      </p:sp>
      <p:sp>
        <p:nvSpPr>
          <p:cNvPr id="2" name="組み立てた車両で、人と自動運転のバトンタッチを学ぶ。">
            <a:extLst xmlns:a="http://schemas.openxmlformats.org/drawingml/2006/main">
              <a:ext uri="{FF2B5EF4-FFF2-40B4-BE49-F238E27FC236}">
                <a16:creationId xmlns:a16="http://schemas.microsoft.com/office/drawing/2014/main" id="{37BF8AA7-74C6-4482-AB92-FED94C5E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00150"/>
            <a:ext cx="10934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007F83"/>
                </a:solidFill>
                <a:latin typeface="Noto Sans JP"/>
                <a:ea typeface="Noto Sans JP"/>
                <a:cs typeface="Noto Sans JP"/>
              </a:defRPr>
            </a:pPr>
            <a:r>
              <a:rPr sz="2100" b="0">
                <a:solidFill>
                  <a:srgbClr val="007F83"/>
                </a:solidFill>
                <a:latin typeface="Noto Sans JP"/>
                <a:ea typeface="Noto Sans JP"/>
                <a:cs typeface="Noto Sans JP"/>
              </a:rPr>
              <a:t>AI・RTOS・手動介入を、一台の車両でつなげて学ぶ。</a:t>
            </a:r>
          </a:p>
        </p:txBody>
      </p:sp>
      <p:sp>
        <p:nvSpPr>
          <p:cNvPr id="3" name="10">
            <a:extLst xmlns:a="http://schemas.openxmlformats.org/drawingml/2006/main">
              <a:ext uri="{FF2B5EF4-FFF2-40B4-BE49-F238E27FC236}">
                <a16:creationId xmlns:a16="http://schemas.microsoft.com/office/drawing/2014/main" id="{7101BDDB-F8D0-43E4-A35D-B8877E3B8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2937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defRPr>
            </a:pPr>
            <a:r>
              <a:rPr sz="135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rPr>
              <a:t>21</a:t>
            </a:r>
          </a:p>
        </p:txBody>
      </p:sp>
      <p:sp>
        <p:nvSpPr>
          <p:cNvPr id="4" name="走る・止まる・引き継ぐ">
            <a:extLst xmlns:a="http://schemas.openxmlformats.org/drawingml/2006/main">
              <a:ext uri="{FF2B5EF4-FFF2-40B4-BE49-F238E27FC236}">
                <a16:creationId xmlns:a16="http://schemas.microsoft.com/office/drawing/2014/main" id="{837E92B1-123F-42F1-8F30-BBA435894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200" b="1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4200" b="1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走る・止まる・引き継ぐ</a:t>
            </a:r>
          </a:p>
        </p:txBody>
      </p:sp>
      <p:sp>
        <p:nvSpPr>
          <p:cNvPr id="5" name="白い道を走ることで、画像認識と制御の関係を確かめる。">
            <a:extLst xmlns:a="http://schemas.openxmlformats.org/drawingml/2006/main">
              <a:ext uri="{FF2B5EF4-FFF2-40B4-BE49-F238E27FC236}">
                <a16:creationId xmlns:a16="http://schemas.microsoft.com/office/drawing/2014/main" id="{CD6138FD-F574-4D26-9A99-6F415265B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10515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2100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白い道の走行から、画像処理とモーター制御の関係を確かめる。</a:t>
            </a:r>
          </a:p>
        </p:txBody>
      </p:sp>
      <p:sp>
        <p:nvSpPr>
          <p:cNvPr id="6" name="停止とTORを通じて、自動運転の限界と人の役割を考える。">
            <a:extLst xmlns:a="http://schemas.openxmlformats.org/drawingml/2006/main">
              <a:ext uri="{FF2B5EF4-FFF2-40B4-BE49-F238E27FC236}">
                <a16:creationId xmlns:a16="http://schemas.microsoft.com/office/drawing/2014/main" id="{B11D02FA-033B-41BF-BEF4-FADBA5299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05225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2100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停止とTORを通じて、自動運転の限界と人の役割を考える。</a:t>
            </a:r>
          </a:p>
        </p:txBody>
      </p:sp>
      <p:sp>
        <p:nvSpPr>
          <p:cNvPr id="7" name="μT-Kernelのタスク構成から、停止を優先する実装を学ぶ。">
            <a:extLst xmlns:a="http://schemas.openxmlformats.org/drawingml/2006/main">
              <a:ext uri="{FF2B5EF4-FFF2-40B4-BE49-F238E27FC236}">
                <a16:creationId xmlns:a16="http://schemas.microsoft.com/office/drawing/2014/main" id="{9F0350F6-332C-4104-BDE1-03334E63C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3053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5283D"/>
                </a:solidFill>
                <a:latin typeface="Noto Sans JP"/>
                <a:ea typeface="Noto Sans JP"/>
                <a:cs typeface="Noto Sans JP"/>
              </a:defRPr>
            </a:pPr>
            <a:r>
              <a:rPr sz="2100" b="0">
                <a:solidFill>
                  <a:srgbClr val="15283D"/>
                </a:solidFill>
                <a:latin typeface="Noto Sans JP"/>
                <a:ea typeface="Noto Sans JP"/>
                <a:cs typeface="Noto Sans JP"/>
              </a:rPr>
              <a:t>μT-Kernelのタスク構成から、停止を優先する実装を学ぶ。</a:t>
            </a:r>
          </a:p>
        </p:txBody>
      </p:sp>
      <p:sp>
        <p:nvSpPr>
          <p:cNvPr id="8" name="ソースと導入手順：github.com/tut-cc/tron-202">
            <a:extLst xmlns:a="http://schemas.openxmlformats.org/drawingml/2006/main">
              <a:ext uri="{FF2B5EF4-FFF2-40B4-BE49-F238E27FC236}">
                <a16:creationId xmlns:a16="http://schemas.microsoft.com/office/drawing/2014/main" id="{DE221BCA-71CD-42F0-B4E5-73A20B92B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381750"/>
            <a:ext cx="1009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07F83"/>
                </a:solidFill>
                <a:latin typeface="Noto Sans JP"/>
                <a:ea typeface="Noto Sans JP"/>
                <a:cs typeface="Noto Sans JP"/>
              </a:defRPr>
            </a:pPr>
            <a:r>
              <a:rPr sz="1725" b="0">
                <a:solidFill>
                  <a:srgbClr val="007F83"/>
                </a:solidFill>
                <a:latin typeface="Noto Sans JP"/>
                <a:ea typeface="Noto Sans JP"/>
                <a:cs typeface="Noto Sans JP"/>
              </a:rPr>
              <a:t>ソースと導入手順：github.com/tut-cc/tron-2026-autonomous-driving</a:t>
            </a:r>
          </a:p>
        </p:txBody>
      </p:sp>
      <p:sp>
        <p:nvSpPr>
          <p:cNvPr id="10" name="今後の課題：走行の安定性、停止までの距離、映像性能、教材としての学習効果の定量評">
            <a:extLst xmlns:a="http://schemas.openxmlformats.org/drawingml/2006/main">
              <a:ext uri="{FF2B5EF4-FFF2-40B4-BE49-F238E27FC236}">
                <a16:creationId xmlns:a16="http://schemas.microsoft.com/office/drawing/2014/main" id="{DD637EFF-6214-4FA3-98CC-2DB50B1D6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867275"/>
            <a:ext cx="10810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0858C"/>
                </a:solidFill>
                <a:latin typeface="Noto Sans JP"/>
                <a:ea typeface="Noto Sans JP"/>
                <a:cs typeface="Noto Sans JP"/>
              </a:defRPr>
            </a:pPr>
            <a:r>
              <a:rPr sz="1950" b="1">
                <a:solidFill>
                  <a:srgbClr val="00858C"/>
                </a:solidFill>
                <a:latin typeface="Noto Sans JP"/>
                <a:ea typeface="Noto Sans JP"/>
                <a:cs typeface="Noto Sans JP"/>
              </a:rPr>
              <a:t>今後の課題</a:t>
            </a:r>
          </a:p>
        </p:txBody>
      </p:sp>
      <p:sp>
        <p:nvSpPr>
          <p:cNvPr id="11" name="future-challenge-1">
            <a:extLst xmlns:a="http://schemas.openxmlformats.org/drawingml/2006/main">
              <a:ext uri="{FF2B5EF4-FFF2-40B4-BE49-F238E27FC236}">
                <a16:creationId xmlns:a16="http://schemas.microsoft.com/office/drawing/2014/main" id="{1B7D0A33-D5ED-4C49-8632-96C596EA1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257800"/>
            <a:ext cx="10810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rPr>
              <a:t>映像を高画質・高フレームレートで伝送し、見やすさと滑らかさを高める。</a:t>
            </a:r>
          </a:p>
        </p:txBody>
      </p:sp>
      <p:sp>
        <p:nvSpPr>
          <p:cNvPr id="12" name="future-challenge-2">
            <a:extLst xmlns:a="http://schemas.openxmlformats.org/drawingml/2006/main">
              <a:ext uri="{FF2B5EF4-FFF2-40B4-BE49-F238E27FC236}">
                <a16:creationId xmlns:a16="http://schemas.microsoft.com/office/drawing/2014/main" id="{41E9FEBB-0990-4987-AC7C-8DC0AD2EC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600700"/>
            <a:ext cx="10810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rPr>
              <a:t>警告や引き継ぎの伝え方を改善し、人が判断しやすい表示を目指す。</a:t>
            </a:r>
          </a:p>
        </p:txBody>
      </p:sp>
      <p:sp>
        <p:nvSpPr>
          <p:cNvPr id="13" name="future-challenge-3">
            <a:extLst xmlns:a="http://schemas.openxmlformats.org/drawingml/2006/main">
              <a:ext uri="{FF2B5EF4-FFF2-40B4-BE49-F238E27FC236}">
                <a16:creationId xmlns:a16="http://schemas.microsoft.com/office/drawing/2014/main" id="{BA24C91B-D3DD-42BF-9F98-B873FB063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943600"/>
            <a:ext cx="10810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526273"/>
                </a:solidFill>
                <a:latin typeface="Noto Sans JP"/>
                <a:ea typeface="Noto Sans JP"/>
                <a:cs typeface="Noto Sans JP"/>
              </a:rPr>
              <a:t>AIモデル・制御方式・車体を改良し、現実に近い運転・引き継ぎ体験を目指す。</a:t>
            </a:r>
          </a:p>
        </p:txBody>
      </p:sp>
    </p:spTree>
    <p:extLst>
      <p:ext uri="{BB962C8B-B14F-4D97-AF65-F5344CB8AC3E}">
        <p14:creationId xmlns:p14="http://schemas.microsoft.com/office/powerpoint/2010/main" val="33403994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2026-09-30T13:20:44.2680000Z</dcterms:created>
  <dcterms:modified xsi:type="dcterms:W3CDTF">2026-09-30T13:20:44.2680000Z</dcterms:modified>
</coreProperties>
</file>